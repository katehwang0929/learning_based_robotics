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9" r:id="rId2"/>
    <p:sldId id="258" r:id="rId3"/>
    <p:sldId id="259" r:id="rId4"/>
    <p:sldId id="260" r:id="rId5"/>
    <p:sldId id="261" r:id="rId6"/>
    <p:sldId id="262" r:id="rId7"/>
    <p:sldId id="263" r:id="rId8"/>
    <p:sldId id="264" r:id="rId9"/>
    <p:sldId id="265" r:id="rId10"/>
    <p:sldId id="266" r:id="rId11"/>
    <p:sldId id="267" r:id="rId12"/>
    <p:sldId id="268" r:id="rId13"/>
    <p:sldId id="270" r:id="rId14"/>
    <p:sldId id="271" r:id="rId15"/>
    <p:sldId id="272" r:id="rId16"/>
    <p:sldId id="273" r:id="rId17"/>
    <p:sldId id="274" r:id="rId18"/>
    <p:sldId id="275" r:id="rId19"/>
    <p:sldId id="277" r:id="rId20"/>
    <p:sldId id="278"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820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state estimation clearly. Then explain that robots cannot directly observe their true state. The estimator fuses a motion model with noisy sensor data, and the output is not just a point estimate. It also includes confidence or uncertainty.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recursive structure is the central idea. First, the robot predicts where it should be after moving. This introduces uncertainty. Then the robot receives a measurement and corrects the prediction. This correction usually reduces uncertainty.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Kalman Filter as a compact way to represent uncertainty. It only needs the mean and covariance. The Kalman gain controls how strongly the filter corrects the prediction using the measurement.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slowly. The prediction says the robot should be at 1.00. The sensor reads 1.30. Because the measurement noise is lower than the predicted uncertainty, the Kalman gain is 0.80. The updated estimate becomes 1.24, which is between prediction and measurement, and the uncertainty decreases to 0.24.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Kalman Filter to the actual simulation. Because robot motion uses sine and cosine, the standard linear Kalman Filter is not enough. EKF handles this by linearizing the nonlinear motion and measurement models. The most important parameter for the result comparison is the measurement covariance 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Particle Filters are useful when uncertainty is nonlinear, non-Gaussian, or multi-modal. Instead of tracking a mean and covariance, we track many hypotheses. Measurements assign weights, and resampling keeps the particles that agree with sensor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measurement likelihood calculation. Particle 3 is exactly at the measurement, so it receives the largest weight. Particles 2 and 4 still survive somewhat. Particles far away from the measurement almost disappear. Resampling turns this weighted distribution into a new particle set focused around the likely state.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left plot to explain prediction without correction. Because the initial heading uncertainty is extremely large, particles move in many directions, forming a ring. On the right, the measurement z equals state plus noise with R equal to 0.01. The particles closest to the measurement get high weights, so after resampling the distribution becomes concentrated near the true state.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figures visually. In the better sensor case, landmark uncertainty ellipses are tight. With the original sensor, the ellipses expand. With the worse sensor, the ellipses become much larger, meaning the filter is less certain about landmark positions and robot pose. This does not necessarily mean the robot is totally wrong. It means the estimator correctly reports lower confidence.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as a causal chain. R is measurement noise. As R increases, the Kalman gain decreases, so the filter trusts new measurements less. That means the covariance stays larger, which appears as larger red ellipses. This is the professional interpretation of the three output screenshots.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comparison slide. Kalman filters are efficient because the belief is summarized by a mean and covariance. Particle filters are more flexible because they use many samples, but that flexibility costs computation.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14133" y="1811867"/>
            <a:ext cx="4671472" cy="830997"/>
          </a:xfrm>
          <a:prstGeom prst="rect">
            <a:avLst/>
          </a:prstGeom>
          <a:noFill/>
        </p:spPr>
        <p:txBody>
          <a:bodyPr wrap="none" rtlCol="0">
            <a:spAutoFit/>
          </a:bodyPr>
          <a:lstStyle/>
          <a:p>
            <a:r>
              <a:rPr lang="en-US" sz="4800" dirty="0" smtClean="0">
                <a:latin typeface="Arial" panose="020B0604020202020204" pitchFamily="34" charset="0"/>
                <a:cs typeface="Arial" panose="020B0604020202020204" pitchFamily="34" charset="0"/>
              </a:rPr>
              <a:t>State Estimation</a:t>
            </a:r>
            <a:endParaRPr lang="en-US" sz="4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5772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endParaRPr lang="en-US" sz="850" dirty="0">
              <a:latin typeface="Arial" panose="020B0604020202020204" pitchFamily="34" charset="0"/>
              <a:cs typeface="Arial" panose="020B0604020202020204" pitchFamily="34" charset="0"/>
            </a:endParaRPr>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rial" panose="020B0604020202020204" pitchFamily="34" charset="0"/>
                <a:ea typeface="Aptos Display" pitchFamily="34" charset="-122"/>
                <a:cs typeface="Arial" panose="020B0604020202020204" pitchFamily="34" charset="0"/>
              </a:rPr>
              <a:t>What is state estimation?</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r>
              <a:rPr lang="en-US" sz="850" dirty="0">
                <a:solidFill>
                  <a:srgbClr val="98A2B3"/>
                </a:solidFill>
                <a:latin typeface="Arial" panose="020B0604020202020204" pitchFamily="34" charset="0"/>
                <a:ea typeface="Aptos" pitchFamily="34" charset="-122"/>
                <a:cs typeface="Arial" panose="020B0604020202020204" pitchFamily="34" charset="0"/>
              </a:rPr>
              <a:t>A3 State Estimation</a:t>
            </a:r>
            <a:endParaRPr lang="en-US" sz="850" dirty="0">
              <a:latin typeface="Arial" panose="020B0604020202020204" pitchFamily="34" charset="0"/>
              <a:cs typeface="Arial" panose="020B0604020202020204" pitchFamily="34" charset="0"/>
            </a:endParaRPr>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rial" panose="020B0604020202020204" pitchFamily="34" charset="0"/>
                <a:ea typeface="Aptos" pitchFamily="34" charset="-122"/>
                <a:cs typeface="Arial" panose="020B0604020202020204" pitchFamily="34" charset="0"/>
              </a:rPr>
              <a:t>03</a:t>
            </a:r>
            <a:endParaRPr lang="en-US" sz="850" dirty="0">
              <a:latin typeface="Arial" panose="020B0604020202020204" pitchFamily="34" charset="0"/>
              <a:cs typeface="Arial" panose="020B0604020202020204" pitchFamily="34" charset="0"/>
            </a:endParaRPr>
          </a:p>
        </p:txBody>
      </p:sp>
      <p:sp>
        <p:nvSpPr>
          <p:cNvPr id="7" name="Text 5"/>
          <p:cNvSpPr/>
          <p:nvPr/>
        </p:nvSpPr>
        <p:spPr>
          <a:xfrm>
            <a:off x="658368" y="1417320"/>
            <a:ext cx="10744200" cy="566928"/>
          </a:xfrm>
          <a:prstGeom prst="rect">
            <a:avLst/>
          </a:prstGeom>
          <a:noFill/>
          <a:ln/>
        </p:spPr>
        <p:txBody>
          <a:bodyPr wrap="square" lIns="254" tIns="254" rIns="254" bIns="254" rtlCol="0" anchor="ctr">
            <a:normAutofit lnSpcReduction="10000"/>
          </a:bodyPr>
          <a:lstStyle/>
          <a:p>
            <a:pPr marL="0" indent="0">
              <a:buNone/>
            </a:pPr>
            <a:r>
              <a:rPr lang="en-US" sz="2000" b="1" dirty="0">
                <a:solidFill>
                  <a:srgbClr val="172033"/>
                </a:solidFill>
                <a:latin typeface="Arial" panose="020B0604020202020204" pitchFamily="34" charset="0"/>
                <a:cs typeface="Arial" panose="020B0604020202020204" pitchFamily="34" charset="0"/>
              </a:rPr>
              <a:t>State estimation is the process of estimating the hidden true state of a system by combining a motion model, sensor measurements, and uncertainty.</a:t>
            </a:r>
            <a:endParaRPr lang="en-US" sz="2000" dirty="0">
              <a:latin typeface="Arial" panose="020B0604020202020204" pitchFamily="34" charset="0"/>
              <a:cs typeface="Arial" panose="020B0604020202020204" pitchFamily="34" charset="0"/>
            </a:endParaRPr>
          </a:p>
        </p:txBody>
      </p:sp>
      <p:sp>
        <p:nvSpPr>
          <p:cNvPr id="8" name="Shape 6"/>
          <p:cNvSpPr/>
          <p:nvPr/>
        </p:nvSpPr>
        <p:spPr>
          <a:xfrm>
            <a:off x="2194560" y="3154680"/>
            <a:ext cx="1874520" cy="0"/>
          </a:xfrm>
          <a:prstGeom prst="line">
            <a:avLst/>
          </a:prstGeom>
          <a:noFill/>
          <a:ln w="25400">
            <a:solidFill>
              <a:srgbClr val="667085"/>
            </a:solidFill>
            <a:prstDash val="solid"/>
            <a:headEnd type="none"/>
            <a:tailEnd type="triangle"/>
          </a:ln>
        </p:spPr>
      </p:sp>
      <p:sp>
        <p:nvSpPr>
          <p:cNvPr id="9" name="Shape 7"/>
          <p:cNvSpPr/>
          <p:nvPr/>
        </p:nvSpPr>
        <p:spPr>
          <a:xfrm>
            <a:off x="5669280" y="3154680"/>
            <a:ext cx="1874520" cy="0"/>
          </a:xfrm>
          <a:prstGeom prst="line">
            <a:avLst/>
          </a:prstGeom>
          <a:noFill/>
          <a:ln w="25400">
            <a:solidFill>
              <a:srgbClr val="667085"/>
            </a:solidFill>
            <a:prstDash val="solid"/>
            <a:headEnd type="none"/>
            <a:tailEnd type="triangle"/>
          </a:ln>
        </p:spPr>
      </p:sp>
      <p:sp>
        <p:nvSpPr>
          <p:cNvPr id="10" name="Shape 8"/>
          <p:cNvSpPr/>
          <p:nvPr/>
        </p:nvSpPr>
        <p:spPr>
          <a:xfrm>
            <a:off x="841248" y="2560320"/>
            <a:ext cx="1691640" cy="1143000"/>
          </a:xfrm>
          <a:prstGeom prst="roundRect">
            <a:avLst>
              <a:gd name="adj" fmla="val 6400"/>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1" name="Text 9"/>
          <p:cNvSpPr/>
          <p:nvPr/>
        </p:nvSpPr>
        <p:spPr>
          <a:xfrm>
            <a:off x="1051560" y="2852928"/>
            <a:ext cx="1234440" cy="201168"/>
          </a:xfrm>
          <a:prstGeom prst="rect">
            <a:avLst/>
          </a:prstGeom>
          <a:noFill/>
          <a:ln/>
        </p:spPr>
        <p:txBody>
          <a:bodyPr wrap="square" lIns="0" tIns="0" rIns="0" bIns="0" rtlCol="0" anchor="ctr"/>
          <a:lstStyle/>
          <a:p>
            <a:pPr marL="0" indent="0" algn="ctr">
              <a:buNone/>
            </a:pPr>
            <a:r>
              <a:rPr lang="en-US" sz="1500" b="1" dirty="0">
                <a:solidFill>
                  <a:srgbClr val="172033"/>
                </a:solidFill>
                <a:latin typeface="Arial" panose="020B0604020202020204" pitchFamily="34" charset="0"/>
                <a:cs typeface="Arial" panose="020B0604020202020204" pitchFamily="34" charset="0"/>
              </a:rPr>
              <a:t>Motion model</a:t>
            </a:r>
            <a:endParaRPr lang="en-US" sz="1500" dirty="0">
              <a:latin typeface="Arial" panose="020B0604020202020204" pitchFamily="34" charset="0"/>
              <a:cs typeface="Arial" panose="020B0604020202020204" pitchFamily="34" charset="0"/>
            </a:endParaRPr>
          </a:p>
        </p:txBody>
      </p:sp>
      <p:sp>
        <p:nvSpPr>
          <p:cNvPr id="12" name="Text 10"/>
          <p:cNvSpPr/>
          <p:nvPr/>
        </p:nvSpPr>
        <p:spPr>
          <a:xfrm>
            <a:off x="960120" y="3182112"/>
            <a:ext cx="1481328" cy="164592"/>
          </a:xfrm>
          <a:prstGeom prst="rect">
            <a:avLst/>
          </a:prstGeom>
          <a:noFill/>
          <a:ln/>
        </p:spPr>
        <p:txBody>
          <a:bodyPr wrap="square" lIns="0" tIns="0" rIns="0" bIns="0" rtlCol="0" anchor="ctr"/>
          <a:lstStyle/>
          <a:p>
            <a:pPr marL="0" indent="0" algn="ctr">
              <a:buNone/>
            </a:pPr>
            <a:r>
              <a:rPr lang="en-US" sz="950" dirty="0">
                <a:solidFill>
                  <a:srgbClr val="667085"/>
                </a:solidFill>
                <a:latin typeface="Arial" panose="020B0604020202020204" pitchFamily="34" charset="0"/>
                <a:cs typeface="Arial" panose="020B0604020202020204" pitchFamily="34" charset="0"/>
              </a:rPr>
              <a:t>How the robot should move</a:t>
            </a:r>
            <a:endParaRPr lang="en-US" sz="950" dirty="0">
              <a:latin typeface="Arial" panose="020B0604020202020204" pitchFamily="34" charset="0"/>
              <a:cs typeface="Arial" panose="020B0604020202020204" pitchFamily="34" charset="0"/>
            </a:endParaRPr>
          </a:p>
        </p:txBody>
      </p:sp>
      <p:sp>
        <p:nvSpPr>
          <p:cNvPr id="13" name="Shape 11"/>
          <p:cNvSpPr/>
          <p:nvPr/>
        </p:nvSpPr>
        <p:spPr>
          <a:xfrm>
            <a:off x="4069080" y="2395728"/>
            <a:ext cx="1691640" cy="1481328"/>
          </a:xfrm>
          <a:prstGeom prst="roundRect">
            <a:avLst>
              <a:gd name="adj" fmla="val 4938"/>
            </a:avLst>
          </a:prstGeom>
          <a:solidFill>
            <a:srgbClr val="EEF4FF"/>
          </a:solidFill>
          <a:ln w="12700">
            <a:solidFill>
              <a:srgbClr val="C7D7FE">
                <a:alpha val="80000"/>
              </a:srgbClr>
            </a:solidFill>
            <a:prstDash val="solid"/>
          </a:ln>
          <a:effectLst>
            <a:outerShdw blurRad="12700" dist="50800" dir="2700000" algn="bl" rotWithShape="0">
              <a:srgbClr val="000000">
                <a:alpha val="8000"/>
              </a:srgbClr>
            </a:outerShdw>
          </a:effectLst>
        </p:spPr>
      </p:sp>
      <p:sp>
        <p:nvSpPr>
          <p:cNvPr id="14" name="Text 12"/>
          <p:cNvSpPr/>
          <p:nvPr/>
        </p:nvSpPr>
        <p:spPr>
          <a:xfrm>
            <a:off x="4434840" y="2862072"/>
            <a:ext cx="960120" cy="201168"/>
          </a:xfrm>
          <a:prstGeom prst="rect">
            <a:avLst/>
          </a:prstGeom>
          <a:noFill/>
          <a:ln/>
        </p:spPr>
        <p:txBody>
          <a:bodyPr wrap="square" lIns="0" tIns="0" rIns="0" bIns="0" rtlCol="0" anchor="ctr"/>
          <a:lstStyle/>
          <a:p>
            <a:pPr marL="0" indent="0" algn="ctr">
              <a:buNone/>
            </a:pPr>
            <a:r>
              <a:rPr lang="en-US" sz="1600" b="1" dirty="0">
                <a:solidFill>
                  <a:srgbClr val="2E6BFF"/>
                </a:solidFill>
                <a:latin typeface="Arial" panose="020B0604020202020204" pitchFamily="34" charset="0"/>
                <a:cs typeface="Arial" panose="020B0604020202020204" pitchFamily="34" charset="0"/>
              </a:rPr>
              <a:t>Estimator</a:t>
            </a:r>
            <a:endParaRPr lang="en-US" sz="1600" dirty="0">
              <a:latin typeface="Arial" panose="020B0604020202020204" pitchFamily="34" charset="0"/>
              <a:cs typeface="Arial" panose="020B0604020202020204" pitchFamily="34" charset="0"/>
            </a:endParaRPr>
          </a:p>
        </p:txBody>
      </p:sp>
      <p:sp>
        <p:nvSpPr>
          <p:cNvPr id="15" name="Text 13"/>
          <p:cNvSpPr/>
          <p:nvPr/>
        </p:nvSpPr>
        <p:spPr>
          <a:xfrm>
            <a:off x="4370832" y="3227832"/>
            <a:ext cx="1097280" cy="164592"/>
          </a:xfrm>
          <a:prstGeom prst="rect">
            <a:avLst/>
          </a:prstGeom>
          <a:noFill/>
          <a:ln/>
        </p:spPr>
        <p:txBody>
          <a:bodyPr wrap="square" lIns="0" tIns="0" rIns="0" bIns="0" rtlCol="0" anchor="ctr"/>
          <a:lstStyle/>
          <a:p>
            <a:pPr marL="0" indent="0" algn="ctr">
              <a:buNone/>
            </a:pPr>
            <a:r>
              <a:rPr lang="en-US" sz="950" b="1" dirty="0">
                <a:solidFill>
                  <a:srgbClr val="2E6BFF"/>
                </a:solidFill>
                <a:latin typeface="Arial" panose="020B0604020202020204" pitchFamily="34" charset="0"/>
                <a:cs typeface="Arial" panose="020B0604020202020204" pitchFamily="34" charset="0"/>
              </a:rPr>
              <a:t>predict + update</a:t>
            </a:r>
            <a:endParaRPr lang="en-US" sz="950" dirty="0">
              <a:latin typeface="Arial" panose="020B0604020202020204" pitchFamily="34" charset="0"/>
              <a:cs typeface="Arial" panose="020B0604020202020204" pitchFamily="34" charset="0"/>
            </a:endParaRPr>
          </a:p>
        </p:txBody>
      </p:sp>
      <p:sp>
        <p:nvSpPr>
          <p:cNvPr id="16" name="Shape 14"/>
          <p:cNvSpPr/>
          <p:nvPr/>
        </p:nvSpPr>
        <p:spPr>
          <a:xfrm>
            <a:off x="7543800" y="2560320"/>
            <a:ext cx="1691640" cy="1143000"/>
          </a:xfrm>
          <a:prstGeom prst="roundRect">
            <a:avLst>
              <a:gd name="adj" fmla="val 6400"/>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7" name="Text 15"/>
          <p:cNvSpPr/>
          <p:nvPr/>
        </p:nvSpPr>
        <p:spPr>
          <a:xfrm>
            <a:off x="7845552" y="2852928"/>
            <a:ext cx="1097280" cy="201168"/>
          </a:xfrm>
          <a:prstGeom prst="rect">
            <a:avLst/>
          </a:prstGeom>
          <a:noFill/>
          <a:ln/>
        </p:spPr>
        <p:txBody>
          <a:bodyPr wrap="square" lIns="0" tIns="0" rIns="0" bIns="0" rtlCol="0" anchor="ctr"/>
          <a:lstStyle/>
          <a:p>
            <a:pPr marL="0" indent="0" algn="ctr">
              <a:buNone/>
            </a:pPr>
            <a:r>
              <a:rPr lang="en-US" sz="1500" b="1" dirty="0">
                <a:solidFill>
                  <a:srgbClr val="172033"/>
                </a:solidFill>
                <a:latin typeface="Arial" panose="020B0604020202020204" pitchFamily="34" charset="0"/>
                <a:cs typeface="Arial" panose="020B0604020202020204" pitchFamily="34" charset="0"/>
              </a:rPr>
              <a:t>Sensor data</a:t>
            </a:r>
            <a:endParaRPr lang="en-US" sz="1500" dirty="0">
              <a:latin typeface="Arial" panose="020B0604020202020204" pitchFamily="34" charset="0"/>
              <a:cs typeface="Arial" panose="020B0604020202020204" pitchFamily="34" charset="0"/>
            </a:endParaRPr>
          </a:p>
        </p:txBody>
      </p:sp>
      <p:sp>
        <p:nvSpPr>
          <p:cNvPr id="18" name="Text 16"/>
          <p:cNvSpPr/>
          <p:nvPr/>
        </p:nvSpPr>
        <p:spPr>
          <a:xfrm>
            <a:off x="7827264" y="3182112"/>
            <a:ext cx="1115568" cy="164592"/>
          </a:xfrm>
          <a:prstGeom prst="rect">
            <a:avLst/>
          </a:prstGeom>
          <a:noFill/>
          <a:ln/>
        </p:spPr>
        <p:txBody>
          <a:bodyPr wrap="square" lIns="0" tIns="0" rIns="0" bIns="0" rtlCol="0" anchor="ctr"/>
          <a:lstStyle/>
          <a:p>
            <a:pPr marL="0" indent="0" algn="ctr">
              <a:buNone/>
            </a:pPr>
            <a:r>
              <a:rPr lang="en-US" sz="950" dirty="0">
                <a:solidFill>
                  <a:srgbClr val="667085"/>
                </a:solidFill>
                <a:latin typeface="Arial" panose="020B0604020202020204" pitchFamily="34" charset="0"/>
                <a:cs typeface="Arial" panose="020B0604020202020204" pitchFamily="34" charset="0"/>
              </a:rPr>
              <a:t>Noisy evidence</a:t>
            </a:r>
            <a:endParaRPr lang="en-US" sz="950" dirty="0">
              <a:latin typeface="Arial" panose="020B0604020202020204" pitchFamily="34" charset="0"/>
              <a:cs typeface="Arial" panose="020B0604020202020204" pitchFamily="34" charset="0"/>
            </a:endParaRPr>
          </a:p>
        </p:txBody>
      </p:sp>
      <p:sp>
        <p:nvSpPr>
          <p:cNvPr id="19" name="Shape 17"/>
          <p:cNvSpPr/>
          <p:nvPr/>
        </p:nvSpPr>
        <p:spPr>
          <a:xfrm>
            <a:off x="9601200" y="2560320"/>
            <a:ext cx="1691640" cy="1143000"/>
          </a:xfrm>
          <a:prstGeom prst="roundRect">
            <a:avLst>
              <a:gd name="adj" fmla="val 6400"/>
            </a:avLst>
          </a:prstGeom>
          <a:solidFill>
            <a:srgbClr val="ECFDF3"/>
          </a:solidFill>
          <a:ln w="12700">
            <a:solidFill>
              <a:srgbClr val="ABEFC6">
                <a:alpha val="80000"/>
              </a:srgbClr>
            </a:solidFill>
            <a:prstDash val="solid"/>
          </a:ln>
          <a:effectLst>
            <a:outerShdw blurRad="12700" dist="50800" dir="2700000" algn="bl" rotWithShape="0">
              <a:srgbClr val="000000">
                <a:alpha val="8000"/>
              </a:srgbClr>
            </a:outerShdw>
          </a:effectLst>
        </p:spPr>
      </p:sp>
      <p:sp>
        <p:nvSpPr>
          <p:cNvPr id="20" name="Text 18"/>
          <p:cNvSpPr/>
          <p:nvPr/>
        </p:nvSpPr>
        <p:spPr>
          <a:xfrm>
            <a:off x="10021824" y="2852928"/>
            <a:ext cx="786384" cy="201168"/>
          </a:xfrm>
          <a:prstGeom prst="rect">
            <a:avLst/>
          </a:prstGeom>
          <a:noFill/>
          <a:ln/>
        </p:spPr>
        <p:txBody>
          <a:bodyPr wrap="square" lIns="0" tIns="0" rIns="0" bIns="0" rtlCol="0" anchor="ctr"/>
          <a:lstStyle/>
          <a:p>
            <a:pPr marL="0" indent="0" algn="ctr">
              <a:buNone/>
            </a:pPr>
            <a:r>
              <a:rPr lang="en-US" sz="1500" b="1" dirty="0">
                <a:solidFill>
                  <a:srgbClr val="067647"/>
                </a:solidFill>
                <a:latin typeface="Arial" panose="020B0604020202020204" pitchFamily="34" charset="0"/>
                <a:cs typeface="Arial" panose="020B0604020202020204" pitchFamily="34" charset="0"/>
              </a:rPr>
              <a:t>Belief</a:t>
            </a:r>
            <a:endParaRPr lang="en-US" sz="1500" dirty="0">
              <a:latin typeface="Arial" panose="020B0604020202020204" pitchFamily="34" charset="0"/>
              <a:cs typeface="Arial" panose="020B0604020202020204" pitchFamily="34" charset="0"/>
            </a:endParaRPr>
          </a:p>
        </p:txBody>
      </p:sp>
      <p:sp>
        <p:nvSpPr>
          <p:cNvPr id="21" name="Text 19"/>
          <p:cNvSpPr/>
          <p:nvPr/>
        </p:nvSpPr>
        <p:spPr>
          <a:xfrm>
            <a:off x="9802368" y="3182112"/>
            <a:ext cx="1298448" cy="164592"/>
          </a:xfrm>
          <a:prstGeom prst="rect">
            <a:avLst/>
          </a:prstGeom>
          <a:noFill/>
          <a:ln/>
        </p:spPr>
        <p:txBody>
          <a:bodyPr wrap="square" lIns="0" tIns="0" rIns="0" bIns="0" rtlCol="0" anchor="ctr"/>
          <a:lstStyle/>
          <a:p>
            <a:pPr marL="0" indent="0" algn="ctr">
              <a:buNone/>
            </a:pPr>
            <a:r>
              <a:rPr lang="en-US" sz="950" dirty="0">
                <a:solidFill>
                  <a:srgbClr val="067647"/>
                </a:solidFill>
                <a:latin typeface="Arial" panose="020B0604020202020204" pitchFamily="34" charset="0"/>
                <a:cs typeface="Arial" panose="020B0604020202020204" pitchFamily="34" charset="0"/>
              </a:rPr>
              <a:t>State + confidence</a:t>
            </a:r>
            <a:endParaRPr lang="en-US" sz="950" dirty="0">
              <a:latin typeface="Arial" panose="020B0604020202020204" pitchFamily="34" charset="0"/>
              <a:cs typeface="Arial" panose="020B0604020202020204" pitchFamily="34" charset="0"/>
            </a:endParaRPr>
          </a:p>
        </p:txBody>
      </p:sp>
      <p:sp>
        <p:nvSpPr>
          <p:cNvPr id="22" name="Shape 20"/>
          <p:cNvSpPr/>
          <p:nvPr/>
        </p:nvSpPr>
        <p:spPr>
          <a:xfrm>
            <a:off x="777240" y="4754880"/>
            <a:ext cx="4754880" cy="685800"/>
          </a:xfrm>
          <a:prstGeom prst="roundRect">
            <a:avLst>
              <a:gd name="adj" fmla="val 10667"/>
            </a:avLst>
          </a:prstGeom>
          <a:solidFill>
            <a:srgbClr val="101828"/>
          </a:solidFill>
          <a:ln w="12700">
            <a:solidFill>
              <a:srgbClr val="101828">
                <a:alpha val="80000"/>
              </a:srgbClr>
            </a:solidFill>
            <a:prstDash val="solid"/>
          </a:ln>
          <a:effectLst>
            <a:outerShdw blurRad="12700" dist="50800" dir="2700000" algn="bl" rotWithShape="0">
              <a:srgbClr val="000000">
                <a:alpha val="8000"/>
              </a:srgbClr>
            </a:outerShdw>
          </a:effectLst>
        </p:spPr>
      </p:sp>
      <p:sp>
        <p:nvSpPr>
          <p:cNvPr id="23" name="Text 21"/>
          <p:cNvSpPr/>
          <p:nvPr/>
        </p:nvSpPr>
        <p:spPr>
          <a:xfrm>
            <a:off x="960120" y="4983480"/>
            <a:ext cx="4389120" cy="182880"/>
          </a:xfrm>
          <a:prstGeom prst="rect">
            <a:avLst/>
          </a:prstGeom>
          <a:noFill/>
          <a:ln/>
        </p:spPr>
        <p:txBody>
          <a:bodyPr wrap="square" lIns="0" tIns="0" rIns="0" bIns="0" rtlCol="0" anchor="ctr"/>
          <a:lstStyle/>
          <a:p>
            <a:pPr marL="0" indent="0">
              <a:buNone/>
            </a:pPr>
            <a:r>
              <a:rPr lang="en-US" sz="1350" dirty="0">
                <a:solidFill>
                  <a:srgbClr val="FFFFFF"/>
                </a:solidFill>
                <a:latin typeface="Arial" panose="020B0604020202020204" pitchFamily="34" charset="0"/>
                <a:cs typeface="Arial" panose="020B0604020202020204" pitchFamily="34" charset="0"/>
              </a:rPr>
              <a:t>Example robot state:  x = [position_x, position_y, heading, velocity]</a:t>
            </a:r>
            <a:endParaRPr lang="en-US" sz="1350" dirty="0">
              <a:latin typeface="Arial" panose="020B0604020202020204" pitchFamily="34" charset="0"/>
              <a:cs typeface="Arial" panose="020B0604020202020204" pitchFamily="34" charset="0"/>
            </a:endParaRPr>
          </a:p>
        </p:txBody>
      </p:sp>
      <p:sp>
        <p:nvSpPr>
          <p:cNvPr id="24" name="Shape 22"/>
          <p:cNvSpPr/>
          <p:nvPr/>
        </p:nvSpPr>
        <p:spPr>
          <a:xfrm>
            <a:off x="5806440" y="4754880"/>
            <a:ext cx="5468112" cy="685800"/>
          </a:xfrm>
          <a:prstGeom prst="roundRect">
            <a:avLst>
              <a:gd name="adj" fmla="val 10667"/>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25" name="Text 23"/>
          <p:cNvSpPr/>
          <p:nvPr/>
        </p:nvSpPr>
        <p:spPr>
          <a:xfrm>
            <a:off x="6016752" y="4983480"/>
            <a:ext cx="5029200" cy="182880"/>
          </a:xfrm>
          <a:prstGeom prst="rect">
            <a:avLst/>
          </a:prstGeom>
          <a:noFill/>
          <a:ln/>
        </p:spPr>
        <p:txBody>
          <a:bodyPr wrap="square" lIns="0" tIns="0" rIns="0" bIns="0" rtlCol="0" anchor="ctr"/>
          <a:lstStyle/>
          <a:p>
            <a:pPr marL="0" indent="0">
              <a:buNone/>
            </a:pPr>
            <a:r>
              <a:rPr lang="en-US" sz="1350" b="1" dirty="0">
                <a:solidFill>
                  <a:srgbClr val="172033"/>
                </a:solidFill>
                <a:latin typeface="Arial" panose="020B0604020202020204" pitchFamily="34" charset="0"/>
                <a:cs typeface="Arial" panose="020B0604020202020204" pitchFamily="34" charset="0"/>
              </a:rPr>
              <a:t>A good estimator answers: Where am I? How confident am I?</a:t>
            </a:r>
            <a:endParaRPr lang="en-US" sz="135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endParaRPr lang="en-US" sz="850" dirty="0">
              <a:latin typeface="Arial" panose="020B0604020202020204" pitchFamily="34" charset="0"/>
              <a:cs typeface="Arial" panose="020B0604020202020204" pitchFamily="34" charset="0"/>
            </a:endParaRPr>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rial" panose="020B0604020202020204" pitchFamily="34" charset="0"/>
                <a:ea typeface="Aptos Display" pitchFamily="34" charset="-122"/>
                <a:cs typeface="Arial" panose="020B0604020202020204" pitchFamily="34" charset="0"/>
              </a:rPr>
              <a:t>Most estimators follow prediction and update</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r>
              <a:rPr lang="en-US" sz="850" dirty="0">
                <a:solidFill>
                  <a:srgbClr val="98A2B3"/>
                </a:solidFill>
                <a:latin typeface="Arial" panose="020B0604020202020204" pitchFamily="34" charset="0"/>
                <a:ea typeface="Aptos" pitchFamily="34" charset="-122"/>
                <a:cs typeface="Arial" panose="020B0604020202020204" pitchFamily="34" charset="0"/>
              </a:rPr>
              <a:t>A3 State Estimation</a:t>
            </a:r>
            <a:endParaRPr lang="en-US" sz="850" dirty="0">
              <a:latin typeface="Arial" panose="020B0604020202020204" pitchFamily="34" charset="0"/>
              <a:cs typeface="Arial" panose="020B0604020202020204" pitchFamily="34" charset="0"/>
            </a:endParaRPr>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rial" panose="020B0604020202020204" pitchFamily="34" charset="0"/>
                <a:ea typeface="Aptos" pitchFamily="34" charset="-122"/>
                <a:cs typeface="Arial" panose="020B0604020202020204" pitchFamily="34" charset="0"/>
              </a:rPr>
              <a:t>04</a:t>
            </a:r>
            <a:endParaRPr lang="en-US" sz="850" dirty="0">
              <a:latin typeface="Arial" panose="020B0604020202020204" pitchFamily="34" charset="0"/>
              <a:cs typeface="Arial" panose="020B0604020202020204" pitchFamily="34" charset="0"/>
            </a:endParaRPr>
          </a:p>
        </p:txBody>
      </p:sp>
      <p:sp>
        <p:nvSpPr>
          <p:cNvPr id="7" name="Shape 5"/>
          <p:cNvSpPr/>
          <p:nvPr/>
        </p:nvSpPr>
        <p:spPr>
          <a:xfrm>
            <a:off x="2743200" y="3090672"/>
            <a:ext cx="1645920" cy="0"/>
          </a:xfrm>
          <a:prstGeom prst="line">
            <a:avLst/>
          </a:prstGeom>
          <a:noFill/>
          <a:ln w="25400">
            <a:solidFill>
              <a:srgbClr val="667085"/>
            </a:solidFill>
            <a:prstDash val="solid"/>
            <a:headEnd type="none"/>
            <a:tailEnd type="triangle"/>
          </a:ln>
        </p:spPr>
      </p:sp>
      <p:sp>
        <p:nvSpPr>
          <p:cNvPr id="8" name="Shape 6"/>
          <p:cNvSpPr/>
          <p:nvPr/>
        </p:nvSpPr>
        <p:spPr>
          <a:xfrm>
            <a:off x="6400800" y="3090672"/>
            <a:ext cx="1645920" cy="0"/>
          </a:xfrm>
          <a:prstGeom prst="line">
            <a:avLst/>
          </a:prstGeom>
          <a:noFill/>
          <a:ln w="25400">
            <a:solidFill>
              <a:srgbClr val="667085"/>
            </a:solidFill>
            <a:prstDash val="solid"/>
            <a:headEnd type="none"/>
            <a:tailEnd type="triangle"/>
          </a:ln>
        </p:spPr>
      </p:sp>
      <p:sp>
        <p:nvSpPr>
          <p:cNvPr id="9" name="Shape 7"/>
          <p:cNvSpPr/>
          <p:nvPr/>
        </p:nvSpPr>
        <p:spPr>
          <a:xfrm>
            <a:off x="777240" y="2148840"/>
            <a:ext cx="2057400" cy="1920240"/>
          </a:xfrm>
          <a:prstGeom prst="roundRect">
            <a:avLst>
              <a:gd name="adj" fmla="val 3810"/>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0" name="Text 8"/>
          <p:cNvSpPr/>
          <p:nvPr/>
        </p:nvSpPr>
        <p:spPr>
          <a:xfrm>
            <a:off x="1005840" y="2487168"/>
            <a:ext cx="1600200" cy="228600"/>
          </a:xfrm>
          <a:prstGeom prst="rect">
            <a:avLst/>
          </a:prstGeom>
          <a:noFill/>
          <a:ln/>
        </p:spPr>
        <p:txBody>
          <a:bodyPr wrap="square" lIns="0" tIns="0" rIns="0" bIns="0" rtlCol="0" anchor="ctr"/>
          <a:lstStyle/>
          <a:p>
            <a:pPr marL="0" indent="0" algn="ctr">
              <a:buNone/>
            </a:pPr>
            <a:r>
              <a:rPr lang="en-US" sz="1700" b="1" dirty="0">
                <a:solidFill>
                  <a:srgbClr val="172033"/>
                </a:solidFill>
                <a:latin typeface="Arial" panose="020B0604020202020204" pitchFamily="34" charset="0"/>
                <a:cs typeface="Arial" panose="020B0604020202020204" pitchFamily="34" charset="0"/>
              </a:rPr>
              <a:t>Previous belief</a:t>
            </a:r>
            <a:endParaRPr lang="en-US" sz="1700" dirty="0">
              <a:latin typeface="Arial" panose="020B0604020202020204" pitchFamily="34" charset="0"/>
              <a:cs typeface="Arial" panose="020B0604020202020204" pitchFamily="34" charset="0"/>
            </a:endParaRPr>
          </a:p>
        </p:txBody>
      </p:sp>
      <p:sp>
        <p:nvSpPr>
          <p:cNvPr id="11" name="Text 9"/>
          <p:cNvSpPr/>
          <p:nvPr/>
        </p:nvSpPr>
        <p:spPr>
          <a:xfrm>
            <a:off x="1216152" y="3072384"/>
            <a:ext cx="1188720" cy="256032"/>
          </a:xfrm>
          <a:prstGeom prst="rect">
            <a:avLst/>
          </a:prstGeom>
          <a:noFill/>
          <a:ln/>
        </p:spPr>
        <p:txBody>
          <a:bodyPr wrap="square" lIns="0" tIns="0" rIns="0" bIns="0" rtlCol="0" anchor="ctr"/>
          <a:lstStyle/>
          <a:p>
            <a:pPr marL="0" indent="0" algn="ctr">
              <a:buNone/>
            </a:pPr>
            <a:r>
              <a:rPr lang="en-US" sz="1800" b="1" dirty="0">
                <a:solidFill>
                  <a:srgbClr val="2E6BFF"/>
                </a:solidFill>
                <a:latin typeface="Arial" panose="020B0604020202020204" pitchFamily="34" charset="0"/>
                <a:cs typeface="Arial" panose="020B0604020202020204" pitchFamily="34" charset="0"/>
              </a:rPr>
              <a:t>bel(xₖ₋₁)</a:t>
            </a:r>
            <a:endParaRPr lang="en-US" sz="1800" dirty="0">
              <a:latin typeface="Arial" panose="020B0604020202020204" pitchFamily="34" charset="0"/>
              <a:cs typeface="Arial" panose="020B0604020202020204" pitchFamily="34" charset="0"/>
            </a:endParaRPr>
          </a:p>
        </p:txBody>
      </p:sp>
      <p:sp>
        <p:nvSpPr>
          <p:cNvPr id="12" name="Shape 10"/>
          <p:cNvSpPr/>
          <p:nvPr/>
        </p:nvSpPr>
        <p:spPr>
          <a:xfrm>
            <a:off x="3977640" y="2148840"/>
            <a:ext cx="2606040" cy="1920240"/>
          </a:xfrm>
          <a:prstGeom prst="roundRect">
            <a:avLst>
              <a:gd name="adj" fmla="val 3810"/>
            </a:avLst>
          </a:prstGeom>
          <a:solidFill>
            <a:srgbClr val="EEF4FF"/>
          </a:solidFill>
          <a:ln w="12700">
            <a:solidFill>
              <a:srgbClr val="C7D7FE">
                <a:alpha val="80000"/>
              </a:srgbClr>
            </a:solidFill>
            <a:prstDash val="solid"/>
          </a:ln>
          <a:effectLst>
            <a:outerShdw blurRad="12700" dist="50800" dir="2700000" algn="bl" rotWithShape="0">
              <a:srgbClr val="000000">
                <a:alpha val="8000"/>
              </a:srgbClr>
            </a:outerShdw>
          </a:effectLst>
        </p:spPr>
      </p:sp>
      <p:sp>
        <p:nvSpPr>
          <p:cNvPr id="13" name="Text 11"/>
          <p:cNvSpPr/>
          <p:nvPr/>
        </p:nvSpPr>
        <p:spPr>
          <a:xfrm>
            <a:off x="4608576" y="2423160"/>
            <a:ext cx="1325880" cy="228600"/>
          </a:xfrm>
          <a:prstGeom prst="rect">
            <a:avLst/>
          </a:prstGeom>
          <a:noFill/>
          <a:ln/>
        </p:spPr>
        <p:txBody>
          <a:bodyPr wrap="square" lIns="0" tIns="0" rIns="0" bIns="0" rtlCol="0" anchor="ctr"/>
          <a:lstStyle/>
          <a:p>
            <a:pPr marL="0" indent="0" algn="ctr">
              <a:buNone/>
            </a:pPr>
            <a:r>
              <a:rPr lang="en-US" sz="1700" b="1" dirty="0">
                <a:solidFill>
                  <a:srgbClr val="2E6BFF"/>
                </a:solidFill>
                <a:latin typeface="Arial" panose="020B0604020202020204" pitchFamily="34" charset="0"/>
                <a:cs typeface="Arial" panose="020B0604020202020204" pitchFamily="34" charset="0"/>
              </a:rPr>
              <a:t>Prediction</a:t>
            </a:r>
            <a:endParaRPr lang="en-US" sz="1700" dirty="0">
              <a:latin typeface="Arial" panose="020B0604020202020204" pitchFamily="34" charset="0"/>
              <a:cs typeface="Arial" panose="020B0604020202020204" pitchFamily="34" charset="0"/>
            </a:endParaRPr>
          </a:p>
        </p:txBody>
      </p:sp>
      <p:sp>
        <p:nvSpPr>
          <p:cNvPr id="14" name="Text 12"/>
          <p:cNvSpPr/>
          <p:nvPr/>
        </p:nvSpPr>
        <p:spPr>
          <a:xfrm>
            <a:off x="4407408" y="2798064"/>
            <a:ext cx="1719072" cy="182880"/>
          </a:xfrm>
          <a:prstGeom prst="rect">
            <a:avLst/>
          </a:prstGeom>
          <a:noFill/>
          <a:ln/>
        </p:spPr>
        <p:txBody>
          <a:bodyPr wrap="square" lIns="0" tIns="0" rIns="0" bIns="0" rtlCol="0" anchor="ctr"/>
          <a:lstStyle/>
          <a:p>
            <a:pPr marL="0" indent="0" algn="ctr">
              <a:buNone/>
            </a:pPr>
            <a:r>
              <a:rPr lang="en-US" sz="1200" dirty="0">
                <a:solidFill>
                  <a:srgbClr val="667085"/>
                </a:solidFill>
                <a:latin typeface="Arial" panose="020B0604020202020204" pitchFamily="34" charset="0"/>
                <a:cs typeface="Arial" panose="020B0604020202020204" pitchFamily="34" charset="0"/>
              </a:rPr>
              <a:t>Use motion model</a:t>
            </a:r>
            <a:endParaRPr lang="en-US" sz="1200" dirty="0">
              <a:latin typeface="Arial" panose="020B0604020202020204" pitchFamily="34" charset="0"/>
              <a:cs typeface="Arial" panose="020B0604020202020204" pitchFamily="34" charset="0"/>
            </a:endParaRPr>
          </a:p>
        </p:txBody>
      </p:sp>
      <p:sp>
        <p:nvSpPr>
          <p:cNvPr id="15" name="Text 13"/>
          <p:cNvSpPr/>
          <p:nvPr/>
        </p:nvSpPr>
        <p:spPr>
          <a:xfrm>
            <a:off x="4242816" y="3236976"/>
            <a:ext cx="2066544" cy="228600"/>
          </a:xfrm>
          <a:prstGeom prst="rect">
            <a:avLst/>
          </a:prstGeom>
          <a:noFill/>
          <a:ln/>
        </p:spPr>
        <p:txBody>
          <a:bodyPr wrap="square" lIns="0" tIns="0" rIns="0" bIns="0" rtlCol="0" anchor="ctr"/>
          <a:lstStyle/>
          <a:p>
            <a:pPr marL="0" indent="0" algn="ctr">
              <a:buNone/>
            </a:pPr>
            <a:r>
              <a:rPr lang="en-US" sz="1350" dirty="0">
                <a:solidFill>
                  <a:srgbClr val="172033"/>
                </a:solidFill>
                <a:latin typeface="Arial" panose="020B0604020202020204" pitchFamily="34" charset="0"/>
                <a:cs typeface="Arial" panose="020B0604020202020204" pitchFamily="34" charset="0"/>
              </a:rPr>
              <a:t>x̂ₖ|ₖ₋₁ = f(x̂ₖ₋₁, uₖ)</a:t>
            </a:r>
            <a:endParaRPr lang="en-US" sz="1350" dirty="0">
              <a:latin typeface="Arial" panose="020B0604020202020204" pitchFamily="34" charset="0"/>
              <a:cs typeface="Arial" panose="020B0604020202020204" pitchFamily="34" charset="0"/>
            </a:endParaRPr>
          </a:p>
        </p:txBody>
      </p:sp>
      <p:sp>
        <p:nvSpPr>
          <p:cNvPr id="16" name="Shape 14"/>
          <p:cNvSpPr/>
          <p:nvPr/>
        </p:nvSpPr>
        <p:spPr>
          <a:xfrm>
            <a:off x="7726680" y="2148840"/>
            <a:ext cx="2606040" cy="1920240"/>
          </a:xfrm>
          <a:prstGeom prst="roundRect">
            <a:avLst>
              <a:gd name="adj" fmla="val 3810"/>
            </a:avLst>
          </a:prstGeom>
          <a:solidFill>
            <a:srgbClr val="ECFDF3"/>
          </a:solidFill>
          <a:ln w="12700">
            <a:solidFill>
              <a:srgbClr val="ABEFC6">
                <a:alpha val="80000"/>
              </a:srgbClr>
            </a:solidFill>
            <a:prstDash val="solid"/>
          </a:ln>
          <a:effectLst>
            <a:outerShdw blurRad="12700" dist="50800" dir="2700000" algn="bl" rotWithShape="0">
              <a:srgbClr val="000000">
                <a:alpha val="8000"/>
              </a:srgbClr>
            </a:outerShdw>
          </a:effectLst>
        </p:spPr>
      </p:sp>
      <p:sp>
        <p:nvSpPr>
          <p:cNvPr id="17" name="Text 15"/>
          <p:cNvSpPr/>
          <p:nvPr/>
        </p:nvSpPr>
        <p:spPr>
          <a:xfrm>
            <a:off x="8394192" y="2423160"/>
            <a:ext cx="1234440" cy="228600"/>
          </a:xfrm>
          <a:prstGeom prst="rect">
            <a:avLst/>
          </a:prstGeom>
          <a:noFill/>
          <a:ln/>
        </p:spPr>
        <p:txBody>
          <a:bodyPr wrap="square" lIns="0" tIns="0" rIns="0" bIns="0" rtlCol="0" anchor="ctr"/>
          <a:lstStyle/>
          <a:p>
            <a:pPr marL="0" indent="0" algn="ctr">
              <a:buNone/>
            </a:pPr>
            <a:r>
              <a:rPr lang="en-US" sz="1700" b="1" dirty="0">
                <a:solidFill>
                  <a:srgbClr val="067647"/>
                </a:solidFill>
                <a:latin typeface="Arial" panose="020B0604020202020204" pitchFamily="34" charset="0"/>
                <a:cs typeface="Arial" panose="020B0604020202020204" pitchFamily="34" charset="0"/>
              </a:rPr>
              <a:t>Update</a:t>
            </a:r>
            <a:endParaRPr lang="en-US" sz="1700" dirty="0">
              <a:latin typeface="Arial" panose="020B0604020202020204" pitchFamily="34" charset="0"/>
              <a:cs typeface="Arial" panose="020B0604020202020204" pitchFamily="34" charset="0"/>
            </a:endParaRPr>
          </a:p>
        </p:txBody>
      </p:sp>
      <p:sp>
        <p:nvSpPr>
          <p:cNvPr id="18" name="Text 16"/>
          <p:cNvSpPr/>
          <p:nvPr/>
        </p:nvSpPr>
        <p:spPr>
          <a:xfrm>
            <a:off x="8046720" y="2798064"/>
            <a:ext cx="1965960" cy="182880"/>
          </a:xfrm>
          <a:prstGeom prst="rect">
            <a:avLst/>
          </a:prstGeom>
          <a:noFill/>
          <a:ln/>
        </p:spPr>
        <p:txBody>
          <a:bodyPr wrap="square" lIns="0" tIns="0" rIns="0" bIns="0" rtlCol="0" anchor="ctr"/>
          <a:lstStyle/>
          <a:p>
            <a:pPr marL="0" indent="0" algn="ctr">
              <a:buNone/>
            </a:pPr>
            <a:r>
              <a:rPr lang="en-US" sz="1200" dirty="0">
                <a:solidFill>
                  <a:srgbClr val="667085"/>
                </a:solidFill>
                <a:latin typeface="Arial" panose="020B0604020202020204" pitchFamily="34" charset="0"/>
                <a:cs typeface="Arial" panose="020B0604020202020204" pitchFamily="34" charset="0"/>
              </a:rPr>
              <a:t>Use sensor measurement</a:t>
            </a:r>
            <a:endParaRPr lang="en-US" sz="1200" dirty="0">
              <a:latin typeface="Arial" panose="020B0604020202020204" pitchFamily="34" charset="0"/>
              <a:cs typeface="Arial" panose="020B0604020202020204" pitchFamily="34" charset="0"/>
            </a:endParaRPr>
          </a:p>
        </p:txBody>
      </p:sp>
      <p:sp>
        <p:nvSpPr>
          <p:cNvPr id="19" name="Text 17"/>
          <p:cNvSpPr/>
          <p:nvPr/>
        </p:nvSpPr>
        <p:spPr>
          <a:xfrm>
            <a:off x="7918704" y="3236976"/>
            <a:ext cx="2212848" cy="228600"/>
          </a:xfrm>
          <a:prstGeom prst="rect">
            <a:avLst/>
          </a:prstGeom>
          <a:noFill/>
          <a:ln/>
        </p:spPr>
        <p:txBody>
          <a:bodyPr wrap="square" lIns="0" tIns="0" rIns="0" bIns="0" rtlCol="0" anchor="ctr"/>
          <a:lstStyle/>
          <a:p>
            <a:pPr marL="0" indent="0" algn="ctr">
              <a:buNone/>
            </a:pPr>
            <a:r>
              <a:rPr lang="en-US" sz="1350" dirty="0">
                <a:solidFill>
                  <a:srgbClr val="172033"/>
                </a:solidFill>
                <a:latin typeface="Arial" panose="020B0604020202020204" pitchFamily="34" charset="0"/>
                <a:cs typeface="Arial" panose="020B0604020202020204" pitchFamily="34" charset="0"/>
              </a:rPr>
              <a:t>x̂ₖ|ₖ = prediction + correction</a:t>
            </a:r>
            <a:endParaRPr lang="en-US" sz="1350" dirty="0">
              <a:latin typeface="Arial" panose="020B0604020202020204" pitchFamily="34" charset="0"/>
              <a:cs typeface="Arial" panose="020B0604020202020204" pitchFamily="34" charset="0"/>
            </a:endParaRPr>
          </a:p>
        </p:txBody>
      </p:sp>
      <p:sp>
        <p:nvSpPr>
          <p:cNvPr id="20" name="Shape 18"/>
          <p:cNvSpPr/>
          <p:nvPr/>
        </p:nvSpPr>
        <p:spPr>
          <a:xfrm>
            <a:off x="822960" y="4937760"/>
            <a:ext cx="9464040" cy="621792"/>
          </a:xfrm>
          <a:prstGeom prst="roundRect">
            <a:avLst>
              <a:gd name="adj" fmla="val 8824"/>
            </a:avLst>
          </a:prstGeom>
          <a:solidFill>
            <a:srgbClr val="FFFFFF"/>
          </a:solidFill>
          <a:ln w="12700">
            <a:solidFill>
              <a:srgbClr val="D7DCE5"/>
            </a:solidFill>
            <a:prstDash val="solid"/>
          </a:ln>
        </p:spPr>
      </p:sp>
      <p:sp>
        <p:nvSpPr>
          <p:cNvPr id="21" name="Text 19"/>
          <p:cNvSpPr/>
          <p:nvPr/>
        </p:nvSpPr>
        <p:spPr>
          <a:xfrm>
            <a:off x="1051560" y="5148072"/>
            <a:ext cx="9034272" cy="182880"/>
          </a:xfrm>
          <a:prstGeom prst="rect">
            <a:avLst/>
          </a:prstGeom>
          <a:noFill/>
          <a:ln/>
        </p:spPr>
        <p:txBody>
          <a:bodyPr wrap="square" lIns="0" tIns="0" rIns="0" bIns="0" rtlCol="0" anchor="ctr"/>
          <a:lstStyle/>
          <a:p>
            <a:pPr marL="0" indent="0" algn="ctr">
              <a:buNone/>
            </a:pPr>
            <a:r>
              <a:rPr lang="en-US" sz="1350" dirty="0">
                <a:solidFill>
                  <a:srgbClr val="172033"/>
                </a:solidFill>
                <a:latin typeface="Arial" panose="020B0604020202020204" pitchFamily="34" charset="0"/>
                <a:cs typeface="Arial" panose="020B0604020202020204" pitchFamily="34" charset="0"/>
              </a:rPr>
              <a:t>Prediction usually increases uncertainty because motion is imperfect. Update usually decreases uncertainty because new sensor data gives evidence.</a:t>
            </a:r>
            <a:endParaRPr lang="en-US" sz="135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r>
              <a:rPr lang="en-US" sz="850" b="1" dirty="0">
                <a:solidFill>
                  <a:srgbClr val="2E6BFF"/>
                </a:solidFill>
                <a:latin typeface="Arial" panose="020B0604020202020204" pitchFamily="34" charset="0"/>
                <a:ea typeface="Aptos" pitchFamily="34" charset="-122"/>
                <a:cs typeface="Arial" panose="020B0604020202020204" pitchFamily="34" charset="0"/>
              </a:rPr>
              <a:t>KALMAN FILTER</a:t>
            </a:r>
            <a:endParaRPr lang="en-US" sz="850" dirty="0">
              <a:latin typeface="Arial" panose="020B0604020202020204" pitchFamily="34" charset="0"/>
              <a:cs typeface="Arial" panose="020B0604020202020204" pitchFamily="34" charset="0"/>
            </a:endParaRPr>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rial" panose="020B0604020202020204" pitchFamily="34" charset="0"/>
                <a:ea typeface="Aptos Display" pitchFamily="34" charset="-122"/>
                <a:cs typeface="Arial" panose="020B0604020202020204" pitchFamily="34" charset="0"/>
              </a:rPr>
              <a:t>Compact belief: one mean and one covariance</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endParaRPr lang="en-US" sz="850" dirty="0">
              <a:latin typeface="Arial" panose="020B0604020202020204" pitchFamily="34" charset="0"/>
              <a:cs typeface="Arial" panose="020B0604020202020204" pitchFamily="34" charset="0"/>
            </a:endParaRPr>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rial" panose="020B0604020202020204" pitchFamily="34" charset="0"/>
                <a:ea typeface="Aptos" pitchFamily="34" charset="-122"/>
                <a:cs typeface="Arial" panose="020B0604020202020204" pitchFamily="34" charset="0"/>
              </a:rPr>
              <a:t>05</a:t>
            </a:r>
            <a:endParaRPr lang="en-US" sz="850" dirty="0">
              <a:latin typeface="Arial" panose="020B0604020202020204" pitchFamily="34" charset="0"/>
              <a:cs typeface="Arial" panose="020B0604020202020204" pitchFamily="34" charset="0"/>
            </a:endParaRPr>
          </a:p>
        </p:txBody>
      </p:sp>
      <p:sp>
        <p:nvSpPr>
          <p:cNvPr id="7" name="Text 5"/>
          <p:cNvSpPr/>
          <p:nvPr/>
        </p:nvSpPr>
        <p:spPr>
          <a:xfrm>
            <a:off x="731520" y="1417320"/>
            <a:ext cx="5486400" cy="365760"/>
          </a:xfrm>
          <a:prstGeom prst="rect">
            <a:avLst/>
          </a:prstGeom>
          <a:noFill/>
          <a:ln/>
        </p:spPr>
        <p:txBody>
          <a:bodyPr wrap="square" lIns="0" tIns="0" rIns="0" bIns="0" rtlCol="0" anchor="ctr"/>
          <a:lstStyle/>
          <a:p>
            <a:pPr marL="0" indent="0">
              <a:buNone/>
            </a:pPr>
            <a:r>
              <a:rPr lang="en-US" sz="2000" b="1" dirty="0">
                <a:solidFill>
                  <a:srgbClr val="172033"/>
                </a:solidFill>
                <a:latin typeface="Arial" panose="020B0604020202020204" pitchFamily="34" charset="0"/>
                <a:cs typeface="Arial" panose="020B0604020202020204" pitchFamily="34" charset="0"/>
              </a:rPr>
              <a:t>Kalman Filter represents belief as a Gaussian distribution.</a:t>
            </a:r>
            <a:endParaRPr lang="en-US" sz="2000" dirty="0">
              <a:latin typeface="Arial" panose="020B0604020202020204" pitchFamily="34" charset="0"/>
              <a:cs typeface="Arial" panose="020B0604020202020204" pitchFamily="34" charset="0"/>
            </a:endParaRPr>
          </a:p>
        </p:txBody>
      </p:sp>
      <p:sp>
        <p:nvSpPr>
          <p:cNvPr id="12" name="Text 10"/>
          <p:cNvSpPr/>
          <p:nvPr/>
        </p:nvSpPr>
        <p:spPr>
          <a:xfrm>
            <a:off x="548640" y="2185755"/>
            <a:ext cx="2377440" cy="182880"/>
          </a:xfrm>
          <a:prstGeom prst="rect">
            <a:avLst/>
          </a:prstGeom>
          <a:noFill/>
          <a:ln/>
        </p:spPr>
        <p:txBody>
          <a:bodyPr wrap="square" lIns="0" tIns="0" rIns="0" bIns="0" rtlCol="0" anchor="ctr"/>
          <a:lstStyle/>
          <a:p>
            <a:pPr marL="0" indent="0" algn="ctr">
              <a:buNone/>
            </a:pPr>
            <a:r>
              <a:rPr lang="en-US" sz="1100" dirty="0">
                <a:solidFill>
                  <a:srgbClr val="667085"/>
                </a:solidFill>
                <a:latin typeface="Arial" panose="020B0604020202020204" pitchFamily="34" charset="0"/>
                <a:cs typeface="Arial" panose="020B0604020202020204" pitchFamily="34" charset="0"/>
              </a:rPr>
              <a:t>covariance = uncertainty width</a:t>
            </a:r>
            <a:endParaRPr lang="en-US" sz="1100" dirty="0">
              <a:latin typeface="Arial" panose="020B0604020202020204" pitchFamily="34" charset="0"/>
              <a:cs typeface="Arial" panose="020B0604020202020204" pitchFamily="34" charset="0"/>
            </a:endParaRPr>
          </a:p>
        </p:txBody>
      </p:sp>
      <p:sp>
        <p:nvSpPr>
          <p:cNvPr id="14" name="Shape 12"/>
          <p:cNvSpPr/>
          <p:nvPr/>
        </p:nvSpPr>
        <p:spPr>
          <a:xfrm>
            <a:off x="3918712" y="2285661"/>
            <a:ext cx="146304" cy="146304"/>
          </a:xfrm>
          <a:prstGeom prst="ellipse">
            <a:avLst/>
          </a:prstGeom>
          <a:solidFill>
            <a:srgbClr val="2E6BFF"/>
          </a:solidFill>
          <a:ln w="12700">
            <a:solidFill>
              <a:srgbClr val="2E6BFF"/>
            </a:solidFill>
            <a:prstDash val="solid"/>
          </a:ln>
        </p:spPr>
      </p:sp>
      <p:sp>
        <p:nvSpPr>
          <p:cNvPr id="15" name="Text 13"/>
          <p:cNvSpPr/>
          <p:nvPr/>
        </p:nvSpPr>
        <p:spPr>
          <a:xfrm>
            <a:off x="4193032" y="2221653"/>
            <a:ext cx="1170432" cy="164592"/>
          </a:xfrm>
          <a:prstGeom prst="rect">
            <a:avLst/>
          </a:prstGeom>
          <a:noFill/>
          <a:ln/>
        </p:spPr>
        <p:txBody>
          <a:bodyPr wrap="square" lIns="0" tIns="0" rIns="0" bIns="0" rtlCol="0" anchor="ctr"/>
          <a:lstStyle/>
          <a:p>
            <a:pPr marL="0" indent="0">
              <a:buNone/>
            </a:pPr>
            <a:r>
              <a:rPr lang="en-US" sz="1200" b="1" dirty="0">
                <a:solidFill>
                  <a:srgbClr val="172033"/>
                </a:solidFill>
                <a:latin typeface="Arial" panose="020B0604020202020204" pitchFamily="34" charset="0"/>
                <a:cs typeface="Arial" panose="020B0604020202020204" pitchFamily="34" charset="0"/>
              </a:rPr>
              <a:t>Assumption</a:t>
            </a:r>
            <a:endParaRPr lang="en-US" sz="1200" dirty="0">
              <a:latin typeface="Arial" panose="020B0604020202020204" pitchFamily="34" charset="0"/>
              <a:cs typeface="Arial" panose="020B0604020202020204" pitchFamily="34" charset="0"/>
            </a:endParaRPr>
          </a:p>
        </p:txBody>
      </p:sp>
      <p:sp>
        <p:nvSpPr>
          <p:cNvPr id="16" name="Text 14"/>
          <p:cNvSpPr/>
          <p:nvPr/>
        </p:nvSpPr>
        <p:spPr>
          <a:xfrm>
            <a:off x="5381752" y="2221653"/>
            <a:ext cx="2331720" cy="164592"/>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cs typeface="Arial" panose="020B0604020202020204" pitchFamily="34" charset="0"/>
              </a:rPr>
              <a:t>linear model + Gaussian noise</a:t>
            </a:r>
            <a:endParaRPr lang="en-US" sz="1200" dirty="0">
              <a:latin typeface="Arial" panose="020B0604020202020204" pitchFamily="34" charset="0"/>
              <a:cs typeface="Arial" panose="020B0604020202020204" pitchFamily="34" charset="0"/>
            </a:endParaRPr>
          </a:p>
        </p:txBody>
      </p:sp>
      <p:sp>
        <p:nvSpPr>
          <p:cNvPr id="17" name="Shape 15"/>
          <p:cNvSpPr/>
          <p:nvPr/>
        </p:nvSpPr>
        <p:spPr>
          <a:xfrm>
            <a:off x="3918712" y="3062901"/>
            <a:ext cx="146304" cy="146304"/>
          </a:xfrm>
          <a:prstGeom prst="ellipse">
            <a:avLst/>
          </a:prstGeom>
          <a:solidFill>
            <a:srgbClr val="2E6BFF"/>
          </a:solidFill>
          <a:ln w="12700">
            <a:solidFill>
              <a:srgbClr val="2E6BFF"/>
            </a:solidFill>
            <a:prstDash val="solid"/>
          </a:ln>
        </p:spPr>
      </p:sp>
      <p:sp>
        <p:nvSpPr>
          <p:cNvPr id="18" name="Text 16"/>
          <p:cNvSpPr/>
          <p:nvPr/>
        </p:nvSpPr>
        <p:spPr>
          <a:xfrm>
            <a:off x="4193032" y="2998893"/>
            <a:ext cx="1170432" cy="164592"/>
          </a:xfrm>
          <a:prstGeom prst="rect">
            <a:avLst/>
          </a:prstGeom>
          <a:noFill/>
          <a:ln/>
        </p:spPr>
        <p:txBody>
          <a:bodyPr wrap="square" lIns="0" tIns="0" rIns="0" bIns="0" rtlCol="0" anchor="ctr"/>
          <a:lstStyle/>
          <a:p>
            <a:pPr marL="0" indent="0">
              <a:buNone/>
            </a:pPr>
            <a:r>
              <a:rPr lang="en-US" sz="1200" b="1" dirty="0">
                <a:solidFill>
                  <a:srgbClr val="172033"/>
                </a:solidFill>
                <a:latin typeface="Arial" panose="020B0604020202020204" pitchFamily="34" charset="0"/>
                <a:cs typeface="Arial" panose="020B0604020202020204" pitchFamily="34" charset="0"/>
              </a:rPr>
              <a:t>Output</a:t>
            </a:r>
            <a:endParaRPr lang="en-US" sz="1200" dirty="0">
              <a:latin typeface="Arial" panose="020B0604020202020204" pitchFamily="34" charset="0"/>
              <a:cs typeface="Arial" panose="020B0604020202020204" pitchFamily="34" charset="0"/>
            </a:endParaRPr>
          </a:p>
        </p:txBody>
      </p:sp>
      <p:sp>
        <p:nvSpPr>
          <p:cNvPr id="19" name="Text 17"/>
          <p:cNvSpPr/>
          <p:nvPr/>
        </p:nvSpPr>
        <p:spPr>
          <a:xfrm>
            <a:off x="5381752" y="2998893"/>
            <a:ext cx="2331720" cy="164592"/>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cs typeface="Arial" panose="020B0604020202020204" pitchFamily="34" charset="0"/>
              </a:rPr>
              <a:t>best estimate x̂ and covariance P</a:t>
            </a:r>
            <a:endParaRPr lang="en-US" sz="1200" dirty="0">
              <a:latin typeface="Arial" panose="020B0604020202020204" pitchFamily="34" charset="0"/>
              <a:cs typeface="Arial" panose="020B0604020202020204" pitchFamily="34" charset="0"/>
            </a:endParaRPr>
          </a:p>
        </p:txBody>
      </p:sp>
      <p:sp>
        <p:nvSpPr>
          <p:cNvPr id="20" name="Shape 18"/>
          <p:cNvSpPr/>
          <p:nvPr/>
        </p:nvSpPr>
        <p:spPr>
          <a:xfrm>
            <a:off x="3918712" y="3840141"/>
            <a:ext cx="146304" cy="146304"/>
          </a:xfrm>
          <a:prstGeom prst="ellipse">
            <a:avLst/>
          </a:prstGeom>
          <a:solidFill>
            <a:srgbClr val="2E6BFF"/>
          </a:solidFill>
          <a:ln w="12700">
            <a:solidFill>
              <a:srgbClr val="2E6BFF"/>
            </a:solidFill>
            <a:prstDash val="solid"/>
          </a:ln>
        </p:spPr>
      </p:sp>
      <p:sp>
        <p:nvSpPr>
          <p:cNvPr id="21" name="Text 19"/>
          <p:cNvSpPr/>
          <p:nvPr/>
        </p:nvSpPr>
        <p:spPr>
          <a:xfrm>
            <a:off x="4193032" y="3776133"/>
            <a:ext cx="1170432" cy="164592"/>
          </a:xfrm>
          <a:prstGeom prst="rect">
            <a:avLst/>
          </a:prstGeom>
          <a:noFill/>
          <a:ln/>
        </p:spPr>
        <p:txBody>
          <a:bodyPr wrap="square" lIns="0" tIns="0" rIns="0" bIns="0" rtlCol="0" anchor="ctr"/>
          <a:lstStyle/>
          <a:p>
            <a:pPr marL="0" indent="0">
              <a:buNone/>
            </a:pPr>
            <a:r>
              <a:rPr lang="en-US" sz="1200" b="1" dirty="0">
                <a:solidFill>
                  <a:srgbClr val="172033"/>
                </a:solidFill>
                <a:latin typeface="Arial" panose="020B0604020202020204" pitchFamily="34" charset="0"/>
                <a:cs typeface="Arial" panose="020B0604020202020204" pitchFamily="34" charset="0"/>
              </a:rPr>
              <a:t>Strength</a:t>
            </a:r>
            <a:endParaRPr lang="en-US" sz="1200" dirty="0">
              <a:latin typeface="Arial" panose="020B0604020202020204" pitchFamily="34" charset="0"/>
              <a:cs typeface="Arial" panose="020B0604020202020204" pitchFamily="34" charset="0"/>
            </a:endParaRPr>
          </a:p>
        </p:txBody>
      </p:sp>
      <p:sp>
        <p:nvSpPr>
          <p:cNvPr id="22" name="Text 20"/>
          <p:cNvSpPr/>
          <p:nvPr/>
        </p:nvSpPr>
        <p:spPr>
          <a:xfrm>
            <a:off x="5381752" y="3776133"/>
            <a:ext cx="2331720" cy="164592"/>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cs typeface="Arial" panose="020B0604020202020204" pitchFamily="34" charset="0"/>
              </a:rPr>
              <a:t>fast and mathematically elegant</a:t>
            </a:r>
            <a:endParaRPr lang="en-US" sz="1200" dirty="0">
              <a:latin typeface="Arial" panose="020B0604020202020204" pitchFamily="34" charset="0"/>
              <a:cs typeface="Arial" panose="020B0604020202020204" pitchFamily="34" charset="0"/>
            </a:endParaRPr>
          </a:p>
        </p:txBody>
      </p:sp>
      <p:sp>
        <p:nvSpPr>
          <p:cNvPr id="23" name="Shape 21"/>
          <p:cNvSpPr/>
          <p:nvPr/>
        </p:nvSpPr>
        <p:spPr>
          <a:xfrm>
            <a:off x="3918712" y="4617381"/>
            <a:ext cx="146304" cy="146304"/>
          </a:xfrm>
          <a:prstGeom prst="ellipse">
            <a:avLst/>
          </a:prstGeom>
          <a:solidFill>
            <a:srgbClr val="FF7A45"/>
          </a:solidFill>
          <a:ln w="12700">
            <a:solidFill>
              <a:srgbClr val="FF7A45"/>
            </a:solidFill>
            <a:prstDash val="solid"/>
          </a:ln>
        </p:spPr>
      </p:sp>
      <p:sp>
        <p:nvSpPr>
          <p:cNvPr id="24" name="Text 22"/>
          <p:cNvSpPr/>
          <p:nvPr/>
        </p:nvSpPr>
        <p:spPr>
          <a:xfrm>
            <a:off x="4193032" y="4553373"/>
            <a:ext cx="1170432" cy="164592"/>
          </a:xfrm>
          <a:prstGeom prst="rect">
            <a:avLst/>
          </a:prstGeom>
          <a:noFill/>
          <a:ln/>
        </p:spPr>
        <p:txBody>
          <a:bodyPr wrap="square" lIns="0" tIns="0" rIns="0" bIns="0" rtlCol="0" anchor="ctr"/>
          <a:lstStyle/>
          <a:p>
            <a:pPr marL="0" indent="0">
              <a:buNone/>
            </a:pPr>
            <a:r>
              <a:rPr lang="en-US" sz="1200" b="1" dirty="0">
                <a:solidFill>
                  <a:srgbClr val="172033"/>
                </a:solidFill>
                <a:latin typeface="Arial" panose="020B0604020202020204" pitchFamily="34" charset="0"/>
                <a:cs typeface="Arial" panose="020B0604020202020204" pitchFamily="34" charset="0"/>
              </a:rPr>
              <a:t>Limitation</a:t>
            </a:r>
            <a:endParaRPr lang="en-US" sz="1200" dirty="0">
              <a:latin typeface="Arial" panose="020B0604020202020204" pitchFamily="34" charset="0"/>
              <a:cs typeface="Arial" panose="020B0604020202020204" pitchFamily="34" charset="0"/>
            </a:endParaRPr>
          </a:p>
        </p:txBody>
      </p:sp>
      <p:sp>
        <p:nvSpPr>
          <p:cNvPr id="25" name="Text 23"/>
          <p:cNvSpPr/>
          <p:nvPr/>
        </p:nvSpPr>
        <p:spPr>
          <a:xfrm>
            <a:off x="5381752" y="4553373"/>
            <a:ext cx="2331720" cy="164592"/>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cs typeface="Arial" panose="020B0604020202020204" pitchFamily="34" charset="0"/>
              </a:rPr>
              <a:t>less suitable for strongly nonlinear or multi-modal uncertainty</a:t>
            </a:r>
            <a:endParaRPr lang="en-US" sz="1200" dirty="0">
              <a:latin typeface="Arial" panose="020B0604020202020204" pitchFamily="34" charset="0"/>
              <a:cs typeface="Arial" panose="020B0604020202020204" pitchFamily="34" charset="0"/>
            </a:endParaRPr>
          </a:p>
        </p:txBody>
      </p:sp>
      <p:sp>
        <p:nvSpPr>
          <p:cNvPr id="26" name="Shape 24"/>
          <p:cNvSpPr/>
          <p:nvPr/>
        </p:nvSpPr>
        <p:spPr>
          <a:xfrm>
            <a:off x="3982720" y="5184309"/>
            <a:ext cx="3520440" cy="347472"/>
          </a:xfrm>
          <a:prstGeom prst="roundRect">
            <a:avLst>
              <a:gd name="adj" fmla="val 10526"/>
            </a:avLst>
          </a:prstGeom>
          <a:solidFill>
            <a:srgbClr val="EEF4FF"/>
          </a:solidFill>
          <a:ln w="12700">
            <a:solidFill>
              <a:srgbClr val="C7D7FE"/>
            </a:solidFill>
            <a:prstDash val="solid"/>
          </a:ln>
        </p:spPr>
      </p:sp>
      <p:sp>
        <p:nvSpPr>
          <p:cNvPr id="27" name="Text 25"/>
          <p:cNvSpPr/>
          <p:nvPr/>
        </p:nvSpPr>
        <p:spPr>
          <a:xfrm>
            <a:off x="4165600" y="5294037"/>
            <a:ext cx="3154680" cy="128016"/>
          </a:xfrm>
          <a:prstGeom prst="rect">
            <a:avLst/>
          </a:prstGeom>
          <a:noFill/>
          <a:ln/>
        </p:spPr>
        <p:txBody>
          <a:bodyPr wrap="square" lIns="0" tIns="0" rIns="0" bIns="0" rtlCol="0" anchor="ctr"/>
          <a:lstStyle/>
          <a:p>
            <a:pPr marL="0" indent="0" algn="ctr">
              <a:buNone/>
            </a:pPr>
            <a:r>
              <a:rPr lang="en-US" sz="1050" b="1" dirty="0">
                <a:solidFill>
                  <a:srgbClr val="2E6BFF"/>
                </a:solidFill>
                <a:latin typeface="Arial" panose="020B0604020202020204" pitchFamily="34" charset="0"/>
                <a:cs typeface="Arial" panose="020B0604020202020204" pitchFamily="34" charset="0"/>
              </a:rPr>
              <a:t>Trust prediction or trust sensor? Kalman gain decides.</a:t>
            </a:r>
            <a:endParaRPr lang="en-US" sz="105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r>
              <a:rPr lang="en-US" sz="850" b="1" dirty="0">
                <a:solidFill>
                  <a:srgbClr val="2E6BFF"/>
                </a:solidFill>
                <a:latin typeface="Aptos" pitchFamily="34" charset="0"/>
                <a:ea typeface="Aptos" pitchFamily="34" charset="-122"/>
                <a:cs typeface="Aptos" pitchFamily="34" charset="-120"/>
              </a:rPr>
              <a:t>KALMAN FILTER</a:t>
            </a:r>
            <a:endParaRPr lang="en-US" sz="850" dirty="0"/>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Display" pitchFamily="34" charset="0"/>
                <a:ea typeface="Aptos Display" pitchFamily="34" charset="-122"/>
                <a:cs typeface="Aptos Display" pitchFamily="34" charset="-120"/>
              </a:rPr>
              <a:t>Solved example: one-dimensional position estimate</a:t>
            </a:r>
            <a:endParaRPr lang="en-US" sz="2800" dirty="0"/>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r>
              <a:rPr lang="en-US" sz="850" dirty="0">
                <a:solidFill>
                  <a:srgbClr val="98A2B3"/>
                </a:solidFill>
                <a:latin typeface="Aptos" pitchFamily="34" charset="0"/>
                <a:ea typeface="Aptos" pitchFamily="34" charset="-122"/>
                <a:cs typeface="Aptos" pitchFamily="34" charset="-120"/>
              </a:rPr>
              <a:t>A3 State Estimation</a:t>
            </a:r>
            <a:endParaRPr lang="en-US" sz="850" dirty="0"/>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ptos" pitchFamily="34" charset="0"/>
                <a:ea typeface="Aptos" pitchFamily="34" charset="-122"/>
                <a:cs typeface="Aptos" pitchFamily="34" charset="-120"/>
              </a:rPr>
              <a:t>06</a:t>
            </a:r>
            <a:endParaRPr lang="en-US" sz="850" dirty="0"/>
          </a:p>
        </p:txBody>
      </p:sp>
      <p:sp>
        <p:nvSpPr>
          <p:cNvPr id="7" name="Shape 5"/>
          <p:cNvSpPr/>
          <p:nvPr/>
        </p:nvSpPr>
        <p:spPr>
          <a:xfrm>
            <a:off x="685800" y="1298448"/>
            <a:ext cx="4709160" cy="4526280"/>
          </a:xfrm>
          <a:prstGeom prst="roundRect">
            <a:avLst>
              <a:gd name="adj" fmla="val 1616"/>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8" name="Text 6"/>
          <p:cNvSpPr/>
          <p:nvPr/>
        </p:nvSpPr>
        <p:spPr>
          <a:xfrm>
            <a:off x="960120" y="1627632"/>
            <a:ext cx="1371600" cy="219456"/>
          </a:xfrm>
          <a:prstGeom prst="rect">
            <a:avLst/>
          </a:prstGeom>
          <a:noFill/>
          <a:ln/>
        </p:spPr>
        <p:txBody>
          <a:bodyPr wrap="square" lIns="0" tIns="0" rIns="0" bIns="0" rtlCol="0" anchor="ctr"/>
          <a:lstStyle/>
          <a:p>
            <a:pPr marL="0" indent="0">
              <a:buNone/>
            </a:pPr>
            <a:r>
              <a:rPr lang="en-US" sz="1600" b="1" dirty="0">
                <a:solidFill>
                  <a:srgbClr val="2E6BFF"/>
                </a:solidFill>
              </a:rPr>
              <a:t>Prediction</a:t>
            </a:r>
            <a:endParaRPr lang="en-US" sz="1600" dirty="0"/>
          </a:p>
        </p:txBody>
      </p:sp>
      <p:sp>
        <p:nvSpPr>
          <p:cNvPr id="9" name="Text 7"/>
          <p:cNvSpPr/>
          <p:nvPr/>
        </p:nvSpPr>
        <p:spPr>
          <a:xfrm>
            <a:off x="960120" y="2057400"/>
            <a:ext cx="4160520" cy="256032"/>
          </a:xfrm>
          <a:prstGeom prst="rect">
            <a:avLst/>
          </a:prstGeom>
          <a:noFill/>
          <a:ln/>
        </p:spPr>
        <p:txBody>
          <a:bodyPr wrap="square" lIns="0" tIns="0" rIns="0" bIns="0" rtlCol="0" anchor="ctr"/>
          <a:lstStyle/>
          <a:p>
            <a:pPr marL="0" indent="0">
              <a:buNone/>
            </a:pPr>
            <a:r>
              <a:rPr lang="en-US" sz="1700" dirty="0">
                <a:solidFill>
                  <a:srgbClr val="172033"/>
                </a:solidFill>
              </a:rPr>
              <a:t>x̂⁻ = x̂ + u     P⁻ = P + Q</a:t>
            </a:r>
            <a:endParaRPr lang="en-US" sz="1700" dirty="0"/>
          </a:p>
        </p:txBody>
      </p:sp>
      <p:sp>
        <p:nvSpPr>
          <p:cNvPr id="10" name="Text 8"/>
          <p:cNvSpPr/>
          <p:nvPr/>
        </p:nvSpPr>
        <p:spPr>
          <a:xfrm>
            <a:off x="960120" y="2788920"/>
            <a:ext cx="1371600" cy="219456"/>
          </a:xfrm>
          <a:prstGeom prst="rect">
            <a:avLst/>
          </a:prstGeom>
          <a:noFill/>
          <a:ln/>
        </p:spPr>
        <p:txBody>
          <a:bodyPr wrap="square" lIns="0" tIns="0" rIns="0" bIns="0" rtlCol="0" anchor="ctr"/>
          <a:lstStyle/>
          <a:p>
            <a:pPr marL="0" indent="0">
              <a:buNone/>
            </a:pPr>
            <a:r>
              <a:rPr lang="en-US" sz="1600" b="1" dirty="0">
                <a:solidFill>
                  <a:srgbClr val="067647"/>
                </a:solidFill>
              </a:rPr>
              <a:t>Update</a:t>
            </a:r>
            <a:endParaRPr lang="en-US" sz="1600" dirty="0"/>
          </a:p>
        </p:txBody>
      </p:sp>
      <p:sp>
        <p:nvSpPr>
          <p:cNvPr id="11" name="Text 9"/>
          <p:cNvSpPr/>
          <p:nvPr/>
        </p:nvSpPr>
        <p:spPr>
          <a:xfrm>
            <a:off x="960120" y="3200400"/>
            <a:ext cx="3931920" cy="228600"/>
          </a:xfrm>
          <a:prstGeom prst="rect">
            <a:avLst/>
          </a:prstGeom>
          <a:noFill/>
          <a:ln/>
        </p:spPr>
        <p:txBody>
          <a:bodyPr wrap="square" lIns="0" tIns="0" rIns="0" bIns="0" rtlCol="0" anchor="ctr"/>
          <a:lstStyle/>
          <a:p>
            <a:pPr marL="0" indent="0">
              <a:buNone/>
            </a:pPr>
            <a:r>
              <a:rPr lang="en-US" sz="1700" dirty="0">
                <a:solidFill>
                  <a:srgbClr val="172033"/>
                </a:solidFill>
              </a:rPr>
              <a:t>K = P⁻ / (P⁻ + R)</a:t>
            </a:r>
            <a:endParaRPr lang="en-US" sz="1700" dirty="0"/>
          </a:p>
        </p:txBody>
      </p:sp>
      <p:sp>
        <p:nvSpPr>
          <p:cNvPr id="12" name="Text 10"/>
          <p:cNvSpPr/>
          <p:nvPr/>
        </p:nvSpPr>
        <p:spPr>
          <a:xfrm>
            <a:off x="960120" y="3584448"/>
            <a:ext cx="3931920" cy="228600"/>
          </a:xfrm>
          <a:prstGeom prst="rect">
            <a:avLst/>
          </a:prstGeom>
          <a:noFill/>
          <a:ln/>
        </p:spPr>
        <p:txBody>
          <a:bodyPr wrap="square" lIns="0" tIns="0" rIns="0" bIns="0" rtlCol="0" anchor="ctr"/>
          <a:lstStyle/>
          <a:p>
            <a:pPr marL="0" indent="0">
              <a:buNone/>
            </a:pPr>
            <a:r>
              <a:rPr lang="en-US" sz="1700" dirty="0">
                <a:solidFill>
                  <a:srgbClr val="172033"/>
                </a:solidFill>
              </a:rPr>
              <a:t>x̂ = x̂⁻ + K(z − x̂⁻)</a:t>
            </a:r>
            <a:endParaRPr lang="en-US" sz="1700" dirty="0"/>
          </a:p>
        </p:txBody>
      </p:sp>
      <p:sp>
        <p:nvSpPr>
          <p:cNvPr id="13" name="Text 11"/>
          <p:cNvSpPr/>
          <p:nvPr/>
        </p:nvSpPr>
        <p:spPr>
          <a:xfrm>
            <a:off x="960120" y="3968496"/>
            <a:ext cx="3931920" cy="228600"/>
          </a:xfrm>
          <a:prstGeom prst="rect">
            <a:avLst/>
          </a:prstGeom>
          <a:noFill/>
          <a:ln/>
        </p:spPr>
        <p:txBody>
          <a:bodyPr wrap="square" lIns="0" tIns="0" rIns="0" bIns="0" rtlCol="0" anchor="ctr"/>
          <a:lstStyle/>
          <a:p>
            <a:pPr marL="0" indent="0">
              <a:buNone/>
            </a:pPr>
            <a:r>
              <a:rPr lang="en-US" sz="1700" dirty="0">
                <a:solidFill>
                  <a:srgbClr val="172033"/>
                </a:solidFill>
              </a:rPr>
              <a:t>P = (1 − K)P⁻</a:t>
            </a:r>
            <a:endParaRPr lang="en-US" sz="1700" dirty="0"/>
          </a:p>
        </p:txBody>
      </p:sp>
      <p:sp>
        <p:nvSpPr>
          <p:cNvPr id="14" name="Shape 12"/>
          <p:cNvSpPr/>
          <p:nvPr/>
        </p:nvSpPr>
        <p:spPr>
          <a:xfrm>
            <a:off x="960120" y="4590288"/>
            <a:ext cx="4160520" cy="0"/>
          </a:xfrm>
          <a:prstGeom prst="line">
            <a:avLst/>
          </a:prstGeom>
          <a:noFill/>
          <a:ln w="12700">
            <a:solidFill>
              <a:srgbClr val="D7DCE5"/>
            </a:solidFill>
            <a:prstDash val="solid"/>
          </a:ln>
        </p:spPr>
      </p:sp>
      <p:sp>
        <p:nvSpPr>
          <p:cNvPr id="15" name="Text 13"/>
          <p:cNvSpPr/>
          <p:nvPr/>
        </p:nvSpPr>
        <p:spPr>
          <a:xfrm>
            <a:off x="960120" y="4791456"/>
            <a:ext cx="4160520" cy="420624"/>
          </a:xfrm>
          <a:prstGeom prst="rect">
            <a:avLst/>
          </a:prstGeom>
          <a:noFill/>
          <a:ln/>
        </p:spPr>
        <p:txBody>
          <a:bodyPr wrap="square" lIns="0" tIns="0" rIns="0" bIns="0" rtlCol="0" anchor="ctr">
            <a:normAutofit/>
          </a:bodyPr>
          <a:lstStyle/>
          <a:p>
            <a:pPr marL="0" indent="0">
              <a:buNone/>
            </a:pPr>
            <a:r>
              <a:rPr lang="en-US" sz="1200" dirty="0">
                <a:solidFill>
                  <a:srgbClr val="667085"/>
                </a:solidFill>
              </a:rPr>
              <a:t>Interpretation: K is high when the measurement is reliable, so the correction is stronger.</a:t>
            </a:r>
            <a:endParaRPr lang="en-US" sz="1200" dirty="0"/>
          </a:p>
        </p:txBody>
      </p:sp>
      <p:sp>
        <p:nvSpPr>
          <p:cNvPr id="16" name="Shape 14"/>
          <p:cNvSpPr/>
          <p:nvPr/>
        </p:nvSpPr>
        <p:spPr>
          <a:xfrm>
            <a:off x="5715000" y="1298448"/>
            <a:ext cx="5623560" cy="4526280"/>
          </a:xfrm>
          <a:prstGeom prst="roundRect">
            <a:avLst>
              <a:gd name="adj" fmla="val 1616"/>
            </a:avLst>
          </a:prstGeom>
          <a:solidFill>
            <a:srgbClr val="101828"/>
          </a:solidFill>
          <a:ln w="12700">
            <a:solidFill>
              <a:srgbClr val="101828">
                <a:alpha val="80000"/>
              </a:srgbClr>
            </a:solidFill>
            <a:prstDash val="solid"/>
          </a:ln>
          <a:effectLst>
            <a:outerShdw blurRad="12700" dist="50800" dir="2700000" algn="bl" rotWithShape="0">
              <a:srgbClr val="000000">
                <a:alpha val="8000"/>
              </a:srgbClr>
            </a:outerShdw>
          </a:effectLst>
        </p:spPr>
      </p:sp>
      <p:sp>
        <p:nvSpPr>
          <p:cNvPr id="17" name="Text 15"/>
          <p:cNvSpPr/>
          <p:nvPr/>
        </p:nvSpPr>
        <p:spPr>
          <a:xfrm>
            <a:off x="6080760" y="1627632"/>
            <a:ext cx="2148840" cy="228600"/>
          </a:xfrm>
          <a:prstGeom prst="rect">
            <a:avLst/>
          </a:prstGeom>
          <a:noFill/>
          <a:ln/>
        </p:spPr>
        <p:txBody>
          <a:bodyPr wrap="square" lIns="0" tIns="0" rIns="0" bIns="0" rtlCol="0" anchor="ctr"/>
          <a:lstStyle/>
          <a:p>
            <a:pPr marL="0" indent="0">
              <a:buNone/>
            </a:pPr>
            <a:r>
              <a:rPr lang="en-US" sz="1700" b="1" dirty="0">
                <a:solidFill>
                  <a:srgbClr val="FFFFFF"/>
                </a:solidFill>
              </a:rPr>
              <a:t>Numerical example</a:t>
            </a:r>
            <a:endParaRPr lang="en-US" sz="1700" dirty="0"/>
          </a:p>
        </p:txBody>
      </p:sp>
      <p:sp>
        <p:nvSpPr>
          <p:cNvPr id="18" name="Text 16"/>
          <p:cNvSpPr/>
          <p:nvPr/>
        </p:nvSpPr>
        <p:spPr>
          <a:xfrm>
            <a:off x="6080760" y="2084832"/>
            <a:ext cx="1143000" cy="146304"/>
          </a:xfrm>
          <a:prstGeom prst="rect">
            <a:avLst/>
          </a:prstGeom>
          <a:noFill/>
          <a:ln/>
        </p:spPr>
        <p:txBody>
          <a:bodyPr wrap="square" lIns="0" tIns="0" rIns="0" bIns="0" rtlCol="0" anchor="ctr"/>
          <a:lstStyle/>
          <a:p>
            <a:pPr marL="0" indent="0">
              <a:buNone/>
            </a:pPr>
            <a:r>
              <a:rPr lang="en-US" sz="1080" b="1" dirty="0">
                <a:solidFill>
                  <a:srgbClr val="FEC84B"/>
                </a:solidFill>
              </a:rPr>
              <a:t>Given</a:t>
            </a:r>
            <a:endParaRPr lang="en-US" sz="1080" dirty="0"/>
          </a:p>
        </p:txBody>
      </p:sp>
      <p:sp>
        <p:nvSpPr>
          <p:cNvPr id="19" name="Text 17"/>
          <p:cNvSpPr/>
          <p:nvPr/>
        </p:nvSpPr>
        <p:spPr>
          <a:xfrm>
            <a:off x="7269480" y="2084832"/>
            <a:ext cx="3611880" cy="164592"/>
          </a:xfrm>
          <a:prstGeom prst="rect">
            <a:avLst/>
          </a:prstGeom>
          <a:noFill/>
          <a:ln/>
        </p:spPr>
        <p:txBody>
          <a:bodyPr wrap="square" lIns="0" tIns="0" rIns="0" bIns="0" rtlCol="0" anchor="ctr">
            <a:normAutofit/>
          </a:bodyPr>
          <a:lstStyle/>
          <a:p>
            <a:pPr marL="0" indent="0">
              <a:buNone/>
            </a:pPr>
            <a:r>
              <a:rPr lang="en-US" sz="1080" dirty="0">
                <a:solidFill>
                  <a:srgbClr val="F2F4F7"/>
                </a:solidFill>
              </a:rPr>
              <a:t>x̂ = 0.00,  P = 1.00,  u = 1.00,  Q = 0.20</a:t>
            </a:r>
            <a:endParaRPr lang="en-US" sz="1080" dirty="0"/>
          </a:p>
        </p:txBody>
      </p:sp>
      <p:sp>
        <p:nvSpPr>
          <p:cNvPr id="20" name="Text 18"/>
          <p:cNvSpPr/>
          <p:nvPr/>
        </p:nvSpPr>
        <p:spPr>
          <a:xfrm>
            <a:off x="6080760" y="2523744"/>
            <a:ext cx="1143000" cy="146304"/>
          </a:xfrm>
          <a:prstGeom prst="rect">
            <a:avLst/>
          </a:prstGeom>
          <a:noFill/>
          <a:ln/>
        </p:spPr>
        <p:txBody>
          <a:bodyPr wrap="square" lIns="0" tIns="0" rIns="0" bIns="0" rtlCol="0" anchor="ctr"/>
          <a:lstStyle/>
          <a:p>
            <a:pPr marL="0" indent="0">
              <a:buNone/>
            </a:pPr>
            <a:r>
              <a:rPr lang="en-US" sz="1080" b="1" dirty="0">
                <a:solidFill>
                  <a:srgbClr val="FEC84B"/>
                </a:solidFill>
              </a:rPr>
              <a:t>Measure</a:t>
            </a:r>
            <a:endParaRPr lang="en-US" sz="1080" dirty="0"/>
          </a:p>
        </p:txBody>
      </p:sp>
      <p:sp>
        <p:nvSpPr>
          <p:cNvPr id="21" name="Text 19"/>
          <p:cNvSpPr/>
          <p:nvPr/>
        </p:nvSpPr>
        <p:spPr>
          <a:xfrm>
            <a:off x="7269480" y="2523744"/>
            <a:ext cx="3611880" cy="164592"/>
          </a:xfrm>
          <a:prstGeom prst="rect">
            <a:avLst/>
          </a:prstGeom>
          <a:noFill/>
          <a:ln/>
        </p:spPr>
        <p:txBody>
          <a:bodyPr wrap="square" lIns="0" tIns="0" rIns="0" bIns="0" rtlCol="0" anchor="ctr">
            <a:normAutofit/>
          </a:bodyPr>
          <a:lstStyle/>
          <a:p>
            <a:pPr marL="0" indent="0">
              <a:buNone/>
            </a:pPr>
            <a:r>
              <a:rPr lang="en-US" sz="1080" dirty="0">
                <a:solidFill>
                  <a:srgbClr val="F2F4F7"/>
                </a:solidFill>
              </a:rPr>
              <a:t>z = 1.30,  R = 0.30</a:t>
            </a:r>
            <a:endParaRPr lang="en-US" sz="1080" dirty="0"/>
          </a:p>
        </p:txBody>
      </p:sp>
      <p:sp>
        <p:nvSpPr>
          <p:cNvPr id="22" name="Text 20"/>
          <p:cNvSpPr/>
          <p:nvPr/>
        </p:nvSpPr>
        <p:spPr>
          <a:xfrm>
            <a:off x="6080760" y="2962656"/>
            <a:ext cx="1143000" cy="146304"/>
          </a:xfrm>
          <a:prstGeom prst="rect">
            <a:avLst/>
          </a:prstGeom>
          <a:noFill/>
          <a:ln/>
        </p:spPr>
        <p:txBody>
          <a:bodyPr wrap="square" lIns="0" tIns="0" rIns="0" bIns="0" rtlCol="0" anchor="ctr"/>
          <a:lstStyle/>
          <a:p>
            <a:pPr marL="0" indent="0">
              <a:buNone/>
            </a:pPr>
            <a:r>
              <a:rPr lang="en-US" sz="1080" b="1" dirty="0">
                <a:solidFill>
                  <a:srgbClr val="FEC84B"/>
                </a:solidFill>
              </a:rPr>
              <a:t>Predict</a:t>
            </a:r>
            <a:endParaRPr lang="en-US" sz="1080" dirty="0"/>
          </a:p>
        </p:txBody>
      </p:sp>
      <p:sp>
        <p:nvSpPr>
          <p:cNvPr id="23" name="Text 21"/>
          <p:cNvSpPr/>
          <p:nvPr/>
        </p:nvSpPr>
        <p:spPr>
          <a:xfrm>
            <a:off x="7269480" y="2962656"/>
            <a:ext cx="3611880" cy="164592"/>
          </a:xfrm>
          <a:prstGeom prst="rect">
            <a:avLst/>
          </a:prstGeom>
          <a:noFill/>
          <a:ln/>
        </p:spPr>
        <p:txBody>
          <a:bodyPr wrap="square" lIns="0" tIns="0" rIns="0" bIns="0" rtlCol="0" anchor="ctr">
            <a:normAutofit/>
          </a:bodyPr>
          <a:lstStyle/>
          <a:p>
            <a:pPr marL="0" indent="0">
              <a:buNone/>
            </a:pPr>
            <a:r>
              <a:rPr lang="en-US" sz="1080" dirty="0">
                <a:solidFill>
                  <a:srgbClr val="F2F4F7"/>
                </a:solidFill>
              </a:rPr>
              <a:t>x̂⁻ = 1.00,  P⁻ = 1.20</a:t>
            </a:r>
            <a:endParaRPr lang="en-US" sz="1080" dirty="0"/>
          </a:p>
        </p:txBody>
      </p:sp>
      <p:sp>
        <p:nvSpPr>
          <p:cNvPr id="24" name="Text 22"/>
          <p:cNvSpPr/>
          <p:nvPr/>
        </p:nvSpPr>
        <p:spPr>
          <a:xfrm>
            <a:off x="6080760" y="3401568"/>
            <a:ext cx="1143000" cy="146304"/>
          </a:xfrm>
          <a:prstGeom prst="rect">
            <a:avLst/>
          </a:prstGeom>
          <a:noFill/>
          <a:ln/>
        </p:spPr>
        <p:txBody>
          <a:bodyPr wrap="square" lIns="0" tIns="0" rIns="0" bIns="0" rtlCol="0" anchor="ctr"/>
          <a:lstStyle/>
          <a:p>
            <a:pPr marL="0" indent="0">
              <a:buNone/>
            </a:pPr>
            <a:r>
              <a:rPr lang="en-US" sz="1080" b="1" dirty="0">
                <a:solidFill>
                  <a:srgbClr val="FEC84B"/>
                </a:solidFill>
              </a:rPr>
              <a:t>Gain</a:t>
            </a:r>
            <a:endParaRPr lang="en-US" sz="1080" dirty="0"/>
          </a:p>
        </p:txBody>
      </p:sp>
      <p:sp>
        <p:nvSpPr>
          <p:cNvPr id="25" name="Text 23"/>
          <p:cNvSpPr/>
          <p:nvPr/>
        </p:nvSpPr>
        <p:spPr>
          <a:xfrm>
            <a:off x="7269480" y="3401568"/>
            <a:ext cx="3611880" cy="164592"/>
          </a:xfrm>
          <a:prstGeom prst="rect">
            <a:avLst/>
          </a:prstGeom>
          <a:noFill/>
          <a:ln/>
        </p:spPr>
        <p:txBody>
          <a:bodyPr wrap="square" lIns="0" tIns="0" rIns="0" bIns="0" rtlCol="0" anchor="ctr">
            <a:normAutofit/>
          </a:bodyPr>
          <a:lstStyle/>
          <a:p>
            <a:pPr marL="0" indent="0">
              <a:buNone/>
            </a:pPr>
            <a:r>
              <a:rPr lang="en-US" sz="1080" dirty="0">
                <a:solidFill>
                  <a:srgbClr val="F2F4F7"/>
                </a:solidFill>
              </a:rPr>
              <a:t>K = 1.20 / (1.20 + 0.30) = 0.80</a:t>
            </a:r>
            <a:endParaRPr lang="en-US" sz="1080" dirty="0"/>
          </a:p>
        </p:txBody>
      </p:sp>
      <p:sp>
        <p:nvSpPr>
          <p:cNvPr id="26" name="Text 24"/>
          <p:cNvSpPr/>
          <p:nvPr/>
        </p:nvSpPr>
        <p:spPr>
          <a:xfrm>
            <a:off x="6080760" y="3840480"/>
            <a:ext cx="1143000" cy="146304"/>
          </a:xfrm>
          <a:prstGeom prst="rect">
            <a:avLst/>
          </a:prstGeom>
          <a:noFill/>
          <a:ln/>
        </p:spPr>
        <p:txBody>
          <a:bodyPr wrap="square" lIns="0" tIns="0" rIns="0" bIns="0" rtlCol="0" anchor="ctr"/>
          <a:lstStyle/>
          <a:p>
            <a:pPr marL="0" indent="0">
              <a:buNone/>
            </a:pPr>
            <a:r>
              <a:rPr lang="en-US" sz="1080" b="1" dirty="0">
                <a:solidFill>
                  <a:srgbClr val="FEC84B"/>
                </a:solidFill>
              </a:rPr>
              <a:t>Update</a:t>
            </a:r>
            <a:endParaRPr lang="en-US" sz="1080" dirty="0"/>
          </a:p>
        </p:txBody>
      </p:sp>
      <p:sp>
        <p:nvSpPr>
          <p:cNvPr id="27" name="Text 25"/>
          <p:cNvSpPr/>
          <p:nvPr/>
        </p:nvSpPr>
        <p:spPr>
          <a:xfrm>
            <a:off x="7269480" y="3840480"/>
            <a:ext cx="3611880" cy="164592"/>
          </a:xfrm>
          <a:prstGeom prst="rect">
            <a:avLst/>
          </a:prstGeom>
          <a:noFill/>
          <a:ln/>
        </p:spPr>
        <p:txBody>
          <a:bodyPr wrap="square" lIns="0" tIns="0" rIns="0" bIns="0" rtlCol="0" anchor="ctr">
            <a:normAutofit/>
          </a:bodyPr>
          <a:lstStyle/>
          <a:p>
            <a:pPr marL="0" indent="0">
              <a:buNone/>
            </a:pPr>
            <a:r>
              <a:rPr lang="en-US" sz="1080" dirty="0">
                <a:solidFill>
                  <a:srgbClr val="F2F4F7"/>
                </a:solidFill>
              </a:rPr>
              <a:t>x̂ = 1.00 + 0.80(1.30 − 1.00) = 1.24</a:t>
            </a:r>
            <a:endParaRPr lang="en-US" sz="1080" dirty="0"/>
          </a:p>
        </p:txBody>
      </p:sp>
      <p:sp>
        <p:nvSpPr>
          <p:cNvPr id="28" name="Text 26"/>
          <p:cNvSpPr/>
          <p:nvPr/>
        </p:nvSpPr>
        <p:spPr>
          <a:xfrm>
            <a:off x="6080760" y="4279392"/>
            <a:ext cx="1143000" cy="146304"/>
          </a:xfrm>
          <a:prstGeom prst="rect">
            <a:avLst/>
          </a:prstGeom>
          <a:noFill/>
          <a:ln/>
        </p:spPr>
        <p:txBody>
          <a:bodyPr wrap="square" lIns="0" tIns="0" rIns="0" bIns="0" rtlCol="0" anchor="ctr"/>
          <a:lstStyle/>
          <a:p>
            <a:pPr marL="0" indent="0">
              <a:buNone/>
            </a:pPr>
            <a:r>
              <a:rPr lang="en-US" sz="1080" b="1" dirty="0">
                <a:solidFill>
                  <a:srgbClr val="FEC84B"/>
                </a:solidFill>
              </a:rPr>
              <a:t>Uncertainty</a:t>
            </a:r>
            <a:endParaRPr lang="en-US" sz="1080" dirty="0"/>
          </a:p>
        </p:txBody>
      </p:sp>
      <p:sp>
        <p:nvSpPr>
          <p:cNvPr id="29" name="Text 27"/>
          <p:cNvSpPr/>
          <p:nvPr/>
        </p:nvSpPr>
        <p:spPr>
          <a:xfrm>
            <a:off x="7269480" y="4279392"/>
            <a:ext cx="3611880" cy="164592"/>
          </a:xfrm>
          <a:prstGeom prst="rect">
            <a:avLst/>
          </a:prstGeom>
          <a:noFill/>
          <a:ln/>
        </p:spPr>
        <p:txBody>
          <a:bodyPr wrap="square" lIns="0" tIns="0" rIns="0" bIns="0" rtlCol="0" anchor="ctr">
            <a:normAutofit/>
          </a:bodyPr>
          <a:lstStyle/>
          <a:p>
            <a:pPr marL="0" indent="0">
              <a:buNone/>
            </a:pPr>
            <a:r>
              <a:rPr lang="en-US" sz="1080" dirty="0">
                <a:solidFill>
                  <a:srgbClr val="F2F4F7"/>
                </a:solidFill>
              </a:rPr>
              <a:t>P = (1 − 0.80)(1.20) = 0.24</a:t>
            </a:r>
            <a:endParaRPr lang="en-US" sz="1080" dirty="0"/>
          </a:p>
        </p:txBody>
      </p:sp>
      <p:sp>
        <p:nvSpPr>
          <p:cNvPr id="30" name="Shape 28"/>
          <p:cNvSpPr/>
          <p:nvPr/>
        </p:nvSpPr>
        <p:spPr>
          <a:xfrm>
            <a:off x="6080760" y="5074920"/>
            <a:ext cx="4800600" cy="384048"/>
          </a:xfrm>
          <a:prstGeom prst="roundRect">
            <a:avLst>
              <a:gd name="adj" fmla="val 9524"/>
            </a:avLst>
          </a:prstGeom>
          <a:solidFill>
            <a:srgbClr val="2E6BFF"/>
          </a:solidFill>
          <a:ln w="12700">
            <a:solidFill>
              <a:srgbClr val="2E6BFF"/>
            </a:solidFill>
            <a:prstDash val="solid"/>
          </a:ln>
        </p:spPr>
      </p:sp>
      <p:sp>
        <p:nvSpPr>
          <p:cNvPr id="31" name="Text 29"/>
          <p:cNvSpPr/>
          <p:nvPr/>
        </p:nvSpPr>
        <p:spPr>
          <a:xfrm>
            <a:off x="6291072" y="5202936"/>
            <a:ext cx="4370832" cy="128016"/>
          </a:xfrm>
          <a:prstGeom prst="rect">
            <a:avLst/>
          </a:prstGeom>
          <a:noFill/>
          <a:ln/>
        </p:spPr>
        <p:txBody>
          <a:bodyPr wrap="square" lIns="0" tIns="0" rIns="0" bIns="0" rtlCol="0" anchor="ctr"/>
          <a:lstStyle/>
          <a:p>
            <a:pPr marL="0" indent="0" algn="ctr">
              <a:buNone/>
            </a:pPr>
            <a:r>
              <a:rPr lang="en-US" sz="1070" b="1" dirty="0">
                <a:solidFill>
                  <a:srgbClr val="FFFFFF"/>
                </a:solidFill>
              </a:rPr>
              <a:t>Result: estimate moves toward the measurement, uncertainty drops from 1.20 to 0.24.</a:t>
            </a:r>
            <a:endParaRPr lang="en-US" sz="10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endParaRPr lang="en-US" sz="850" dirty="0"/>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Display" pitchFamily="34" charset="0"/>
                <a:ea typeface="Aptos Display" pitchFamily="34" charset="-122"/>
                <a:cs typeface="Aptos Display" pitchFamily="34" charset="-120"/>
              </a:rPr>
              <a:t>Kalman filtering extends to nonlinear robot localization</a:t>
            </a:r>
            <a:endParaRPr lang="en-US" sz="2800" dirty="0"/>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r>
              <a:rPr lang="en-US" sz="850" dirty="0">
                <a:solidFill>
                  <a:srgbClr val="98A2B3"/>
                </a:solidFill>
                <a:latin typeface="Aptos" pitchFamily="34" charset="0"/>
                <a:ea typeface="Aptos" pitchFamily="34" charset="-122"/>
                <a:cs typeface="Aptos" pitchFamily="34" charset="-120"/>
              </a:rPr>
              <a:t>A3 State Estimation</a:t>
            </a:r>
            <a:endParaRPr lang="en-US" sz="850" dirty="0"/>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ptos" pitchFamily="34" charset="0"/>
                <a:ea typeface="Aptos" pitchFamily="34" charset="-122"/>
                <a:cs typeface="Aptos" pitchFamily="34" charset="-120"/>
              </a:rPr>
              <a:t>07</a:t>
            </a:r>
            <a:endParaRPr lang="en-US" sz="850" dirty="0"/>
          </a:p>
        </p:txBody>
      </p:sp>
      <p:sp>
        <p:nvSpPr>
          <p:cNvPr id="7" name="Text 5"/>
          <p:cNvSpPr/>
          <p:nvPr/>
        </p:nvSpPr>
        <p:spPr>
          <a:xfrm>
            <a:off x="685800" y="1325880"/>
            <a:ext cx="9692640" cy="320040"/>
          </a:xfrm>
          <a:prstGeom prst="rect">
            <a:avLst/>
          </a:prstGeom>
          <a:noFill/>
          <a:ln/>
        </p:spPr>
        <p:txBody>
          <a:bodyPr wrap="square" lIns="0" tIns="0" rIns="0" bIns="0" rtlCol="0" anchor="ctr"/>
          <a:lstStyle/>
          <a:p>
            <a:pPr marL="0" indent="0">
              <a:buNone/>
            </a:pPr>
            <a:r>
              <a:rPr lang="en-US" sz="1800" b="1" dirty="0">
                <a:solidFill>
                  <a:srgbClr val="172033"/>
                </a:solidFill>
              </a:rPr>
              <a:t>In the simulation, the state contains the robot pose, velocity, and landmark positions.</a:t>
            </a:r>
            <a:endParaRPr lang="en-US" sz="1800" dirty="0"/>
          </a:p>
        </p:txBody>
      </p:sp>
      <p:sp>
        <p:nvSpPr>
          <p:cNvPr id="8" name="Shape 6"/>
          <p:cNvSpPr/>
          <p:nvPr/>
        </p:nvSpPr>
        <p:spPr>
          <a:xfrm>
            <a:off x="822960" y="2011680"/>
            <a:ext cx="3429000" cy="2907792"/>
          </a:xfrm>
          <a:prstGeom prst="roundRect">
            <a:avLst>
              <a:gd name="adj" fmla="val 2516"/>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9" name="Text 7"/>
          <p:cNvSpPr/>
          <p:nvPr/>
        </p:nvSpPr>
        <p:spPr>
          <a:xfrm>
            <a:off x="1097280" y="2322576"/>
            <a:ext cx="1325880" cy="182880"/>
          </a:xfrm>
          <a:prstGeom prst="rect">
            <a:avLst/>
          </a:prstGeom>
          <a:noFill/>
          <a:ln/>
        </p:spPr>
        <p:txBody>
          <a:bodyPr wrap="square" lIns="0" tIns="0" rIns="0" bIns="0" rtlCol="0" anchor="ctr"/>
          <a:lstStyle/>
          <a:p>
            <a:pPr marL="0" indent="0">
              <a:buNone/>
            </a:pPr>
            <a:r>
              <a:rPr lang="en-US" sz="1600" b="1" dirty="0">
                <a:solidFill>
                  <a:srgbClr val="2E6BFF"/>
                </a:solidFill>
              </a:rPr>
              <a:t>State vector</a:t>
            </a:r>
            <a:endParaRPr lang="en-US" sz="1600" dirty="0"/>
          </a:p>
        </p:txBody>
      </p:sp>
      <p:sp>
        <p:nvSpPr>
          <p:cNvPr id="10" name="Text 8"/>
          <p:cNvSpPr/>
          <p:nvPr/>
        </p:nvSpPr>
        <p:spPr>
          <a:xfrm>
            <a:off x="1097280" y="2788920"/>
            <a:ext cx="2788920" cy="566928"/>
          </a:xfrm>
          <a:prstGeom prst="rect">
            <a:avLst/>
          </a:prstGeom>
          <a:noFill/>
          <a:ln/>
        </p:spPr>
        <p:txBody>
          <a:bodyPr wrap="square" lIns="0" tIns="0" rIns="0" bIns="0" rtlCol="0" anchor="ctr">
            <a:normAutofit fontScale="92500" lnSpcReduction="20000"/>
          </a:bodyPr>
          <a:lstStyle/>
          <a:p>
            <a:pPr marL="0" indent="0">
              <a:buNone/>
            </a:pPr>
            <a:r>
              <a:rPr lang="en-US" sz="1500" dirty="0">
                <a:solidFill>
                  <a:srgbClr val="172033"/>
                </a:solidFill>
              </a:rPr>
              <a:t>x = [ robot x, robot y, heading ψ, speed V, landmark₁, …, landmark₅ ]</a:t>
            </a:r>
            <a:endParaRPr lang="en-US" sz="1500" dirty="0"/>
          </a:p>
        </p:txBody>
      </p:sp>
      <p:sp>
        <p:nvSpPr>
          <p:cNvPr id="11" name="Text 9"/>
          <p:cNvSpPr/>
          <p:nvPr/>
        </p:nvSpPr>
        <p:spPr>
          <a:xfrm>
            <a:off x="1097280" y="4005072"/>
            <a:ext cx="2788920" cy="219456"/>
          </a:xfrm>
          <a:prstGeom prst="rect">
            <a:avLst/>
          </a:prstGeom>
          <a:noFill/>
          <a:ln/>
        </p:spPr>
        <p:txBody>
          <a:bodyPr wrap="square" lIns="0" tIns="0" rIns="0" bIns="0" rtlCol="0" anchor="ctr"/>
          <a:lstStyle/>
          <a:p>
            <a:pPr marL="0" indent="0">
              <a:buNone/>
            </a:pPr>
            <a:r>
              <a:rPr lang="en-US" sz="1280" dirty="0">
                <a:solidFill>
                  <a:srgbClr val="667085"/>
                </a:solidFill>
              </a:rPr>
              <a:t>The robot and map are estimated together.</a:t>
            </a:r>
            <a:endParaRPr lang="en-US" sz="1280" dirty="0"/>
          </a:p>
        </p:txBody>
      </p:sp>
      <p:sp>
        <p:nvSpPr>
          <p:cNvPr id="12" name="Shape 10"/>
          <p:cNvSpPr/>
          <p:nvPr/>
        </p:nvSpPr>
        <p:spPr>
          <a:xfrm>
            <a:off x="4526280" y="2011680"/>
            <a:ext cx="2834640" cy="2907792"/>
          </a:xfrm>
          <a:prstGeom prst="roundRect">
            <a:avLst>
              <a:gd name="adj" fmla="val 2581"/>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3" name="Text 11"/>
          <p:cNvSpPr/>
          <p:nvPr/>
        </p:nvSpPr>
        <p:spPr>
          <a:xfrm>
            <a:off x="4800600" y="2322576"/>
            <a:ext cx="1600200" cy="182880"/>
          </a:xfrm>
          <a:prstGeom prst="rect">
            <a:avLst/>
          </a:prstGeom>
          <a:noFill/>
          <a:ln/>
        </p:spPr>
        <p:txBody>
          <a:bodyPr wrap="square" lIns="0" tIns="0" rIns="0" bIns="0" rtlCol="0" anchor="ctr"/>
          <a:lstStyle/>
          <a:p>
            <a:pPr marL="0" indent="0">
              <a:buNone/>
            </a:pPr>
            <a:r>
              <a:rPr lang="en-US" sz="1600" b="1" dirty="0">
                <a:solidFill>
                  <a:srgbClr val="067647"/>
                </a:solidFill>
              </a:rPr>
              <a:t>Nonlinear motion</a:t>
            </a:r>
            <a:endParaRPr lang="en-US" sz="1600" dirty="0"/>
          </a:p>
        </p:txBody>
      </p:sp>
      <p:sp>
        <p:nvSpPr>
          <p:cNvPr id="14" name="Text 12"/>
          <p:cNvSpPr/>
          <p:nvPr/>
        </p:nvSpPr>
        <p:spPr>
          <a:xfrm>
            <a:off x="4800600" y="2816352"/>
            <a:ext cx="2286000" cy="182880"/>
          </a:xfrm>
          <a:prstGeom prst="rect">
            <a:avLst/>
          </a:prstGeom>
          <a:noFill/>
          <a:ln/>
        </p:spPr>
        <p:txBody>
          <a:bodyPr wrap="square" lIns="0" tIns="0" rIns="0" bIns="0" rtlCol="0" anchor="ctr"/>
          <a:lstStyle/>
          <a:p>
            <a:pPr marL="0" indent="0">
              <a:buNone/>
            </a:pPr>
            <a:r>
              <a:rPr lang="en-US" sz="1420" dirty="0">
                <a:solidFill>
                  <a:srgbClr val="172033"/>
                </a:solidFill>
              </a:rPr>
              <a:t>xₖ₊₁ = xₖ + V cos(ψ)Δt</a:t>
            </a:r>
            <a:endParaRPr lang="en-US" sz="1420" dirty="0"/>
          </a:p>
        </p:txBody>
      </p:sp>
      <p:sp>
        <p:nvSpPr>
          <p:cNvPr id="15" name="Text 13"/>
          <p:cNvSpPr/>
          <p:nvPr/>
        </p:nvSpPr>
        <p:spPr>
          <a:xfrm>
            <a:off x="4800600" y="3182112"/>
            <a:ext cx="2286000" cy="182880"/>
          </a:xfrm>
          <a:prstGeom prst="rect">
            <a:avLst/>
          </a:prstGeom>
          <a:noFill/>
          <a:ln/>
        </p:spPr>
        <p:txBody>
          <a:bodyPr wrap="square" lIns="0" tIns="0" rIns="0" bIns="0" rtlCol="0" anchor="ctr"/>
          <a:lstStyle/>
          <a:p>
            <a:pPr marL="0" indent="0">
              <a:buNone/>
            </a:pPr>
            <a:r>
              <a:rPr lang="en-US" sz="1420" dirty="0">
                <a:solidFill>
                  <a:srgbClr val="172033"/>
                </a:solidFill>
              </a:rPr>
              <a:t>yₖ₊₁ = yₖ + V sin(ψ)Δt</a:t>
            </a:r>
            <a:endParaRPr lang="en-US" sz="1420" dirty="0"/>
          </a:p>
        </p:txBody>
      </p:sp>
      <p:sp>
        <p:nvSpPr>
          <p:cNvPr id="16" name="Text 14"/>
          <p:cNvSpPr/>
          <p:nvPr/>
        </p:nvSpPr>
        <p:spPr>
          <a:xfrm>
            <a:off x="4800600" y="4005072"/>
            <a:ext cx="2194560" cy="219456"/>
          </a:xfrm>
          <a:prstGeom prst="rect">
            <a:avLst/>
          </a:prstGeom>
          <a:noFill/>
          <a:ln/>
        </p:spPr>
        <p:txBody>
          <a:bodyPr wrap="square" lIns="0" tIns="0" rIns="0" bIns="0" rtlCol="0" anchor="ctr"/>
          <a:lstStyle/>
          <a:p>
            <a:pPr marL="0" indent="0">
              <a:buNone/>
            </a:pPr>
            <a:r>
              <a:rPr lang="en-US" sz="1280" dirty="0">
                <a:solidFill>
                  <a:srgbClr val="667085"/>
                </a:solidFill>
              </a:rPr>
              <a:t>EKF linearizes this model using Jacobians.</a:t>
            </a:r>
            <a:endParaRPr lang="en-US" sz="1280" dirty="0"/>
          </a:p>
        </p:txBody>
      </p:sp>
      <p:sp>
        <p:nvSpPr>
          <p:cNvPr id="17" name="Shape 15"/>
          <p:cNvSpPr/>
          <p:nvPr/>
        </p:nvSpPr>
        <p:spPr>
          <a:xfrm>
            <a:off x="7635240" y="2011680"/>
            <a:ext cx="3611880" cy="2907792"/>
          </a:xfrm>
          <a:prstGeom prst="roundRect">
            <a:avLst>
              <a:gd name="adj" fmla="val 2516"/>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8" name="Text 16"/>
          <p:cNvSpPr/>
          <p:nvPr/>
        </p:nvSpPr>
        <p:spPr>
          <a:xfrm>
            <a:off x="7909560" y="2322576"/>
            <a:ext cx="1325880" cy="182880"/>
          </a:xfrm>
          <a:prstGeom prst="rect">
            <a:avLst/>
          </a:prstGeom>
          <a:noFill/>
          <a:ln/>
        </p:spPr>
        <p:txBody>
          <a:bodyPr wrap="square" lIns="0" tIns="0" rIns="0" bIns="0" rtlCol="0" anchor="ctr"/>
          <a:lstStyle/>
          <a:p>
            <a:pPr marL="0" indent="0">
              <a:buNone/>
            </a:pPr>
            <a:r>
              <a:rPr lang="en-US" sz="1600" b="1" dirty="0">
                <a:solidFill>
                  <a:srgbClr val="FF7A45"/>
                </a:solidFill>
              </a:rPr>
              <a:t>Sensor model</a:t>
            </a:r>
            <a:endParaRPr lang="en-US" sz="1600" dirty="0"/>
          </a:p>
        </p:txBody>
      </p:sp>
      <p:sp>
        <p:nvSpPr>
          <p:cNvPr id="19" name="Text 17"/>
          <p:cNvSpPr/>
          <p:nvPr/>
        </p:nvSpPr>
        <p:spPr>
          <a:xfrm>
            <a:off x="7909560" y="2788920"/>
            <a:ext cx="2971800" cy="512064"/>
          </a:xfrm>
          <a:prstGeom prst="rect">
            <a:avLst/>
          </a:prstGeom>
          <a:noFill/>
          <a:ln/>
        </p:spPr>
        <p:txBody>
          <a:bodyPr wrap="square" lIns="0" tIns="0" rIns="0" bIns="0" rtlCol="0" anchor="ctr">
            <a:normAutofit fontScale="92500"/>
          </a:bodyPr>
          <a:lstStyle/>
          <a:p>
            <a:pPr marL="0" indent="0">
              <a:buNone/>
            </a:pPr>
            <a:r>
              <a:rPr lang="en-US" sz="1400" dirty="0">
                <a:solidFill>
                  <a:srgbClr val="172033"/>
                </a:solidFill>
              </a:rPr>
              <a:t>Measurements include heading, speed, landmark bearing, and landmark range.</a:t>
            </a:r>
            <a:endParaRPr lang="en-US" sz="1400" dirty="0"/>
          </a:p>
        </p:txBody>
      </p:sp>
      <p:sp>
        <p:nvSpPr>
          <p:cNvPr id="20" name="Text 18"/>
          <p:cNvSpPr/>
          <p:nvPr/>
        </p:nvSpPr>
        <p:spPr>
          <a:xfrm>
            <a:off x="7909560" y="4005072"/>
            <a:ext cx="2907792" cy="347472"/>
          </a:xfrm>
          <a:prstGeom prst="rect">
            <a:avLst/>
          </a:prstGeom>
          <a:noFill/>
          <a:ln/>
        </p:spPr>
        <p:txBody>
          <a:bodyPr wrap="square" lIns="0" tIns="0" rIns="0" bIns="0" rtlCol="0" anchor="ctr">
            <a:normAutofit fontScale="92500" lnSpcReduction="10000"/>
          </a:bodyPr>
          <a:lstStyle/>
          <a:p>
            <a:pPr marL="0" indent="0">
              <a:buNone/>
            </a:pPr>
            <a:r>
              <a:rPr lang="en-US" sz="1280" dirty="0">
                <a:solidFill>
                  <a:srgbClr val="667085"/>
                </a:solidFill>
              </a:rPr>
              <a:t>R controls sensor noise. Higher R means the filter trusts measurements less.</a:t>
            </a:r>
            <a:endParaRPr lang="en-US" sz="1280" dirty="0"/>
          </a:p>
        </p:txBody>
      </p:sp>
      <p:sp>
        <p:nvSpPr>
          <p:cNvPr id="21" name="Shape 19"/>
          <p:cNvSpPr/>
          <p:nvPr/>
        </p:nvSpPr>
        <p:spPr>
          <a:xfrm>
            <a:off x="960120" y="5623560"/>
            <a:ext cx="10012680" cy="457200"/>
          </a:xfrm>
          <a:prstGeom prst="roundRect">
            <a:avLst>
              <a:gd name="adj" fmla="val 10000"/>
            </a:avLst>
          </a:prstGeom>
          <a:solidFill>
            <a:srgbClr val="EEF4FF"/>
          </a:solidFill>
          <a:ln w="12700">
            <a:solidFill>
              <a:srgbClr val="C7D7FE"/>
            </a:solidFill>
            <a:prstDash val="solid"/>
          </a:ln>
        </p:spPr>
      </p:sp>
      <p:sp>
        <p:nvSpPr>
          <p:cNvPr id="22" name="Text 20"/>
          <p:cNvSpPr/>
          <p:nvPr/>
        </p:nvSpPr>
        <p:spPr>
          <a:xfrm>
            <a:off x="1170432" y="5779008"/>
            <a:ext cx="9601200" cy="146304"/>
          </a:xfrm>
          <a:prstGeom prst="rect">
            <a:avLst/>
          </a:prstGeom>
          <a:noFill/>
          <a:ln/>
        </p:spPr>
        <p:txBody>
          <a:bodyPr wrap="square" lIns="0" tIns="0" rIns="0" bIns="0" rtlCol="0" anchor="ctr"/>
          <a:lstStyle/>
          <a:p>
            <a:pPr marL="0" indent="0" algn="ctr">
              <a:buNone/>
            </a:pPr>
            <a:r>
              <a:rPr lang="en-US" sz="1280" b="1" dirty="0">
                <a:solidFill>
                  <a:srgbClr val="2E6BFF"/>
                </a:solidFill>
              </a:rPr>
              <a:t>This is why changing sensor accuracy changes the size of the red uncertainty ellipses in the results.</a:t>
            </a:r>
            <a:endParaRPr lang="en-US" sz="12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r>
              <a:rPr lang="en-US" sz="850" b="1" dirty="0">
                <a:solidFill>
                  <a:srgbClr val="2E6BFF"/>
                </a:solidFill>
                <a:latin typeface="Aptos" pitchFamily="34" charset="0"/>
                <a:ea typeface="Aptos" pitchFamily="34" charset="-122"/>
                <a:cs typeface="Aptos" pitchFamily="34" charset="-120"/>
              </a:rPr>
              <a:t>PARTICLE FILTER</a:t>
            </a:r>
            <a:endParaRPr lang="en-US" sz="850" dirty="0"/>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Display" pitchFamily="34" charset="0"/>
                <a:ea typeface="Aptos Display" pitchFamily="34" charset="-122"/>
                <a:cs typeface="Aptos Display" pitchFamily="34" charset="-120"/>
              </a:rPr>
              <a:t>Sample-based belief: many guesses with weights</a:t>
            </a:r>
            <a:endParaRPr lang="en-US" sz="2800" dirty="0"/>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r>
              <a:rPr lang="en-US" sz="850" dirty="0">
                <a:solidFill>
                  <a:srgbClr val="98A2B3"/>
                </a:solidFill>
                <a:latin typeface="Aptos" pitchFamily="34" charset="0"/>
                <a:ea typeface="Aptos" pitchFamily="34" charset="-122"/>
                <a:cs typeface="Aptos" pitchFamily="34" charset="-120"/>
              </a:rPr>
              <a:t>A3 State Estimation</a:t>
            </a:r>
            <a:endParaRPr lang="en-US" sz="850" dirty="0"/>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ptos" pitchFamily="34" charset="0"/>
                <a:ea typeface="Aptos" pitchFamily="34" charset="-122"/>
                <a:cs typeface="Aptos" pitchFamily="34" charset="-120"/>
              </a:rPr>
              <a:t>08</a:t>
            </a:r>
            <a:endParaRPr lang="en-US" sz="850" dirty="0"/>
          </a:p>
        </p:txBody>
      </p:sp>
      <p:sp>
        <p:nvSpPr>
          <p:cNvPr id="7" name="Text 5"/>
          <p:cNvSpPr/>
          <p:nvPr/>
        </p:nvSpPr>
        <p:spPr>
          <a:xfrm>
            <a:off x="685800" y="1325880"/>
            <a:ext cx="10241280" cy="320040"/>
          </a:xfrm>
          <a:prstGeom prst="rect">
            <a:avLst/>
          </a:prstGeom>
          <a:noFill/>
          <a:ln/>
        </p:spPr>
        <p:txBody>
          <a:bodyPr wrap="square" lIns="0" tIns="0" rIns="0" bIns="0" rtlCol="0" anchor="ctr"/>
          <a:lstStyle/>
          <a:p>
            <a:pPr marL="0" indent="0">
              <a:buNone/>
            </a:pPr>
            <a:r>
              <a:rPr lang="en-US" sz="1800" b="1" dirty="0">
                <a:solidFill>
                  <a:srgbClr val="172033"/>
                </a:solidFill>
              </a:rPr>
              <a:t>Particle Filter does not force belief into one Gaussian. It represents many possible robot states.</a:t>
            </a:r>
            <a:endParaRPr lang="en-US" sz="1800" dirty="0"/>
          </a:p>
        </p:txBody>
      </p:sp>
      <p:sp>
        <p:nvSpPr>
          <p:cNvPr id="8" name="Shape 6"/>
          <p:cNvSpPr/>
          <p:nvPr/>
        </p:nvSpPr>
        <p:spPr>
          <a:xfrm>
            <a:off x="1645920" y="2834640"/>
            <a:ext cx="68580" cy="68580"/>
          </a:xfrm>
          <a:prstGeom prst="ellipse">
            <a:avLst/>
          </a:prstGeom>
          <a:solidFill>
            <a:srgbClr val="FF7A45"/>
          </a:solidFill>
          <a:ln w="12700">
            <a:solidFill>
              <a:srgbClr val="FF7A45">
                <a:alpha val="0"/>
              </a:srgbClr>
            </a:solidFill>
            <a:prstDash val="solid"/>
          </a:ln>
        </p:spPr>
      </p:sp>
      <p:sp>
        <p:nvSpPr>
          <p:cNvPr id="9" name="Shape 7"/>
          <p:cNvSpPr/>
          <p:nvPr/>
        </p:nvSpPr>
        <p:spPr>
          <a:xfrm>
            <a:off x="1874520" y="2834640"/>
            <a:ext cx="68580" cy="68580"/>
          </a:xfrm>
          <a:prstGeom prst="ellipse">
            <a:avLst/>
          </a:prstGeom>
          <a:solidFill>
            <a:srgbClr val="2E6BFF">
              <a:alpha val="85000"/>
            </a:srgbClr>
          </a:solidFill>
          <a:ln w="12700">
            <a:solidFill>
              <a:srgbClr val="2E6BFF">
                <a:alpha val="0"/>
              </a:srgbClr>
            </a:solidFill>
            <a:prstDash val="solid"/>
          </a:ln>
        </p:spPr>
      </p:sp>
      <p:sp>
        <p:nvSpPr>
          <p:cNvPr id="10" name="Shape 8"/>
          <p:cNvSpPr/>
          <p:nvPr/>
        </p:nvSpPr>
        <p:spPr>
          <a:xfrm>
            <a:off x="2103120" y="2834640"/>
            <a:ext cx="68580" cy="68580"/>
          </a:xfrm>
          <a:prstGeom prst="ellipse">
            <a:avLst/>
          </a:prstGeom>
          <a:solidFill>
            <a:srgbClr val="2E6BFF">
              <a:alpha val="85000"/>
            </a:srgbClr>
          </a:solidFill>
          <a:ln w="12700">
            <a:solidFill>
              <a:srgbClr val="2E6BFF">
                <a:alpha val="0"/>
              </a:srgbClr>
            </a:solidFill>
            <a:prstDash val="solid"/>
          </a:ln>
        </p:spPr>
      </p:sp>
      <p:sp>
        <p:nvSpPr>
          <p:cNvPr id="11" name="Shape 9"/>
          <p:cNvSpPr/>
          <p:nvPr/>
        </p:nvSpPr>
        <p:spPr>
          <a:xfrm>
            <a:off x="2331720" y="2834640"/>
            <a:ext cx="68580" cy="68580"/>
          </a:xfrm>
          <a:prstGeom prst="ellipse">
            <a:avLst/>
          </a:prstGeom>
          <a:solidFill>
            <a:srgbClr val="2E6BFF">
              <a:alpha val="85000"/>
            </a:srgbClr>
          </a:solidFill>
          <a:ln w="12700">
            <a:solidFill>
              <a:srgbClr val="2E6BFF">
                <a:alpha val="0"/>
              </a:srgbClr>
            </a:solidFill>
            <a:prstDash val="solid"/>
          </a:ln>
        </p:spPr>
      </p:sp>
      <p:sp>
        <p:nvSpPr>
          <p:cNvPr id="12" name="Shape 10"/>
          <p:cNvSpPr/>
          <p:nvPr/>
        </p:nvSpPr>
        <p:spPr>
          <a:xfrm>
            <a:off x="1508760" y="3063240"/>
            <a:ext cx="68580" cy="68580"/>
          </a:xfrm>
          <a:prstGeom prst="ellipse">
            <a:avLst/>
          </a:prstGeom>
          <a:solidFill>
            <a:srgbClr val="2E6BFF">
              <a:alpha val="85000"/>
            </a:srgbClr>
          </a:solidFill>
          <a:ln w="12700">
            <a:solidFill>
              <a:srgbClr val="2E6BFF">
                <a:alpha val="0"/>
              </a:srgbClr>
            </a:solidFill>
            <a:prstDash val="solid"/>
          </a:ln>
        </p:spPr>
      </p:sp>
      <p:sp>
        <p:nvSpPr>
          <p:cNvPr id="13" name="Shape 11"/>
          <p:cNvSpPr/>
          <p:nvPr/>
        </p:nvSpPr>
        <p:spPr>
          <a:xfrm>
            <a:off x="1737360" y="3063240"/>
            <a:ext cx="68580" cy="68580"/>
          </a:xfrm>
          <a:prstGeom prst="ellipse">
            <a:avLst/>
          </a:prstGeom>
          <a:solidFill>
            <a:srgbClr val="2E6BFF">
              <a:alpha val="85000"/>
            </a:srgbClr>
          </a:solidFill>
          <a:ln w="12700">
            <a:solidFill>
              <a:srgbClr val="2E6BFF">
                <a:alpha val="0"/>
              </a:srgbClr>
            </a:solidFill>
            <a:prstDash val="solid"/>
          </a:ln>
        </p:spPr>
      </p:sp>
      <p:sp>
        <p:nvSpPr>
          <p:cNvPr id="14" name="Shape 12"/>
          <p:cNvSpPr/>
          <p:nvPr/>
        </p:nvSpPr>
        <p:spPr>
          <a:xfrm>
            <a:off x="1965960" y="3063240"/>
            <a:ext cx="68580" cy="68580"/>
          </a:xfrm>
          <a:prstGeom prst="ellipse">
            <a:avLst/>
          </a:prstGeom>
          <a:solidFill>
            <a:srgbClr val="FF7A45"/>
          </a:solidFill>
          <a:ln w="12700">
            <a:solidFill>
              <a:srgbClr val="FF7A45">
                <a:alpha val="0"/>
              </a:srgbClr>
            </a:solidFill>
            <a:prstDash val="solid"/>
          </a:ln>
        </p:spPr>
      </p:sp>
      <p:sp>
        <p:nvSpPr>
          <p:cNvPr id="15" name="Shape 13"/>
          <p:cNvSpPr/>
          <p:nvPr/>
        </p:nvSpPr>
        <p:spPr>
          <a:xfrm>
            <a:off x="2194560" y="3063240"/>
            <a:ext cx="68580" cy="68580"/>
          </a:xfrm>
          <a:prstGeom prst="ellipse">
            <a:avLst/>
          </a:prstGeom>
          <a:solidFill>
            <a:srgbClr val="2E6BFF">
              <a:alpha val="85000"/>
            </a:srgbClr>
          </a:solidFill>
          <a:ln w="12700">
            <a:solidFill>
              <a:srgbClr val="2E6BFF">
                <a:alpha val="0"/>
              </a:srgbClr>
            </a:solidFill>
            <a:prstDash val="solid"/>
          </a:ln>
        </p:spPr>
      </p:sp>
      <p:sp>
        <p:nvSpPr>
          <p:cNvPr id="16" name="Shape 14"/>
          <p:cNvSpPr/>
          <p:nvPr/>
        </p:nvSpPr>
        <p:spPr>
          <a:xfrm>
            <a:off x="2423160" y="3063240"/>
            <a:ext cx="68580" cy="68580"/>
          </a:xfrm>
          <a:prstGeom prst="ellipse">
            <a:avLst/>
          </a:prstGeom>
          <a:solidFill>
            <a:srgbClr val="2E6BFF">
              <a:alpha val="85000"/>
            </a:srgbClr>
          </a:solidFill>
          <a:ln w="12700">
            <a:solidFill>
              <a:srgbClr val="2E6BFF">
                <a:alpha val="0"/>
              </a:srgbClr>
            </a:solidFill>
            <a:prstDash val="solid"/>
          </a:ln>
        </p:spPr>
      </p:sp>
      <p:sp>
        <p:nvSpPr>
          <p:cNvPr id="17" name="Shape 15"/>
          <p:cNvSpPr/>
          <p:nvPr/>
        </p:nvSpPr>
        <p:spPr>
          <a:xfrm>
            <a:off x="1417320" y="3291840"/>
            <a:ext cx="68580" cy="68580"/>
          </a:xfrm>
          <a:prstGeom prst="ellipse">
            <a:avLst/>
          </a:prstGeom>
          <a:solidFill>
            <a:srgbClr val="2E6BFF">
              <a:alpha val="85000"/>
            </a:srgbClr>
          </a:solidFill>
          <a:ln w="12700">
            <a:solidFill>
              <a:srgbClr val="2E6BFF">
                <a:alpha val="0"/>
              </a:srgbClr>
            </a:solidFill>
            <a:prstDash val="solid"/>
          </a:ln>
        </p:spPr>
      </p:sp>
      <p:sp>
        <p:nvSpPr>
          <p:cNvPr id="18" name="Shape 16"/>
          <p:cNvSpPr/>
          <p:nvPr/>
        </p:nvSpPr>
        <p:spPr>
          <a:xfrm>
            <a:off x="1645920" y="3291840"/>
            <a:ext cx="68580" cy="68580"/>
          </a:xfrm>
          <a:prstGeom prst="ellipse">
            <a:avLst/>
          </a:prstGeom>
          <a:solidFill>
            <a:srgbClr val="2E6BFF">
              <a:alpha val="85000"/>
            </a:srgbClr>
          </a:solidFill>
          <a:ln w="12700">
            <a:solidFill>
              <a:srgbClr val="2E6BFF">
                <a:alpha val="0"/>
              </a:srgbClr>
            </a:solidFill>
            <a:prstDash val="solid"/>
          </a:ln>
        </p:spPr>
      </p:sp>
      <p:sp>
        <p:nvSpPr>
          <p:cNvPr id="19" name="Shape 17"/>
          <p:cNvSpPr/>
          <p:nvPr/>
        </p:nvSpPr>
        <p:spPr>
          <a:xfrm>
            <a:off x="1874520" y="3291840"/>
            <a:ext cx="68580" cy="68580"/>
          </a:xfrm>
          <a:prstGeom prst="ellipse">
            <a:avLst/>
          </a:prstGeom>
          <a:solidFill>
            <a:srgbClr val="2E6BFF">
              <a:alpha val="85000"/>
            </a:srgbClr>
          </a:solidFill>
          <a:ln w="12700">
            <a:solidFill>
              <a:srgbClr val="2E6BFF">
                <a:alpha val="0"/>
              </a:srgbClr>
            </a:solidFill>
            <a:prstDash val="solid"/>
          </a:ln>
        </p:spPr>
      </p:sp>
      <p:sp>
        <p:nvSpPr>
          <p:cNvPr id="20" name="Shape 18"/>
          <p:cNvSpPr/>
          <p:nvPr/>
        </p:nvSpPr>
        <p:spPr>
          <a:xfrm>
            <a:off x="2103120" y="3291840"/>
            <a:ext cx="68580" cy="68580"/>
          </a:xfrm>
          <a:prstGeom prst="ellipse">
            <a:avLst/>
          </a:prstGeom>
          <a:solidFill>
            <a:srgbClr val="FF7A45"/>
          </a:solidFill>
          <a:ln w="12700">
            <a:solidFill>
              <a:srgbClr val="FF7A45">
                <a:alpha val="0"/>
              </a:srgbClr>
            </a:solidFill>
            <a:prstDash val="solid"/>
          </a:ln>
        </p:spPr>
      </p:sp>
      <p:sp>
        <p:nvSpPr>
          <p:cNvPr id="21" name="Shape 19"/>
          <p:cNvSpPr/>
          <p:nvPr/>
        </p:nvSpPr>
        <p:spPr>
          <a:xfrm>
            <a:off x="2331720" y="3291840"/>
            <a:ext cx="68580" cy="68580"/>
          </a:xfrm>
          <a:prstGeom prst="ellipse">
            <a:avLst/>
          </a:prstGeom>
          <a:solidFill>
            <a:srgbClr val="2E6BFF">
              <a:alpha val="85000"/>
            </a:srgbClr>
          </a:solidFill>
          <a:ln w="12700">
            <a:solidFill>
              <a:srgbClr val="2E6BFF">
                <a:alpha val="0"/>
              </a:srgbClr>
            </a:solidFill>
            <a:prstDash val="solid"/>
          </a:ln>
        </p:spPr>
      </p:sp>
      <p:sp>
        <p:nvSpPr>
          <p:cNvPr id="22" name="Shape 20"/>
          <p:cNvSpPr/>
          <p:nvPr/>
        </p:nvSpPr>
        <p:spPr>
          <a:xfrm>
            <a:off x="2560320" y="3291840"/>
            <a:ext cx="68580" cy="68580"/>
          </a:xfrm>
          <a:prstGeom prst="ellipse">
            <a:avLst/>
          </a:prstGeom>
          <a:solidFill>
            <a:srgbClr val="2E6BFF">
              <a:alpha val="85000"/>
            </a:srgbClr>
          </a:solidFill>
          <a:ln w="12700">
            <a:solidFill>
              <a:srgbClr val="2E6BFF">
                <a:alpha val="0"/>
              </a:srgbClr>
            </a:solidFill>
            <a:prstDash val="solid"/>
          </a:ln>
        </p:spPr>
      </p:sp>
      <p:sp>
        <p:nvSpPr>
          <p:cNvPr id="23" name="Shape 21"/>
          <p:cNvSpPr/>
          <p:nvPr/>
        </p:nvSpPr>
        <p:spPr>
          <a:xfrm>
            <a:off x="1508760" y="3520440"/>
            <a:ext cx="68580" cy="68580"/>
          </a:xfrm>
          <a:prstGeom prst="ellipse">
            <a:avLst/>
          </a:prstGeom>
          <a:solidFill>
            <a:srgbClr val="2E6BFF">
              <a:alpha val="85000"/>
            </a:srgbClr>
          </a:solidFill>
          <a:ln w="12700">
            <a:solidFill>
              <a:srgbClr val="2E6BFF">
                <a:alpha val="0"/>
              </a:srgbClr>
            </a:solidFill>
            <a:prstDash val="solid"/>
          </a:ln>
        </p:spPr>
      </p:sp>
      <p:sp>
        <p:nvSpPr>
          <p:cNvPr id="24" name="Shape 22"/>
          <p:cNvSpPr/>
          <p:nvPr/>
        </p:nvSpPr>
        <p:spPr>
          <a:xfrm>
            <a:off x="1737360" y="3520440"/>
            <a:ext cx="68580" cy="68580"/>
          </a:xfrm>
          <a:prstGeom prst="ellipse">
            <a:avLst/>
          </a:prstGeom>
          <a:solidFill>
            <a:srgbClr val="2E6BFF">
              <a:alpha val="85000"/>
            </a:srgbClr>
          </a:solidFill>
          <a:ln w="12700">
            <a:solidFill>
              <a:srgbClr val="2E6BFF">
                <a:alpha val="0"/>
              </a:srgbClr>
            </a:solidFill>
            <a:prstDash val="solid"/>
          </a:ln>
        </p:spPr>
      </p:sp>
      <p:sp>
        <p:nvSpPr>
          <p:cNvPr id="25" name="Shape 23"/>
          <p:cNvSpPr/>
          <p:nvPr/>
        </p:nvSpPr>
        <p:spPr>
          <a:xfrm>
            <a:off x="1965960" y="3520440"/>
            <a:ext cx="68580" cy="68580"/>
          </a:xfrm>
          <a:prstGeom prst="ellipse">
            <a:avLst/>
          </a:prstGeom>
          <a:solidFill>
            <a:srgbClr val="2E6BFF">
              <a:alpha val="85000"/>
            </a:srgbClr>
          </a:solidFill>
          <a:ln w="12700">
            <a:solidFill>
              <a:srgbClr val="2E6BFF">
                <a:alpha val="0"/>
              </a:srgbClr>
            </a:solidFill>
            <a:prstDash val="solid"/>
          </a:ln>
        </p:spPr>
      </p:sp>
      <p:sp>
        <p:nvSpPr>
          <p:cNvPr id="26" name="Shape 24"/>
          <p:cNvSpPr/>
          <p:nvPr/>
        </p:nvSpPr>
        <p:spPr>
          <a:xfrm>
            <a:off x="2194560" y="3520440"/>
            <a:ext cx="68580" cy="68580"/>
          </a:xfrm>
          <a:prstGeom prst="ellipse">
            <a:avLst/>
          </a:prstGeom>
          <a:solidFill>
            <a:srgbClr val="FF7A45"/>
          </a:solidFill>
          <a:ln w="12700">
            <a:solidFill>
              <a:srgbClr val="FF7A45">
                <a:alpha val="0"/>
              </a:srgbClr>
            </a:solidFill>
            <a:prstDash val="solid"/>
          </a:ln>
        </p:spPr>
      </p:sp>
      <p:sp>
        <p:nvSpPr>
          <p:cNvPr id="27" name="Shape 25"/>
          <p:cNvSpPr/>
          <p:nvPr/>
        </p:nvSpPr>
        <p:spPr>
          <a:xfrm>
            <a:off x="2423160" y="3520440"/>
            <a:ext cx="68580" cy="68580"/>
          </a:xfrm>
          <a:prstGeom prst="ellipse">
            <a:avLst/>
          </a:prstGeom>
          <a:solidFill>
            <a:srgbClr val="2E6BFF">
              <a:alpha val="85000"/>
            </a:srgbClr>
          </a:solidFill>
          <a:ln w="12700">
            <a:solidFill>
              <a:srgbClr val="2E6BFF">
                <a:alpha val="0"/>
              </a:srgbClr>
            </a:solidFill>
            <a:prstDash val="solid"/>
          </a:ln>
        </p:spPr>
      </p:sp>
      <p:sp>
        <p:nvSpPr>
          <p:cNvPr id="28" name="Shape 26"/>
          <p:cNvSpPr/>
          <p:nvPr/>
        </p:nvSpPr>
        <p:spPr>
          <a:xfrm>
            <a:off x="1645920" y="3749040"/>
            <a:ext cx="68580" cy="68580"/>
          </a:xfrm>
          <a:prstGeom prst="ellipse">
            <a:avLst/>
          </a:prstGeom>
          <a:solidFill>
            <a:srgbClr val="2E6BFF">
              <a:alpha val="85000"/>
            </a:srgbClr>
          </a:solidFill>
          <a:ln w="12700">
            <a:solidFill>
              <a:srgbClr val="2E6BFF">
                <a:alpha val="0"/>
              </a:srgbClr>
            </a:solidFill>
            <a:prstDash val="solid"/>
          </a:ln>
        </p:spPr>
      </p:sp>
      <p:sp>
        <p:nvSpPr>
          <p:cNvPr id="29" name="Shape 27"/>
          <p:cNvSpPr/>
          <p:nvPr/>
        </p:nvSpPr>
        <p:spPr>
          <a:xfrm>
            <a:off x="1874520" y="3749040"/>
            <a:ext cx="68580" cy="68580"/>
          </a:xfrm>
          <a:prstGeom prst="ellipse">
            <a:avLst/>
          </a:prstGeom>
          <a:solidFill>
            <a:srgbClr val="2E6BFF">
              <a:alpha val="85000"/>
            </a:srgbClr>
          </a:solidFill>
          <a:ln w="12700">
            <a:solidFill>
              <a:srgbClr val="2E6BFF">
                <a:alpha val="0"/>
              </a:srgbClr>
            </a:solidFill>
            <a:prstDash val="solid"/>
          </a:ln>
        </p:spPr>
      </p:sp>
      <p:sp>
        <p:nvSpPr>
          <p:cNvPr id="30" name="Shape 28"/>
          <p:cNvSpPr/>
          <p:nvPr/>
        </p:nvSpPr>
        <p:spPr>
          <a:xfrm>
            <a:off x="2103120" y="3749040"/>
            <a:ext cx="68580" cy="68580"/>
          </a:xfrm>
          <a:prstGeom prst="ellipse">
            <a:avLst/>
          </a:prstGeom>
          <a:solidFill>
            <a:srgbClr val="2E6BFF">
              <a:alpha val="85000"/>
            </a:srgbClr>
          </a:solidFill>
          <a:ln w="12700">
            <a:solidFill>
              <a:srgbClr val="2E6BFF">
                <a:alpha val="0"/>
              </a:srgbClr>
            </a:solidFill>
            <a:prstDash val="solid"/>
          </a:ln>
        </p:spPr>
      </p:sp>
      <p:sp>
        <p:nvSpPr>
          <p:cNvPr id="31" name="Shape 29"/>
          <p:cNvSpPr/>
          <p:nvPr/>
        </p:nvSpPr>
        <p:spPr>
          <a:xfrm>
            <a:off x="2331720" y="3749040"/>
            <a:ext cx="68580" cy="68580"/>
          </a:xfrm>
          <a:prstGeom prst="ellipse">
            <a:avLst/>
          </a:prstGeom>
          <a:solidFill>
            <a:srgbClr val="2E6BFF">
              <a:alpha val="85000"/>
            </a:srgbClr>
          </a:solidFill>
          <a:ln w="12700">
            <a:solidFill>
              <a:srgbClr val="2E6BFF">
                <a:alpha val="0"/>
              </a:srgbClr>
            </a:solidFill>
            <a:prstDash val="solid"/>
          </a:ln>
        </p:spPr>
      </p:sp>
      <p:sp>
        <p:nvSpPr>
          <p:cNvPr id="32" name="Shape 30"/>
          <p:cNvSpPr/>
          <p:nvPr/>
        </p:nvSpPr>
        <p:spPr>
          <a:xfrm>
            <a:off x="1280160" y="2423160"/>
            <a:ext cx="1645920" cy="1645920"/>
          </a:xfrm>
          <a:prstGeom prst="ellipse">
            <a:avLst/>
          </a:prstGeom>
          <a:solidFill>
            <a:srgbClr val="FFFFFF">
              <a:alpha val="0"/>
            </a:srgbClr>
          </a:solidFill>
          <a:ln w="12700">
            <a:solidFill>
              <a:srgbClr val="D7DCE5"/>
            </a:solidFill>
            <a:prstDash val="solid"/>
          </a:ln>
        </p:spPr>
      </p:sp>
      <p:sp>
        <p:nvSpPr>
          <p:cNvPr id="33" name="Text 31"/>
          <p:cNvSpPr/>
          <p:nvPr/>
        </p:nvSpPr>
        <p:spPr>
          <a:xfrm>
            <a:off x="868680" y="4709160"/>
            <a:ext cx="2743200" cy="182880"/>
          </a:xfrm>
          <a:prstGeom prst="rect">
            <a:avLst/>
          </a:prstGeom>
          <a:noFill/>
          <a:ln/>
        </p:spPr>
        <p:txBody>
          <a:bodyPr wrap="square" lIns="0" tIns="0" rIns="0" bIns="0" rtlCol="0" anchor="ctr"/>
          <a:lstStyle/>
          <a:p>
            <a:pPr marL="0" indent="0" algn="ctr">
              <a:buNone/>
            </a:pPr>
            <a:r>
              <a:rPr lang="en-US" sz="1300" b="1" dirty="0">
                <a:solidFill>
                  <a:srgbClr val="2E6BFF"/>
                </a:solidFill>
              </a:rPr>
              <a:t>particles = possible states</a:t>
            </a:r>
            <a:endParaRPr lang="en-US" sz="1300" dirty="0"/>
          </a:p>
        </p:txBody>
      </p:sp>
      <p:sp>
        <p:nvSpPr>
          <p:cNvPr id="34" name="Shape 32"/>
          <p:cNvSpPr/>
          <p:nvPr/>
        </p:nvSpPr>
        <p:spPr>
          <a:xfrm>
            <a:off x="4937760" y="1965960"/>
            <a:ext cx="384048" cy="384048"/>
          </a:xfrm>
          <a:prstGeom prst="ellipse">
            <a:avLst/>
          </a:prstGeom>
          <a:solidFill>
            <a:srgbClr val="2E6BFF"/>
          </a:solidFill>
          <a:ln w="12700">
            <a:solidFill>
              <a:srgbClr val="2E6BFF">
                <a:alpha val="0"/>
              </a:srgbClr>
            </a:solidFill>
            <a:prstDash val="solid"/>
          </a:ln>
        </p:spPr>
      </p:sp>
      <p:sp>
        <p:nvSpPr>
          <p:cNvPr id="35" name="Text 33"/>
          <p:cNvSpPr/>
          <p:nvPr/>
        </p:nvSpPr>
        <p:spPr>
          <a:xfrm>
            <a:off x="4937760" y="206654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36" name="Text 34"/>
          <p:cNvSpPr/>
          <p:nvPr/>
        </p:nvSpPr>
        <p:spPr>
          <a:xfrm>
            <a:off x="5532120" y="2057400"/>
            <a:ext cx="4206240" cy="164592"/>
          </a:xfrm>
          <a:prstGeom prst="rect">
            <a:avLst/>
          </a:prstGeom>
          <a:noFill/>
          <a:ln/>
        </p:spPr>
        <p:txBody>
          <a:bodyPr wrap="square" lIns="0" tIns="0" rIns="0" bIns="0" rtlCol="0" anchor="ctr"/>
          <a:lstStyle/>
          <a:p>
            <a:pPr marL="0" indent="0">
              <a:buNone/>
            </a:pPr>
            <a:r>
              <a:rPr lang="en-US" sz="1500" dirty="0">
                <a:solidFill>
                  <a:srgbClr val="172033"/>
                </a:solidFill>
              </a:rPr>
              <a:t>Initialize particles</a:t>
            </a:r>
            <a:endParaRPr lang="en-US" sz="1500" dirty="0"/>
          </a:p>
        </p:txBody>
      </p:sp>
      <p:sp>
        <p:nvSpPr>
          <p:cNvPr id="37" name="Shape 35"/>
          <p:cNvSpPr/>
          <p:nvPr/>
        </p:nvSpPr>
        <p:spPr>
          <a:xfrm>
            <a:off x="4937760" y="2743200"/>
            <a:ext cx="384048" cy="384048"/>
          </a:xfrm>
          <a:prstGeom prst="ellipse">
            <a:avLst/>
          </a:prstGeom>
          <a:solidFill>
            <a:srgbClr val="12B76A"/>
          </a:solidFill>
          <a:ln w="12700">
            <a:solidFill>
              <a:srgbClr val="12B76A">
                <a:alpha val="0"/>
              </a:srgbClr>
            </a:solidFill>
            <a:prstDash val="solid"/>
          </a:ln>
        </p:spPr>
      </p:sp>
      <p:sp>
        <p:nvSpPr>
          <p:cNvPr id="38" name="Text 36"/>
          <p:cNvSpPr/>
          <p:nvPr/>
        </p:nvSpPr>
        <p:spPr>
          <a:xfrm>
            <a:off x="4937760" y="284378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39" name="Text 37"/>
          <p:cNvSpPr/>
          <p:nvPr/>
        </p:nvSpPr>
        <p:spPr>
          <a:xfrm>
            <a:off x="5532120" y="2834640"/>
            <a:ext cx="4206240" cy="164592"/>
          </a:xfrm>
          <a:prstGeom prst="rect">
            <a:avLst/>
          </a:prstGeom>
          <a:noFill/>
          <a:ln/>
        </p:spPr>
        <p:txBody>
          <a:bodyPr wrap="square" lIns="0" tIns="0" rIns="0" bIns="0" rtlCol="0" anchor="ctr"/>
          <a:lstStyle/>
          <a:p>
            <a:pPr marL="0" indent="0">
              <a:buNone/>
            </a:pPr>
            <a:r>
              <a:rPr lang="en-US" sz="1500" dirty="0">
                <a:solidFill>
                  <a:srgbClr val="172033"/>
                </a:solidFill>
              </a:rPr>
              <a:t>Predict motion</a:t>
            </a:r>
            <a:endParaRPr lang="en-US" sz="1500" dirty="0"/>
          </a:p>
        </p:txBody>
      </p:sp>
      <p:sp>
        <p:nvSpPr>
          <p:cNvPr id="40" name="Shape 38"/>
          <p:cNvSpPr/>
          <p:nvPr/>
        </p:nvSpPr>
        <p:spPr>
          <a:xfrm>
            <a:off x="4937760" y="3520440"/>
            <a:ext cx="384048" cy="384048"/>
          </a:xfrm>
          <a:prstGeom prst="ellipse">
            <a:avLst/>
          </a:prstGeom>
          <a:solidFill>
            <a:srgbClr val="FF7A45"/>
          </a:solidFill>
          <a:ln w="12700">
            <a:solidFill>
              <a:srgbClr val="FF7A45">
                <a:alpha val="0"/>
              </a:srgbClr>
            </a:solidFill>
            <a:prstDash val="solid"/>
          </a:ln>
        </p:spPr>
      </p:sp>
      <p:sp>
        <p:nvSpPr>
          <p:cNvPr id="41" name="Text 39"/>
          <p:cNvSpPr/>
          <p:nvPr/>
        </p:nvSpPr>
        <p:spPr>
          <a:xfrm>
            <a:off x="4937760" y="362102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42" name="Text 40"/>
          <p:cNvSpPr/>
          <p:nvPr/>
        </p:nvSpPr>
        <p:spPr>
          <a:xfrm>
            <a:off x="5532120" y="3611880"/>
            <a:ext cx="4206240" cy="164592"/>
          </a:xfrm>
          <a:prstGeom prst="rect">
            <a:avLst/>
          </a:prstGeom>
          <a:noFill/>
          <a:ln/>
        </p:spPr>
        <p:txBody>
          <a:bodyPr wrap="square" lIns="0" tIns="0" rIns="0" bIns="0" rtlCol="0" anchor="ctr"/>
          <a:lstStyle/>
          <a:p>
            <a:pPr marL="0" indent="0">
              <a:buNone/>
            </a:pPr>
            <a:r>
              <a:rPr lang="en-US" sz="1500" b="1" dirty="0">
                <a:solidFill>
                  <a:srgbClr val="172033"/>
                </a:solidFill>
              </a:rPr>
              <a:t>Weight by sensor likelihood</a:t>
            </a:r>
            <a:endParaRPr lang="en-US" sz="1500" dirty="0"/>
          </a:p>
        </p:txBody>
      </p:sp>
      <p:sp>
        <p:nvSpPr>
          <p:cNvPr id="43" name="Shape 41"/>
          <p:cNvSpPr/>
          <p:nvPr/>
        </p:nvSpPr>
        <p:spPr>
          <a:xfrm>
            <a:off x="4937760" y="4297680"/>
            <a:ext cx="384048" cy="384048"/>
          </a:xfrm>
          <a:prstGeom prst="ellipse">
            <a:avLst/>
          </a:prstGeom>
          <a:solidFill>
            <a:srgbClr val="7A5AF8"/>
          </a:solidFill>
          <a:ln w="12700">
            <a:solidFill>
              <a:srgbClr val="7A5AF8">
                <a:alpha val="0"/>
              </a:srgbClr>
            </a:solidFill>
            <a:prstDash val="solid"/>
          </a:ln>
        </p:spPr>
      </p:sp>
      <p:sp>
        <p:nvSpPr>
          <p:cNvPr id="44" name="Text 42"/>
          <p:cNvSpPr/>
          <p:nvPr/>
        </p:nvSpPr>
        <p:spPr>
          <a:xfrm>
            <a:off x="4937760" y="4398264"/>
            <a:ext cx="384048"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45" name="Text 43"/>
          <p:cNvSpPr/>
          <p:nvPr/>
        </p:nvSpPr>
        <p:spPr>
          <a:xfrm>
            <a:off x="5532120" y="4389120"/>
            <a:ext cx="4206240" cy="164592"/>
          </a:xfrm>
          <a:prstGeom prst="rect">
            <a:avLst/>
          </a:prstGeom>
          <a:noFill/>
          <a:ln/>
        </p:spPr>
        <p:txBody>
          <a:bodyPr wrap="square" lIns="0" tIns="0" rIns="0" bIns="0" rtlCol="0" anchor="ctr"/>
          <a:lstStyle/>
          <a:p>
            <a:pPr marL="0" indent="0">
              <a:buNone/>
            </a:pPr>
            <a:r>
              <a:rPr lang="en-US" sz="1500" b="1" dirty="0">
                <a:solidFill>
                  <a:srgbClr val="172033"/>
                </a:solidFill>
              </a:rPr>
              <a:t>Resample high-weight particles</a:t>
            </a:r>
            <a:endParaRPr lang="en-US" sz="1500" dirty="0"/>
          </a:p>
        </p:txBody>
      </p:sp>
      <p:sp>
        <p:nvSpPr>
          <p:cNvPr id="46" name="Shape 44"/>
          <p:cNvSpPr/>
          <p:nvPr/>
        </p:nvSpPr>
        <p:spPr>
          <a:xfrm>
            <a:off x="4736592" y="5440680"/>
            <a:ext cx="5760720" cy="457200"/>
          </a:xfrm>
          <a:prstGeom prst="roundRect">
            <a:avLst>
              <a:gd name="adj" fmla="val 16000"/>
            </a:avLst>
          </a:prstGeom>
          <a:solidFill>
            <a:srgbClr val="101828"/>
          </a:solidFill>
          <a:ln w="12700">
            <a:solidFill>
              <a:srgbClr val="101828">
                <a:alpha val="80000"/>
              </a:srgbClr>
            </a:solidFill>
            <a:prstDash val="solid"/>
          </a:ln>
          <a:effectLst>
            <a:outerShdw blurRad="12700" dist="50800" dir="2700000" algn="bl" rotWithShape="0">
              <a:srgbClr val="000000">
                <a:alpha val="8000"/>
              </a:srgbClr>
            </a:outerShdw>
          </a:effectLst>
        </p:spPr>
      </p:sp>
      <p:sp>
        <p:nvSpPr>
          <p:cNvPr id="47" name="Text 45"/>
          <p:cNvSpPr/>
          <p:nvPr/>
        </p:nvSpPr>
        <p:spPr>
          <a:xfrm>
            <a:off x="4983480" y="5596128"/>
            <a:ext cx="5285232" cy="128016"/>
          </a:xfrm>
          <a:prstGeom prst="rect">
            <a:avLst/>
          </a:prstGeom>
          <a:noFill/>
          <a:ln/>
        </p:spPr>
        <p:txBody>
          <a:bodyPr wrap="square" lIns="0" tIns="0" rIns="0" bIns="0" rtlCol="0" anchor="ctr"/>
          <a:lstStyle/>
          <a:p>
            <a:pPr marL="0" indent="0" algn="ctr">
              <a:buNone/>
            </a:pPr>
            <a:r>
              <a:rPr lang="en-US" sz="1250" b="1" dirty="0">
                <a:solidFill>
                  <a:srgbClr val="FFFFFF"/>
                </a:solidFill>
              </a:rPr>
              <a:t>Key intuition: bad guesses disappear, good guesses survive.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r>
              <a:rPr lang="en-US" sz="850" b="1" dirty="0">
                <a:solidFill>
                  <a:srgbClr val="2E6BFF"/>
                </a:solidFill>
                <a:latin typeface="Aptos" pitchFamily="34" charset="0"/>
                <a:ea typeface="Aptos" pitchFamily="34" charset="-122"/>
                <a:cs typeface="Aptos" pitchFamily="34" charset="-120"/>
              </a:rPr>
              <a:t>PARTICLE FILTER</a:t>
            </a:r>
            <a:endParaRPr lang="en-US" sz="850" dirty="0"/>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Display" pitchFamily="34" charset="0"/>
                <a:ea typeface="Aptos Display" pitchFamily="34" charset="-122"/>
                <a:cs typeface="Aptos Display" pitchFamily="34" charset="-120"/>
              </a:rPr>
              <a:t>Solved example: measurement weighting and resampling</a:t>
            </a:r>
            <a:endParaRPr lang="en-US" sz="2800" dirty="0"/>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r>
              <a:rPr lang="en-US" sz="850" dirty="0">
                <a:solidFill>
                  <a:srgbClr val="98A2B3"/>
                </a:solidFill>
                <a:latin typeface="Aptos" pitchFamily="34" charset="0"/>
                <a:ea typeface="Aptos" pitchFamily="34" charset="-122"/>
                <a:cs typeface="Aptos" pitchFamily="34" charset="-120"/>
              </a:rPr>
              <a:t>A3 State Estimation</a:t>
            </a:r>
            <a:endParaRPr lang="en-US" sz="850" dirty="0"/>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ptos" pitchFamily="34" charset="0"/>
                <a:ea typeface="Aptos" pitchFamily="34" charset="-122"/>
                <a:cs typeface="Aptos" pitchFamily="34" charset="-120"/>
              </a:rPr>
              <a:t>09</a:t>
            </a:r>
            <a:endParaRPr lang="en-US" sz="850" dirty="0"/>
          </a:p>
        </p:txBody>
      </p:sp>
      <p:sp>
        <p:nvSpPr>
          <p:cNvPr id="7" name="Text 5"/>
          <p:cNvSpPr/>
          <p:nvPr/>
        </p:nvSpPr>
        <p:spPr>
          <a:xfrm>
            <a:off x="685800" y="1298448"/>
            <a:ext cx="9875520" cy="256032"/>
          </a:xfrm>
          <a:prstGeom prst="rect">
            <a:avLst/>
          </a:prstGeom>
          <a:noFill/>
          <a:ln/>
        </p:spPr>
        <p:txBody>
          <a:bodyPr wrap="square" lIns="0" tIns="0" rIns="0" bIns="0" rtlCol="0" anchor="ctr"/>
          <a:lstStyle/>
          <a:p>
            <a:pPr marL="0" indent="0">
              <a:buNone/>
            </a:pPr>
            <a:r>
              <a:rPr lang="en-US" sz="1650" b="1" dirty="0">
                <a:solidFill>
                  <a:srgbClr val="172033"/>
                </a:solidFill>
              </a:rPr>
              <a:t>Assume a 1D position measurement z = 1.0 with sensor standard deviation σ = 0.2.</a:t>
            </a:r>
            <a:endParaRPr lang="en-US" sz="1650" dirty="0"/>
          </a:p>
        </p:txBody>
      </p:sp>
      <p:sp>
        <p:nvSpPr>
          <p:cNvPr id="8" name="Shape 6"/>
          <p:cNvSpPr/>
          <p:nvPr/>
        </p:nvSpPr>
        <p:spPr>
          <a:xfrm>
            <a:off x="777240" y="1920240"/>
            <a:ext cx="4892040" cy="3337560"/>
          </a:xfrm>
          <a:prstGeom prst="roundRect">
            <a:avLst>
              <a:gd name="adj" fmla="val 2192"/>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9" name="Text 7"/>
          <p:cNvSpPr/>
          <p:nvPr/>
        </p:nvSpPr>
        <p:spPr>
          <a:xfrm>
            <a:off x="1024128" y="2194560"/>
            <a:ext cx="1828800" cy="182880"/>
          </a:xfrm>
          <a:prstGeom prst="rect">
            <a:avLst/>
          </a:prstGeom>
          <a:noFill/>
          <a:ln/>
        </p:spPr>
        <p:txBody>
          <a:bodyPr wrap="square" lIns="0" tIns="0" rIns="0" bIns="0" rtlCol="0" anchor="ctr"/>
          <a:lstStyle/>
          <a:p>
            <a:pPr marL="0" indent="0">
              <a:buNone/>
            </a:pPr>
            <a:r>
              <a:rPr lang="en-US" sz="1600" b="1" dirty="0">
                <a:solidFill>
                  <a:srgbClr val="2E6BFF"/>
                </a:solidFill>
              </a:rPr>
              <a:t>Particle weights</a:t>
            </a:r>
            <a:endParaRPr lang="en-US" sz="1600" dirty="0"/>
          </a:p>
        </p:txBody>
      </p:sp>
      <p:sp>
        <p:nvSpPr>
          <p:cNvPr id="10" name="Text 8"/>
          <p:cNvSpPr/>
          <p:nvPr/>
        </p:nvSpPr>
        <p:spPr>
          <a:xfrm>
            <a:off x="1005840" y="2624328"/>
            <a:ext cx="731520" cy="128016"/>
          </a:xfrm>
          <a:prstGeom prst="rect">
            <a:avLst/>
          </a:prstGeom>
          <a:noFill/>
          <a:ln/>
        </p:spPr>
        <p:txBody>
          <a:bodyPr wrap="square" lIns="0" tIns="0" rIns="0" bIns="0" rtlCol="0" anchor="ctr"/>
          <a:lstStyle/>
          <a:p>
            <a:pPr marL="0" indent="0" algn="l">
              <a:buNone/>
            </a:pPr>
            <a:r>
              <a:rPr lang="en-US" sz="880" b="1" dirty="0">
                <a:solidFill>
                  <a:srgbClr val="667085"/>
                </a:solidFill>
              </a:rPr>
              <a:t>particle</a:t>
            </a:r>
            <a:endParaRPr lang="en-US" sz="880" dirty="0"/>
          </a:p>
        </p:txBody>
      </p:sp>
      <p:sp>
        <p:nvSpPr>
          <p:cNvPr id="11" name="Text 9"/>
          <p:cNvSpPr/>
          <p:nvPr/>
        </p:nvSpPr>
        <p:spPr>
          <a:xfrm>
            <a:off x="2240280" y="2624328"/>
            <a:ext cx="365760" cy="128016"/>
          </a:xfrm>
          <a:prstGeom prst="rect">
            <a:avLst/>
          </a:prstGeom>
          <a:noFill/>
          <a:ln/>
        </p:spPr>
        <p:txBody>
          <a:bodyPr wrap="square" lIns="0" tIns="0" rIns="0" bIns="0" rtlCol="0" anchor="ctr"/>
          <a:lstStyle/>
          <a:p>
            <a:pPr marL="0" indent="0" algn="ctr">
              <a:buNone/>
            </a:pPr>
            <a:r>
              <a:rPr lang="en-US" sz="880" b="1" dirty="0">
                <a:solidFill>
                  <a:srgbClr val="667085"/>
                </a:solidFill>
              </a:rPr>
              <a:t>x</a:t>
            </a:r>
            <a:endParaRPr lang="en-US" sz="880" dirty="0"/>
          </a:p>
        </p:txBody>
      </p:sp>
      <p:sp>
        <p:nvSpPr>
          <p:cNvPr id="12" name="Text 10"/>
          <p:cNvSpPr/>
          <p:nvPr/>
        </p:nvSpPr>
        <p:spPr>
          <a:xfrm>
            <a:off x="2880360" y="2624328"/>
            <a:ext cx="960120" cy="128016"/>
          </a:xfrm>
          <a:prstGeom prst="rect">
            <a:avLst/>
          </a:prstGeom>
          <a:noFill/>
          <a:ln/>
        </p:spPr>
        <p:txBody>
          <a:bodyPr wrap="square" lIns="0" tIns="0" rIns="0" bIns="0" rtlCol="0" anchor="ctr"/>
          <a:lstStyle/>
          <a:p>
            <a:pPr marL="0" indent="0" algn="ctr">
              <a:buNone/>
            </a:pPr>
            <a:r>
              <a:rPr lang="en-US" sz="880" b="1" dirty="0">
                <a:solidFill>
                  <a:srgbClr val="667085"/>
                </a:solidFill>
              </a:rPr>
              <a:t>raw likelihood</a:t>
            </a:r>
            <a:endParaRPr lang="en-US" sz="880" dirty="0"/>
          </a:p>
        </p:txBody>
      </p:sp>
      <p:sp>
        <p:nvSpPr>
          <p:cNvPr id="13" name="Text 11"/>
          <p:cNvSpPr/>
          <p:nvPr/>
        </p:nvSpPr>
        <p:spPr>
          <a:xfrm>
            <a:off x="4069080" y="2624328"/>
            <a:ext cx="960120" cy="128016"/>
          </a:xfrm>
          <a:prstGeom prst="rect">
            <a:avLst/>
          </a:prstGeom>
          <a:noFill/>
          <a:ln/>
        </p:spPr>
        <p:txBody>
          <a:bodyPr wrap="square" lIns="0" tIns="0" rIns="0" bIns="0" rtlCol="0" anchor="ctr"/>
          <a:lstStyle/>
          <a:p>
            <a:pPr marL="0" indent="0" algn="ctr">
              <a:buNone/>
            </a:pPr>
            <a:r>
              <a:rPr lang="en-US" sz="880" b="1" dirty="0">
                <a:solidFill>
                  <a:srgbClr val="667085"/>
                </a:solidFill>
              </a:rPr>
              <a:t>normalized w</a:t>
            </a:r>
            <a:endParaRPr lang="en-US" sz="880" dirty="0"/>
          </a:p>
        </p:txBody>
      </p:sp>
      <p:sp>
        <p:nvSpPr>
          <p:cNvPr id="14" name="Shape 12"/>
          <p:cNvSpPr/>
          <p:nvPr/>
        </p:nvSpPr>
        <p:spPr>
          <a:xfrm>
            <a:off x="1005840" y="2871216"/>
            <a:ext cx="4206240" cy="0"/>
          </a:xfrm>
          <a:prstGeom prst="line">
            <a:avLst/>
          </a:prstGeom>
          <a:noFill/>
          <a:ln w="7620">
            <a:solidFill>
              <a:srgbClr val="EAECF0"/>
            </a:solidFill>
            <a:prstDash val="solid"/>
          </a:ln>
        </p:spPr>
      </p:sp>
      <p:sp>
        <p:nvSpPr>
          <p:cNvPr id="15" name="Text 13"/>
          <p:cNvSpPr/>
          <p:nvPr/>
        </p:nvSpPr>
        <p:spPr>
          <a:xfrm>
            <a:off x="1005840" y="2971800"/>
            <a:ext cx="731520" cy="128016"/>
          </a:xfrm>
          <a:prstGeom prst="rect">
            <a:avLst/>
          </a:prstGeom>
          <a:noFill/>
          <a:ln/>
        </p:spPr>
        <p:txBody>
          <a:bodyPr wrap="square" lIns="0" tIns="0" rIns="0" bIns="0" rtlCol="0" anchor="ctr"/>
          <a:lstStyle/>
          <a:p>
            <a:pPr marL="0" indent="0" algn="l">
              <a:buNone/>
            </a:pPr>
            <a:r>
              <a:rPr lang="en-US" sz="950" dirty="0">
                <a:solidFill>
                  <a:srgbClr val="172033"/>
                </a:solidFill>
              </a:rPr>
              <a:t>1</a:t>
            </a:r>
            <a:endParaRPr lang="en-US" sz="950" dirty="0"/>
          </a:p>
        </p:txBody>
      </p:sp>
      <p:sp>
        <p:nvSpPr>
          <p:cNvPr id="16" name="Text 14"/>
          <p:cNvSpPr/>
          <p:nvPr/>
        </p:nvSpPr>
        <p:spPr>
          <a:xfrm>
            <a:off x="2240280" y="2971800"/>
            <a:ext cx="365760" cy="128016"/>
          </a:xfrm>
          <a:prstGeom prst="rect">
            <a:avLst/>
          </a:prstGeom>
          <a:noFill/>
          <a:ln/>
        </p:spPr>
        <p:txBody>
          <a:bodyPr wrap="square" lIns="0" tIns="0" rIns="0" bIns="0" rtlCol="0" anchor="ctr"/>
          <a:lstStyle/>
          <a:p>
            <a:pPr marL="0" indent="0" algn="ctr">
              <a:buNone/>
            </a:pPr>
            <a:r>
              <a:rPr lang="en-US" sz="950" dirty="0">
                <a:solidFill>
                  <a:srgbClr val="172033"/>
                </a:solidFill>
              </a:rPr>
              <a:t>0.2</a:t>
            </a:r>
            <a:endParaRPr lang="en-US" sz="950" dirty="0"/>
          </a:p>
        </p:txBody>
      </p:sp>
      <p:sp>
        <p:nvSpPr>
          <p:cNvPr id="17" name="Text 15"/>
          <p:cNvSpPr/>
          <p:nvPr/>
        </p:nvSpPr>
        <p:spPr>
          <a:xfrm>
            <a:off x="2880360" y="2971800"/>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0.0003</a:t>
            </a:r>
            <a:endParaRPr lang="en-US" sz="950" dirty="0"/>
          </a:p>
        </p:txBody>
      </p:sp>
      <p:sp>
        <p:nvSpPr>
          <p:cNvPr id="18" name="Text 16"/>
          <p:cNvSpPr/>
          <p:nvPr/>
        </p:nvSpPr>
        <p:spPr>
          <a:xfrm>
            <a:off x="4069080" y="2971800"/>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0.0002</a:t>
            </a:r>
            <a:endParaRPr lang="en-US" sz="950" dirty="0"/>
          </a:p>
        </p:txBody>
      </p:sp>
      <p:sp>
        <p:nvSpPr>
          <p:cNvPr id="19" name="Shape 17"/>
          <p:cNvSpPr/>
          <p:nvPr/>
        </p:nvSpPr>
        <p:spPr>
          <a:xfrm>
            <a:off x="1005840" y="3209544"/>
            <a:ext cx="4206240" cy="0"/>
          </a:xfrm>
          <a:prstGeom prst="line">
            <a:avLst/>
          </a:prstGeom>
          <a:noFill/>
          <a:ln w="7620">
            <a:solidFill>
              <a:srgbClr val="EAECF0"/>
            </a:solidFill>
            <a:prstDash val="solid"/>
          </a:ln>
        </p:spPr>
      </p:sp>
      <p:sp>
        <p:nvSpPr>
          <p:cNvPr id="20" name="Text 18"/>
          <p:cNvSpPr/>
          <p:nvPr/>
        </p:nvSpPr>
        <p:spPr>
          <a:xfrm>
            <a:off x="1005840" y="3310128"/>
            <a:ext cx="731520" cy="128016"/>
          </a:xfrm>
          <a:prstGeom prst="rect">
            <a:avLst/>
          </a:prstGeom>
          <a:noFill/>
          <a:ln/>
        </p:spPr>
        <p:txBody>
          <a:bodyPr wrap="square" lIns="0" tIns="0" rIns="0" bIns="0" rtlCol="0" anchor="ctr"/>
          <a:lstStyle/>
          <a:p>
            <a:pPr marL="0" indent="0" algn="l">
              <a:buNone/>
            </a:pPr>
            <a:r>
              <a:rPr lang="en-US" sz="950" dirty="0">
                <a:solidFill>
                  <a:srgbClr val="172033"/>
                </a:solidFill>
              </a:rPr>
              <a:t>2</a:t>
            </a:r>
            <a:endParaRPr lang="en-US" sz="950" dirty="0"/>
          </a:p>
        </p:txBody>
      </p:sp>
      <p:sp>
        <p:nvSpPr>
          <p:cNvPr id="21" name="Text 19"/>
          <p:cNvSpPr/>
          <p:nvPr/>
        </p:nvSpPr>
        <p:spPr>
          <a:xfrm>
            <a:off x="2240280" y="3310128"/>
            <a:ext cx="365760" cy="128016"/>
          </a:xfrm>
          <a:prstGeom prst="rect">
            <a:avLst/>
          </a:prstGeom>
          <a:noFill/>
          <a:ln/>
        </p:spPr>
        <p:txBody>
          <a:bodyPr wrap="square" lIns="0" tIns="0" rIns="0" bIns="0" rtlCol="0" anchor="ctr"/>
          <a:lstStyle/>
          <a:p>
            <a:pPr marL="0" indent="0" algn="ctr">
              <a:buNone/>
            </a:pPr>
            <a:r>
              <a:rPr lang="en-US" sz="950" dirty="0">
                <a:solidFill>
                  <a:srgbClr val="172033"/>
                </a:solidFill>
              </a:rPr>
              <a:t>0.7</a:t>
            </a:r>
            <a:endParaRPr lang="en-US" sz="950" dirty="0"/>
          </a:p>
        </p:txBody>
      </p:sp>
      <p:sp>
        <p:nvSpPr>
          <p:cNvPr id="22" name="Text 20"/>
          <p:cNvSpPr/>
          <p:nvPr/>
        </p:nvSpPr>
        <p:spPr>
          <a:xfrm>
            <a:off x="2880360" y="3310128"/>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0.3247</a:t>
            </a:r>
            <a:endParaRPr lang="en-US" sz="950" dirty="0"/>
          </a:p>
        </p:txBody>
      </p:sp>
      <p:sp>
        <p:nvSpPr>
          <p:cNvPr id="23" name="Text 21"/>
          <p:cNvSpPr/>
          <p:nvPr/>
        </p:nvSpPr>
        <p:spPr>
          <a:xfrm>
            <a:off x="4069080" y="3310128"/>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0.1968</a:t>
            </a:r>
            <a:endParaRPr lang="en-US" sz="950" dirty="0"/>
          </a:p>
        </p:txBody>
      </p:sp>
      <p:sp>
        <p:nvSpPr>
          <p:cNvPr id="24" name="Shape 22"/>
          <p:cNvSpPr/>
          <p:nvPr/>
        </p:nvSpPr>
        <p:spPr>
          <a:xfrm>
            <a:off x="1005840" y="3547872"/>
            <a:ext cx="4206240" cy="0"/>
          </a:xfrm>
          <a:prstGeom prst="line">
            <a:avLst/>
          </a:prstGeom>
          <a:noFill/>
          <a:ln w="7620">
            <a:solidFill>
              <a:srgbClr val="EAECF0"/>
            </a:solidFill>
            <a:prstDash val="solid"/>
          </a:ln>
        </p:spPr>
      </p:sp>
      <p:sp>
        <p:nvSpPr>
          <p:cNvPr id="25" name="Text 23"/>
          <p:cNvSpPr/>
          <p:nvPr/>
        </p:nvSpPr>
        <p:spPr>
          <a:xfrm>
            <a:off x="1005840" y="3648456"/>
            <a:ext cx="731520" cy="128016"/>
          </a:xfrm>
          <a:prstGeom prst="rect">
            <a:avLst/>
          </a:prstGeom>
          <a:noFill/>
          <a:ln/>
        </p:spPr>
        <p:txBody>
          <a:bodyPr wrap="square" lIns="0" tIns="0" rIns="0" bIns="0" rtlCol="0" anchor="ctr"/>
          <a:lstStyle/>
          <a:p>
            <a:pPr marL="0" indent="0" algn="l">
              <a:buNone/>
            </a:pPr>
            <a:r>
              <a:rPr lang="en-US" sz="950" b="1" dirty="0">
                <a:solidFill>
                  <a:srgbClr val="2E6BFF"/>
                </a:solidFill>
              </a:rPr>
              <a:t>3</a:t>
            </a:r>
            <a:endParaRPr lang="en-US" sz="950" dirty="0"/>
          </a:p>
        </p:txBody>
      </p:sp>
      <p:sp>
        <p:nvSpPr>
          <p:cNvPr id="26" name="Text 24"/>
          <p:cNvSpPr/>
          <p:nvPr/>
        </p:nvSpPr>
        <p:spPr>
          <a:xfrm>
            <a:off x="2240280" y="3648456"/>
            <a:ext cx="365760" cy="128016"/>
          </a:xfrm>
          <a:prstGeom prst="rect">
            <a:avLst/>
          </a:prstGeom>
          <a:noFill/>
          <a:ln/>
        </p:spPr>
        <p:txBody>
          <a:bodyPr wrap="square" lIns="0" tIns="0" rIns="0" bIns="0" rtlCol="0" anchor="ctr"/>
          <a:lstStyle/>
          <a:p>
            <a:pPr marL="0" indent="0" algn="ctr">
              <a:buNone/>
            </a:pPr>
            <a:r>
              <a:rPr lang="en-US" sz="950" b="1" dirty="0">
                <a:solidFill>
                  <a:srgbClr val="2E6BFF"/>
                </a:solidFill>
              </a:rPr>
              <a:t>1.0</a:t>
            </a:r>
            <a:endParaRPr lang="en-US" sz="950" dirty="0"/>
          </a:p>
        </p:txBody>
      </p:sp>
      <p:sp>
        <p:nvSpPr>
          <p:cNvPr id="27" name="Text 25"/>
          <p:cNvSpPr/>
          <p:nvPr/>
        </p:nvSpPr>
        <p:spPr>
          <a:xfrm>
            <a:off x="2880360" y="3648456"/>
            <a:ext cx="960120" cy="128016"/>
          </a:xfrm>
          <a:prstGeom prst="rect">
            <a:avLst/>
          </a:prstGeom>
          <a:noFill/>
          <a:ln/>
        </p:spPr>
        <p:txBody>
          <a:bodyPr wrap="square" lIns="0" tIns="0" rIns="0" bIns="0" rtlCol="0" anchor="ctr"/>
          <a:lstStyle/>
          <a:p>
            <a:pPr marL="0" indent="0" algn="ctr">
              <a:buNone/>
            </a:pPr>
            <a:r>
              <a:rPr lang="en-US" sz="950" b="1" dirty="0">
                <a:solidFill>
                  <a:srgbClr val="2E6BFF"/>
                </a:solidFill>
              </a:rPr>
              <a:t>1.0000</a:t>
            </a:r>
            <a:endParaRPr lang="en-US" sz="950" dirty="0"/>
          </a:p>
        </p:txBody>
      </p:sp>
      <p:sp>
        <p:nvSpPr>
          <p:cNvPr id="28" name="Text 26"/>
          <p:cNvSpPr/>
          <p:nvPr/>
        </p:nvSpPr>
        <p:spPr>
          <a:xfrm>
            <a:off x="4069080" y="3648456"/>
            <a:ext cx="960120" cy="128016"/>
          </a:xfrm>
          <a:prstGeom prst="rect">
            <a:avLst/>
          </a:prstGeom>
          <a:noFill/>
          <a:ln/>
        </p:spPr>
        <p:txBody>
          <a:bodyPr wrap="square" lIns="0" tIns="0" rIns="0" bIns="0" rtlCol="0" anchor="ctr"/>
          <a:lstStyle/>
          <a:p>
            <a:pPr marL="0" indent="0" algn="ctr">
              <a:buNone/>
            </a:pPr>
            <a:r>
              <a:rPr lang="en-US" sz="950" b="1" dirty="0">
                <a:solidFill>
                  <a:srgbClr val="2E6BFF"/>
                </a:solidFill>
              </a:rPr>
              <a:t>0.6062</a:t>
            </a:r>
            <a:endParaRPr lang="en-US" sz="950" dirty="0"/>
          </a:p>
        </p:txBody>
      </p:sp>
      <p:sp>
        <p:nvSpPr>
          <p:cNvPr id="29" name="Shape 27"/>
          <p:cNvSpPr/>
          <p:nvPr/>
        </p:nvSpPr>
        <p:spPr>
          <a:xfrm>
            <a:off x="1005840" y="3886200"/>
            <a:ext cx="4206240" cy="0"/>
          </a:xfrm>
          <a:prstGeom prst="line">
            <a:avLst/>
          </a:prstGeom>
          <a:noFill/>
          <a:ln w="7620">
            <a:solidFill>
              <a:srgbClr val="EAECF0"/>
            </a:solidFill>
            <a:prstDash val="solid"/>
          </a:ln>
        </p:spPr>
      </p:sp>
      <p:sp>
        <p:nvSpPr>
          <p:cNvPr id="30" name="Text 28"/>
          <p:cNvSpPr/>
          <p:nvPr/>
        </p:nvSpPr>
        <p:spPr>
          <a:xfrm>
            <a:off x="1005840" y="3986784"/>
            <a:ext cx="731520" cy="128016"/>
          </a:xfrm>
          <a:prstGeom prst="rect">
            <a:avLst/>
          </a:prstGeom>
          <a:noFill/>
          <a:ln/>
        </p:spPr>
        <p:txBody>
          <a:bodyPr wrap="square" lIns="0" tIns="0" rIns="0" bIns="0" rtlCol="0" anchor="ctr"/>
          <a:lstStyle/>
          <a:p>
            <a:pPr marL="0" indent="0" algn="l">
              <a:buNone/>
            </a:pPr>
            <a:r>
              <a:rPr lang="en-US" sz="950" dirty="0">
                <a:solidFill>
                  <a:srgbClr val="172033"/>
                </a:solidFill>
              </a:rPr>
              <a:t>4</a:t>
            </a:r>
            <a:endParaRPr lang="en-US" sz="950" dirty="0"/>
          </a:p>
        </p:txBody>
      </p:sp>
      <p:sp>
        <p:nvSpPr>
          <p:cNvPr id="31" name="Text 29"/>
          <p:cNvSpPr/>
          <p:nvPr/>
        </p:nvSpPr>
        <p:spPr>
          <a:xfrm>
            <a:off x="2240280" y="3986784"/>
            <a:ext cx="365760" cy="128016"/>
          </a:xfrm>
          <a:prstGeom prst="rect">
            <a:avLst/>
          </a:prstGeom>
          <a:noFill/>
          <a:ln/>
        </p:spPr>
        <p:txBody>
          <a:bodyPr wrap="square" lIns="0" tIns="0" rIns="0" bIns="0" rtlCol="0" anchor="ctr"/>
          <a:lstStyle/>
          <a:p>
            <a:pPr marL="0" indent="0" algn="ctr">
              <a:buNone/>
            </a:pPr>
            <a:r>
              <a:rPr lang="en-US" sz="950" dirty="0">
                <a:solidFill>
                  <a:srgbClr val="172033"/>
                </a:solidFill>
              </a:rPr>
              <a:t>1.3</a:t>
            </a:r>
            <a:endParaRPr lang="en-US" sz="950" dirty="0"/>
          </a:p>
        </p:txBody>
      </p:sp>
      <p:sp>
        <p:nvSpPr>
          <p:cNvPr id="32" name="Text 30"/>
          <p:cNvSpPr/>
          <p:nvPr/>
        </p:nvSpPr>
        <p:spPr>
          <a:xfrm>
            <a:off x="2880360" y="3986784"/>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0.3247</a:t>
            </a:r>
            <a:endParaRPr lang="en-US" sz="950" dirty="0"/>
          </a:p>
        </p:txBody>
      </p:sp>
      <p:sp>
        <p:nvSpPr>
          <p:cNvPr id="33" name="Text 31"/>
          <p:cNvSpPr/>
          <p:nvPr/>
        </p:nvSpPr>
        <p:spPr>
          <a:xfrm>
            <a:off x="4069080" y="3986784"/>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0.1968</a:t>
            </a:r>
            <a:endParaRPr lang="en-US" sz="950" dirty="0"/>
          </a:p>
        </p:txBody>
      </p:sp>
      <p:sp>
        <p:nvSpPr>
          <p:cNvPr id="34" name="Shape 32"/>
          <p:cNvSpPr/>
          <p:nvPr/>
        </p:nvSpPr>
        <p:spPr>
          <a:xfrm>
            <a:off x="1005840" y="4224528"/>
            <a:ext cx="4206240" cy="0"/>
          </a:xfrm>
          <a:prstGeom prst="line">
            <a:avLst/>
          </a:prstGeom>
          <a:noFill/>
          <a:ln w="7620">
            <a:solidFill>
              <a:srgbClr val="EAECF0"/>
            </a:solidFill>
            <a:prstDash val="solid"/>
          </a:ln>
        </p:spPr>
      </p:sp>
      <p:sp>
        <p:nvSpPr>
          <p:cNvPr id="35" name="Text 33"/>
          <p:cNvSpPr/>
          <p:nvPr/>
        </p:nvSpPr>
        <p:spPr>
          <a:xfrm>
            <a:off x="1005840" y="4325112"/>
            <a:ext cx="731520" cy="128016"/>
          </a:xfrm>
          <a:prstGeom prst="rect">
            <a:avLst/>
          </a:prstGeom>
          <a:noFill/>
          <a:ln/>
        </p:spPr>
        <p:txBody>
          <a:bodyPr wrap="square" lIns="0" tIns="0" rIns="0" bIns="0" rtlCol="0" anchor="ctr"/>
          <a:lstStyle/>
          <a:p>
            <a:pPr marL="0" indent="0" algn="l">
              <a:buNone/>
            </a:pPr>
            <a:r>
              <a:rPr lang="en-US" sz="950" dirty="0">
                <a:solidFill>
                  <a:srgbClr val="172033"/>
                </a:solidFill>
              </a:rPr>
              <a:t>5</a:t>
            </a:r>
            <a:endParaRPr lang="en-US" sz="950" dirty="0"/>
          </a:p>
        </p:txBody>
      </p:sp>
      <p:sp>
        <p:nvSpPr>
          <p:cNvPr id="36" name="Text 34"/>
          <p:cNvSpPr/>
          <p:nvPr/>
        </p:nvSpPr>
        <p:spPr>
          <a:xfrm>
            <a:off x="2240280" y="4325112"/>
            <a:ext cx="365760" cy="128016"/>
          </a:xfrm>
          <a:prstGeom prst="rect">
            <a:avLst/>
          </a:prstGeom>
          <a:noFill/>
          <a:ln/>
        </p:spPr>
        <p:txBody>
          <a:bodyPr wrap="square" lIns="0" tIns="0" rIns="0" bIns="0" rtlCol="0" anchor="ctr"/>
          <a:lstStyle/>
          <a:p>
            <a:pPr marL="0" indent="0" algn="ctr">
              <a:buNone/>
            </a:pPr>
            <a:r>
              <a:rPr lang="en-US" sz="950" dirty="0">
                <a:solidFill>
                  <a:srgbClr val="172033"/>
                </a:solidFill>
              </a:rPr>
              <a:t>1.9</a:t>
            </a:r>
            <a:endParaRPr lang="en-US" sz="950" dirty="0"/>
          </a:p>
        </p:txBody>
      </p:sp>
      <p:sp>
        <p:nvSpPr>
          <p:cNvPr id="37" name="Text 35"/>
          <p:cNvSpPr/>
          <p:nvPr/>
        </p:nvSpPr>
        <p:spPr>
          <a:xfrm>
            <a:off x="2880360" y="4325112"/>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0.00004</a:t>
            </a:r>
            <a:endParaRPr lang="en-US" sz="950" dirty="0"/>
          </a:p>
        </p:txBody>
      </p:sp>
      <p:sp>
        <p:nvSpPr>
          <p:cNvPr id="38" name="Text 36"/>
          <p:cNvSpPr/>
          <p:nvPr/>
        </p:nvSpPr>
        <p:spPr>
          <a:xfrm>
            <a:off x="4069080" y="4325112"/>
            <a:ext cx="960120" cy="128016"/>
          </a:xfrm>
          <a:prstGeom prst="rect">
            <a:avLst/>
          </a:prstGeom>
          <a:noFill/>
          <a:ln/>
        </p:spPr>
        <p:txBody>
          <a:bodyPr wrap="square" lIns="0" tIns="0" rIns="0" bIns="0" rtlCol="0" anchor="ctr"/>
          <a:lstStyle/>
          <a:p>
            <a:pPr marL="0" indent="0" algn="ctr">
              <a:buNone/>
            </a:pPr>
            <a:r>
              <a:rPr lang="en-US" sz="950" dirty="0">
                <a:solidFill>
                  <a:srgbClr val="172033"/>
                </a:solidFill>
              </a:rPr>
              <a:t>0.00002</a:t>
            </a:r>
            <a:endParaRPr lang="en-US" sz="950" dirty="0"/>
          </a:p>
        </p:txBody>
      </p:sp>
      <p:sp>
        <p:nvSpPr>
          <p:cNvPr id="39" name="Text 37"/>
          <p:cNvSpPr/>
          <p:nvPr/>
        </p:nvSpPr>
        <p:spPr>
          <a:xfrm>
            <a:off x="1005840" y="4800600"/>
            <a:ext cx="4297680" cy="182880"/>
          </a:xfrm>
          <a:prstGeom prst="rect">
            <a:avLst/>
          </a:prstGeom>
          <a:noFill/>
          <a:ln/>
        </p:spPr>
        <p:txBody>
          <a:bodyPr wrap="square" lIns="0" tIns="0" rIns="0" bIns="0" rtlCol="0" anchor="ctr"/>
          <a:lstStyle/>
          <a:p>
            <a:pPr marL="0" indent="0" algn="ctr">
              <a:buNone/>
            </a:pPr>
            <a:r>
              <a:rPr lang="en-US" sz="1150" dirty="0">
                <a:solidFill>
                  <a:srgbClr val="667085"/>
                </a:solidFill>
              </a:rPr>
              <a:t>wᵢ ∝ exp(− 1/2 · (xᵢ − z)² / σ²)</a:t>
            </a:r>
            <a:endParaRPr lang="en-US" sz="1150" dirty="0"/>
          </a:p>
        </p:txBody>
      </p:sp>
      <p:sp>
        <p:nvSpPr>
          <p:cNvPr id="40" name="Shape 38"/>
          <p:cNvSpPr/>
          <p:nvPr/>
        </p:nvSpPr>
        <p:spPr>
          <a:xfrm>
            <a:off x="6126480" y="1920240"/>
            <a:ext cx="4617720" cy="3337560"/>
          </a:xfrm>
          <a:prstGeom prst="roundRect">
            <a:avLst>
              <a:gd name="adj" fmla="val 2192"/>
            </a:avLst>
          </a:prstGeom>
          <a:solidFill>
            <a:srgbClr val="101828"/>
          </a:solidFill>
          <a:ln w="12700">
            <a:solidFill>
              <a:srgbClr val="101828">
                <a:alpha val="80000"/>
              </a:srgbClr>
            </a:solidFill>
            <a:prstDash val="solid"/>
          </a:ln>
          <a:effectLst>
            <a:outerShdw blurRad="12700" dist="50800" dir="2700000" algn="bl" rotWithShape="0">
              <a:srgbClr val="000000">
                <a:alpha val="8000"/>
              </a:srgbClr>
            </a:outerShdw>
          </a:effectLst>
        </p:spPr>
      </p:sp>
      <p:sp>
        <p:nvSpPr>
          <p:cNvPr id="41" name="Text 39"/>
          <p:cNvSpPr/>
          <p:nvPr/>
        </p:nvSpPr>
        <p:spPr>
          <a:xfrm>
            <a:off x="6446520" y="2194560"/>
            <a:ext cx="2011680" cy="182880"/>
          </a:xfrm>
          <a:prstGeom prst="rect">
            <a:avLst/>
          </a:prstGeom>
          <a:noFill/>
          <a:ln/>
        </p:spPr>
        <p:txBody>
          <a:bodyPr wrap="square" lIns="0" tIns="0" rIns="0" bIns="0" rtlCol="0" anchor="ctr"/>
          <a:lstStyle/>
          <a:p>
            <a:pPr marL="0" indent="0">
              <a:buNone/>
            </a:pPr>
            <a:r>
              <a:rPr lang="en-US" sz="1600" b="1" dirty="0">
                <a:solidFill>
                  <a:srgbClr val="FFFFFF"/>
                </a:solidFill>
              </a:rPr>
              <a:t>Resampling intuition</a:t>
            </a:r>
            <a:endParaRPr lang="en-US" sz="1600" dirty="0"/>
          </a:p>
        </p:txBody>
      </p:sp>
      <p:sp>
        <p:nvSpPr>
          <p:cNvPr id="42" name="Shape 40"/>
          <p:cNvSpPr/>
          <p:nvPr/>
        </p:nvSpPr>
        <p:spPr>
          <a:xfrm>
            <a:off x="6922008" y="2926080"/>
            <a:ext cx="164592" cy="164592"/>
          </a:xfrm>
          <a:prstGeom prst="ellipse">
            <a:avLst/>
          </a:prstGeom>
          <a:solidFill>
            <a:srgbClr val="475467"/>
          </a:solidFill>
          <a:ln w="12700">
            <a:solidFill>
              <a:srgbClr val="475467"/>
            </a:solidFill>
            <a:prstDash val="solid"/>
          </a:ln>
        </p:spPr>
      </p:sp>
      <p:sp>
        <p:nvSpPr>
          <p:cNvPr id="43" name="Shape 41"/>
          <p:cNvSpPr/>
          <p:nvPr/>
        </p:nvSpPr>
        <p:spPr>
          <a:xfrm>
            <a:off x="7767828" y="2926080"/>
            <a:ext cx="164592" cy="164592"/>
          </a:xfrm>
          <a:prstGeom prst="ellipse">
            <a:avLst/>
          </a:prstGeom>
          <a:solidFill>
            <a:srgbClr val="475467"/>
          </a:solidFill>
          <a:ln w="12700">
            <a:solidFill>
              <a:srgbClr val="475467"/>
            </a:solidFill>
            <a:prstDash val="solid"/>
          </a:ln>
        </p:spPr>
      </p:sp>
      <p:sp>
        <p:nvSpPr>
          <p:cNvPr id="44" name="Shape 42"/>
          <p:cNvSpPr/>
          <p:nvPr/>
        </p:nvSpPr>
        <p:spPr>
          <a:xfrm>
            <a:off x="8275320" y="2926080"/>
            <a:ext cx="164592" cy="164592"/>
          </a:xfrm>
          <a:prstGeom prst="ellipse">
            <a:avLst/>
          </a:prstGeom>
          <a:solidFill>
            <a:srgbClr val="2E6BFF"/>
          </a:solidFill>
          <a:ln w="12700">
            <a:solidFill>
              <a:srgbClr val="2E6BFF"/>
            </a:solidFill>
            <a:prstDash val="solid"/>
          </a:ln>
        </p:spPr>
      </p:sp>
      <p:sp>
        <p:nvSpPr>
          <p:cNvPr id="45" name="Shape 43"/>
          <p:cNvSpPr/>
          <p:nvPr/>
        </p:nvSpPr>
        <p:spPr>
          <a:xfrm>
            <a:off x="8782812" y="2926080"/>
            <a:ext cx="164592" cy="164592"/>
          </a:xfrm>
          <a:prstGeom prst="ellipse">
            <a:avLst/>
          </a:prstGeom>
          <a:solidFill>
            <a:srgbClr val="475467"/>
          </a:solidFill>
          <a:ln w="12700">
            <a:solidFill>
              <a:srgbClr val="475467"/>
            </a:solidFill>
            <a:prstDash val="solid"/>
          </a:ln>
        </p:spPr>
      </p:sp>
      <p:sp>
        <p:nvSpPr>
          <p:cNvPr id="46" name="Shape 44"/>
          <p:cNvSpPr/>
          <p:nvPr/>
        </p:nvSpPr>
        <p:spPr>
          <a:xfrm>
            <a:off x="9797796" y="2926080"/>
            <a:ext cx="164592" cy="164592"/>
          </a:xfrm>
          <a:prstGeom prst="ellipse">
            <a:avLst/>
          </a:prstGeom>
          <a:solidFill>
            <a:srgbClr val="475467"/>
          </a:solidFill>
          <a:ln w="12700">
            <a:solidFill>
              <a:srgbClr val="475467"/>
            </a:solidFill>
            <a:prstDash val="solid"/>
          </a:ln>
        </p:spPr>
      </p:sp>
      <p:sp>
        <p:nvSpPr>
          <p:cNvPr id="47" name="Text 45"/>
          <p:cNvSpPr/>
          <p:nvPr/>
        </p:nvSpPr>
        <p:spPr>
          <a:xfrm>
            <a:off x="6537960" y="3227832"/>
            <a:ext cx="3657600" cy="137160"/>
          </a:xfrm>
          <a:prstGeom prst="rect">
            <a:avLst/>
          </a:prstGeom>
          <a:noFill/>
          <a:ln/>
        </p:spPr>
        <p:txBody>
          <a:bodyPr wrap="square" lIns="0" tIns="0" rIns="0" bIns="0" rtlCol="0" anchor="ctr"/>
          <a:lstStyle/>
          <a:p>
            <a:pPr marL="0" indent="0" algn="ctr">
              <a:buNone/>
            </a:pPr>
            <a:r>
              <a:rPr lang="en-US" sz="1000" dirty="0">
                <a:solidFill>
                  <a:srgbClr val="D0D5DD"/>
                </a:solidFill>
              </a:rPr>
              <a:t>before: spread guesses</a:t>
            </a:r>
            <a:endParaRPr lang="en-US" sz="1000" dirty="0"/>
          </a:p>
        </p:txBody>
      </p:sp>
      <p:sp>
        <p:nvSpPr>
          <p:cNvPr id="48" name="Shape 46"/>
          <p:cNvSpPr/>
          <p:nvPr/>
        </p:nvSpPr>
        <p:spPr>
          <a:xfrm>
            <a:off x="7726680" y="4343400"/>
            <a:ext cx="128016" cy="128016"/>
          </a:xfrm>
          <a:prstGeom prst="ellipse">
            <a:avLst/>
          </a:prstGeom>
          <a:solidFill>
            <a:srgbClr val="2E6BFF"/>
          </a:solidFill>
          <a:ln w="12700">
            <a:solidFill>
              <a:srgbClr val="2E6BFF"/>
            </a:solidFill>
            <a:prstDash val="solid"/>
          </a:ln>
        </p:spPr>
      </p:sp>
      <p:sp>
        <p:nvSpPr>
          <p:cNvPr id="49" name="Shape 47"/>
          <p:cNvSpPr/>
          <p:nvPr/>
        </p:nvSpPr>
        <p:spPr>
          <a:xfrm>
            <a:off x="8019288" y="4343400"/>
            <a:ext cx="128016" cy="128016"/>
          </a:xfrm>
          <a:prstGeom prst="ellipse">
            <a:avLst/>
          </a:prstGeom>
          <a:solidFill>
            <a:srgbClr val="2E6BFF"/>
          </a:solidFill>
          <a:ln w="12700">
            <a:solidFill>
              <a:srgbClr val="2E6BFF"/>
            </a:solidFill>
            <a:prstDash val="solid"/>
          </a:ln>
        </p:spPr>
      </p:sp>
      <p:sp>
        <p:nvSpPr>
          <p:cNvPr id="50" name="Shape 48"/>
          <p:cNvSpPr/>
          <p:nvPr/>
        </p:nvSpPr>
        <p:spPr>
          <a:xfrm>
            <a:off x="8311896" y="4343400"/>
            <a:ext cx="128016" cy="128016"/>
          </a:xfrm>
          <a:prstGeom prst="ellipse">
            <a:avLst/>
          </a:prstGeom>
          <a:solidFill>
            <a:srgbClr val="2E6BFF"/>
          </a:solidFill>
          <a:ln w="12700">
            <a:solidFill>
              <a:srgbClr val="2E6BFF"/>
            </a:solidFill>
            <a:prstDash val="solid"/>
          </a:ln>
        </p:spPr>
      </p:sp>
      <p:sp>
        <p:nvSpPr>
          <p:cNvPr id="51" name="Shape 49"/>
          <p:cNvSpPr/>
          <p:nvPr/>
        </p:nvSpPr>
        <p:spPr>
          <a:xfrm>
            <a:off x="8604504" y="4343400"/>
            <a:ext cx="128016" cy="128016"/>
          </a:xfrm>
          <a:prstGeom prst="ellipse">
            <a:avLst/>
          </a:prstGeom>
          <a:solidFill>
            <a:srgbClr val="2E6BFF"/>
          </a:solidFill>
          <a:ln w="12700">
            <a:solidFill>
              <a:srgbClr val="2E6BFF"/>
            </a:solidFill>
            <a:prstDash val="solid"/>
          </a:ln>
        </p:spPr>
      </p:sp>
      <p:sp>
        <p:nvSpPr>
          <p:cNvPr id="52" name="Shape 50"/>
          <p:cNvSpPr/>
          <p:nvPr/>
        </p:nvSpPr>
        <p:spPr>
          <a:xfrm>
            <a:off x="8897112" y="4343400"/>
            <a:ext cx="128016" cy="128016"/>
          </a:xfrm>
          <a:prstGeom prst="ellipse">
            <a:avLst/>
          </a:prstGeom>
          <a:solidFill>
            <a:srgbClr val="2E6BFF"/>
          </a:solidFill>
          <a:ln w="12700">
            <a:solidFill>
              <a:srgbClr val="2E6BFF"/>
            </a:solidFill>
            <a:prstDash val="solid"/>
          </a:ln>
        </p:spPr>
      </p:sp>
      <p:sp>
        <p:nvSpPr>
          <p:cNvPr id="53" name="Shape 51"/>
          <p:cNvSpPr/>
          <p:nvPr/>
        </p:nvSpPr>
        <p:spPr>
          <a:xfrm>
            <a:off x="7726680" y="4572000"/>
            <a:ext cx="128016" cy="128016"/>
          </a:xfrm>
          <a:prstGeom prst="ellipse">
            <a:avLst/>
          </a:prstGeom>
          <a:solidFill>
            <a:srgbClr val="2E6BFF"/>
          </a:solidFill>
          <a:ln w="12700">
            <a:solidFill>
              <a:srgbClr val="2E6BFF"/>
            </a:solidFill>
            <a:prstDash val="solid"/>
          </a:ln>
        </p:spPr>
      </p:sp>
      <p:sp>
        <p:nvSpPr>
          <p:cNvPr id="54" name="Shape 52"/>
          <p:cNvSpPr/>
          <p:nvPr/>
        </p:nvSpPr>
        <p:spPr>
          <a:xfrm>
            <a:off x="8019288" y="4572000"/>
            <a:ext cx="128016" cy="128016"/>
          </a:xfrm>
          <a:prstGeom prst="ellipse">
            <a:avLst/>
          </a:prstGeom>
          <a:solidFill>
            <a:srgbClr val="2E6BFF"/>
          </a:solidFill>
          <a:ln w="12700">
            <a:solidFill>
              <a:srgbClr val="2E6BFF"/>
            </a:solidFill>
            <a:prstDash val="solid"/>
          </a:ln>
        </p:spPr>
      </p:sp>
      <p:sp>
        <p:nvSpPr>
          <p:cNvPr id="55" name="Shape 53"/>
          <p:cNvSpPr/>
          <p:nvPr/>
        </p:nvSpPr>
        <p:spPr>
          <a:xfrm>
            <a:off x="8311896" y="4572000"/>
            <a:ext cx="128016" cy="128016"/>
          </a:xfrm>
          <a:prstGeom prst="ellipse">
            <a:avLst/>
          </a:prstGeom>
          <a:solidFill>
            <a:srgbClr val="2E6BFF"/>
          </a:solidFill>
          <a:ln w="12700">
            <a:solidFill>
              <a:srgbClr val="2E6BFF"/>
            </a:solidFill>
            <a:prstDash val="solid"/>
          </a:ln>
        </p:spPr>
      </p:sp>
      <p:sp>
        <p:nvSpPr>
          <p:cNvPr id="56" name="Shape 54"/>
          <p:cNvSpPr/>
          <p:nvPr/>
        </p:nvSpPr>
        <p:spPr>
          <a:xfrm>
            <a:off x="8604504" y="4572000"/>
            <a:ext cx="128016" cy="128016"/>
          </a:xfrm>
          <a:prstGeom prst="ellipse">
            <a:avLst/>
          </a:prstGeom>
          <a:solidFill>
            <a:srgbClr val="2E6BFF"/>
          </a:solidFill>
          <a:ln w="12700">
            <a:solidFill>
              <a:srgbClr val="2E6BFF"/>
            </a:solidFill>
            <a:prstDash val="solid"/>
          </a:ln>
        </p:spPr>
      </p:sp>
      <p:sp>
        <p:nvSpPr>
          <p:cNvPr id="57" name="Shape 55"/>
          <p:cNvSpPr/>
          <p:nvPr/>
        </p:nvSpPr>
        <p:spPr>
          <a:xfrm>
            <a:off x="8897112" y="4572000"/>
            <a:ext cx="128016" cy="128016"/>
          </a:xfrm>
          <a:prstGeom prst="ellipse">
            <a:avLst/>
          </a:prstGeom>
          <a:solidFill>
            <a:srgbClr val="2E6BFF"/>
          </a:solidFill>
          <a:ln w="12700">
            <a:solidFill>
              <a:srgbClr val="2E6BFF"/>
            </a:solidFill>
            <a:prstDash val="solid"/>
          </a:ln>
        </p:spPr>
      </p:sp>
      <p:sp>
        <p:nvSpPr>
          <p:cNvPr id="58" name="Shape 56"/>
          <p:cNvSpPr/>
          <p:nvPr/>
        </p:nvSpPr>
        <p:spPr>
          <a:xfrm>
            <a:off x="7269480" y="4453128"/>
            <a:ext cx="109728" cy="109728"/>
          </a:xfrm>
          <a:prstGeom prst="ellipse">
            <a:avLst/>
          </a:prstGeom>
          <a:solidFill>
            <a:srgbClr val="FF7A45"/>
          </a:solidFill>
          <a:ln w="12700">
            <a:solidFill>
              <a:srgbClr val="FF7A45"/>
            </a:solidFill>
            <a:prstDash val="solid"/>
          </a:ln>
        </p:spPr>
      </p:sp>
      <p:sp>
        <p:nvSpPr>
          <p:cNvPr id="59" name="Shape 57"/>
          <p:cNvSpPr/>
          <p:nvPr/>
        </p:nvSpPr>
        <p:spPr>
          <a:xfrm>
            <a:off x="9418320" y="4453128"/>
            <a:ext cx="109728" cy="109728"/>
          </a:xfrm>
          <a:prstGeom prst="ellipse">
            <a:avLst/>
          </a:prstGeom>
          <a:solidFill>
            <a:srgbClr val="FF7A45"/>
          </a:solidFill>
          <a:ln w="12700">
            <a:solidFill>
              <a:srgbClr val="FF7A45"/>
            </a:solidFill>
            <a:prstDash val="solid"/>
          </a:ln>
        </p:spPr>
      </p:sp>
      <p:sp>
        <p:nvSpPr>
          <p:cNvPr id="60" name="Text 58"/>
          <p:cNvSpPr/>
          <p:nvPr/>
        </p:nvSpPr>
        <p:spPr>
          <a:xfrm>
            <a:off x="6537960" y="4882896"/>
            <a:ext cx="3657600" cy="137160"/>
          </a:xfrm>
          <a:prstGeom prst="rect">
            <a:avLst/>
          </a:prstGeom>
          <a:noFill/>
          <a:ln/>
        </p:spPr>
        <p:txBody>
          <a:bodyPr wrap="square" lIns="0" tIns="0" rIns="0" bIns="0" rtlCol="0" anchor="ctr"/>
          <a:lstStyle/>
          <a:p>
            <a:pPr marL="0" indent="0" algn="ctr">
              <a:buNone/>
            </a:pPr>
            <a:r>
              <a:rPr lang="en-US" sz="1000" dirty="0">
                <a:solidFill>
                  <a:srgbClr val="D0D5DD"/>
                </a:solidFill>
              </a:rPr>
              <a:t>after: concentrated near z = 1.0</a:t>
            </a:r>
            <a:endParaRPr lang="en-US" sz="1000" dirty="0"/>
          </a:p>
        </p:txBody>
      </p:sp>
      <p:sp>
        <p:nvSpPr>
          <p:cNvPr id="61" name="Shape 59"/>
          <p:cNvSpPr/>
          <p:nvPr/>
        </p:nvSpPr>
        <p:spPr>
          <a:xfrm>
            <a:off x="8366760" y="3429000"/>
            <a:ext cx="0" cy="621792"/>
          </a:xfrm>
          <a:prstGeom prst="line">
            <a:avLst/>
          </a:prstGeom>
          <a:noFill/>
          <a:ln w="25400">
            <a:solidFill>
              <a:srgbClr val="98A2B3"/>
            </a:solidFill>
            <a:prstDash val="solid"/>
            <a:headEnd type="none"/>
            <a:tailEnd type="triangle"/>
          </a:ln>
        </p:spPr>
      </p:sp>
      <p:sp>
        <p:nvSpPr>
          <p:cNvPr id="62" name="Shape 60"/>
          <p:cNvSpPr/>
          <p:nvPr/>
        </p:nvSpPr>
        <p:spPr>
          <a:xfrm>
            <a:off x="6565392" y="5349240"/>
            <a:ext cx="3749040" cy="329184"/>
          </a:xfrm>
          <a:prstGeom prst="roundRect">
            <a:avLst>
              <a:gd name="adj" fmla="val 11111"/>
            </a:avLst>
          </a:prstGeom>
          <a:solidFill>
            <a:srgbClr val="2E6BFF"/>
          </a:solidFill>
          <a:ln w="12700">
            <a:solidFill>
              <a:srgbClr val="2E6BFF"/>
            </a:solidFill>
            <a:prstDash val="solid"/>
          </a:ln>
        </p:spPr>
      </p:sp>
      <p:sp>
        <p:nvSpPr>
          <p:cNvPr id="63" name="Text 61"/>
          <p:cNvSpPr/>
          <p:nvPr/>
        </p:nvSpPr>
        <p:spPr>
          <a:xfrm>
            <a:off x="6729984" y="5458968"/>
            <a:ext cx="3401568" cy="109728"/>
          </a:xfrm>
          <a:prstGeom prst="rect">
            <a:avLst/>
          </a:prstGeom>
          <a:noFill/>
          <a:ln/>
        </p:spPr>
        <p:txBody>
          <a:bodyPr wrap="square" lIns="0" tIns="0" rIns="0" bIns="0" rtlCol="0" anchor="ctr"/>
          <a:lstStyle/>
          <a:p>
            <a:pPr marL="0" indent="0" algn="ctr">
              <a:buNone/>
            </a:pPr>
            <a:r>
              <a:rPr lang="en-US" sz="950" b="1" dirty="0">
                <a:solidFill>
                  <a:srgbClr val="FFFFFF"/>
                </a:solidFill>
              </a:rPr>
              <a:t>Particle 3 dominates because it best explains the measurement.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r>
              <a:rPr lang="en-US" sz="850" b="1" dirty="0">
                <a:solidFill>
                  <a:srgbClr val="2E6BFF"/>
                </a:solidFill>
                <a:latin typeface="Aptos" pitchFamily="34" charset="0"/>
                <a:ea typeface="Aptos" pitchFamily="34" charset="-122"/>
                <a:cs typeface="Aptos" pitchFamily="34" charset="-120"/>
              </a:rPr>
              <a:t>PARTICLE FILTER RESULTS</a:t>
            </a:r>
            <a:endParaRPr lang="en-US" sz="850" dirty="0"/>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ptos Display" pitchFamily="34" charset="0"/>
                <a:ea typeface="Aptos Display" pitchFamily="34" charset="-122"/>
                <a:cs typeface="Aptos Display" pitchFamily="34" charset="-120"/>
              </a:rPr>
              <a:t>Nonlinear system: prediction only versus measurement update</a:t>
            </a:r>
            <a:endParaRPr lang="en-US" sz="2800" dirty="0"/>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endParaRPr lang="en-US" sz="850" dirty="0"/>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ptos" pitchFamily="34" charset="0"/>
                <a:ea typeface="Aptos" pitchFamily="34" charset="-122"/>
                <a:cs typeface="Aptos" pitchFamily="34" charset="-120"/>
              </a:rPr>
              <a:t>10</a:t>
            </a:r>
            <a:endParaRPr lang="en-US" sz="850" dirty="0"/>
          </a:p>
        </p:txBody>
      </p:sp>
      <p:sp>
        <p:nvSpPr>
          <p:cNvPr id="7" name="Shape 5"/>
          <p:cNvSpPr/>
          <p:nvPr/>
        </p:nvSpPr>
        <p:spPr>
          <a:xfrm>
            <a:off x="777240" y="1325880"/>
            <a:ext cx="5166360" cy="4297680"/>
          </a:xfrm>
          <a:prstGeom prst="roundRect">
            <a:avLst>
              <a:gd name="adj" fmla="val 1702"/>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pic>
        <p:nvPicPr>
          <p:cNvPr id="8" name="Image 0" descr="/mnt/data/pf_outputs/cell2_output0.png"/>
          <p:cNvPicPr>
            <a:picLocks noChangeAspect="1"/>
          </p:cNvPicPr>
          <p:nvPr/>
        </p:nvPicPr>
        <p:blipFill>
          <a:blip r:embed="rId3"/>
          <a:stretch>
            <a:fillRect/>
          </a:stretch>
        </p:blipFill>
        <p:spPr>
          <a:xfrm>
            <a:off x="1554480" y="1572768"/>
            <a:ext cx="3611880" cy="3611880"/>
          </a:xfrm>
          <a:prstGeom prst="rect">
            <a:avLst/>
          </a:prstGeom>
        </p:spPr>
      </p:pic>
      <p:sp>
        <p:nvSpPr>
          <p:cNvPr id="9" name="Text 6"/>
          <p:cNvSpPr/>
          <p:nvPr/>
        </p:nvSpPr>
        <p:spPr>
          <a:xfrm>
            <a:off x="2157984" y="5285232"/>
            <a:ext cx="2377440" cy="164592"/>
          </a:xfrm>
          <a:prstGeom prst="rect">
            <a:avLst/>
          </a:prstGeom>
          <a:noFill/>
          <a:ln/>
        </p:spPr>
        <p:txBody>
          <a:bodyPr wrap="square" lIns="0" tIns="0" rIns="0" bIns="0" rtlCol="0" anchor="ctr"/>
          <a:lstStyle/>
          <a:p>
            <a:pPr marL="0" indent="0" algn="ctr">
              <a:buNone/>
            </a:pPr>
            <a:r>
              <a:rPr lang="en-US" sz="1400" b="1" dirty="0">
                <a:solidFill>
                  <a:srgbClr val="172033"/>
                </a:solidFill>
              </a:rPr>
              <a:t>Prediction only</a:t>
            </a:r>
            <a:endParaRPr lang="en-US" sz="1400" dirty="0"/>
          </a:p>
        </p:txBody>
      </p:sp>
      <p:sp>
        <p:nvSpPr>
          <p:cNvPr id="10" name="Shape 7"/>
          <p:cNvSpPr/>
          <p:nvPr/>
        </p:nvSpPr>
        <p:spPr>
          <a:xfrm>
            <a:off x="6236208" y="1325880"/>
            <a:ext cx="5166360" cy="4297680"/>
          </a:xfrm>
          <a:prstGeom prst="roundRect">
            <a:avLst>
              <a:gd name="adj" fmla="val 1702"/>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pic>
        <p:nvPicPr>
          <p:cNvPr id="11" name="Image 1" descr="/mnt/data/pf_outputs/cell4_output0.png"/>
          <p:cNvPicPr>
            <a:picLocks noChangeAspect="1"/>
          </p:cNvPicPr>
          <p:nvPr/>
        </p:nvPicPr>
        <p:blipFill>
          <a:blip r:embed="rId4"/>
          <a:stretch>
            <a:fillRect/>
          </a:stretch>
        </p:blipFill>
        <p:spPr>
          <a:xfrm>
            <a:off x="7013448" y="1572768"/>
            <a:ext cx="3611880" cy="3611880"/>
          </a:xfrm>
          <a:prstGeom prst="rect">
            <a:avLst/>
          </a:prstGeom>
        </p:spPr>
      </p:pic>
      <p:sp>
        <p:nvSpPr>
          <p:cNvPr id="12" name="Text 8"/>
          <p:cNvSpPr/>
          <p:nvPr/>
        </p:nvSpPr>
        <p:spPr>
          <a:xfrm>
            <a:off x="7644384" y="5285232"/>
            <a:ext cx="2560320" cy="164592"/>
          </a:xfrm>
          <a:prstGeom prst="rect">
            <a:avLst/>
          </a:prstGeom>
          <a:noFill/>
          <a:ln/>
        </p:spPr>
        <p:txBody>
          <a:bodyPr wrap="square" lIns="0" tIns="0" rIns="0" bIns="0" rtlCol="0" anchor="ctr"/>
          <a:lstStyle/>
          <a:p>
            <a:pPr marL="0" indent="0" algn="ctr">
              <a:buNone/>
            </a:pPr>
            <a:r>
              <a:rPr lang="en-US" sz="1400" b="1" dirty="0">
                <a:solidFill>
                  <a:srgbClr val="172033"/>
                </a:solidFill>
              </a:rPr>
              <a:t>After measurement update</a:t>
            </a:r>
            <a:endParaRPr lang="en-US" sz="1400" dirty="0"/>
          </a:p>
        </p:txBody>
      </p:sp>
      <p:sp>
        <p:nvSpPr>
          <p:cNvPr id="13" name="Shape 9"/>
          <p:cNvSpPr/>
          <p:nvPr/>
        </p:nvSpPr>
        <p:spPr>
          <a:xfrm>
            <a:off x="850392" y="5833872"/>
            <a:ext cx="10469880" cy="384048"/>
          </a:xfrm>
          <a:prstGeom prst="roundRect">
            <a:avLst>
              <a:gd name="adj" fmla="val 11905"/>
            </a:avLst>
          </a:prstGeom>
          <a:solidFill>
            <a:srgbClr val="EEF4FF"/>
          </a:solidFill>
          <a:ln w="12700">
            <a:solidFill>
              <a:srgbClr val="C7D7FE">
                <a:alpha val="90000"/>
              </a:srgbClr>
            </a:solidFill>
            <a:prstDash val="solid"/>
          </a:ln>
        </p:spPr>
      </p:sp>
      <p:sp>
        <p:nvSpPr>
          <p:cNvPr id="14" name="Text 10"/>
          <p:cNvSpPr/>
          <p:nvPr/>
        </p:nvSpPr>
        <p:spPr>
          <a:xfrm>
            <a:off x="1051560" y="5943600"/>
            <a:ext cx="10058400" cy="128016"/>
          </a:xfrm>
          <a:prstGeom prst="rect">
            <a:avLst/>
          </a:prstGeom>
          <a:noFill/>
          <a:ln/>
        </p:spPr>
        <p:txBody>
          <a:bodyPr wrap="square" lIns="0" tIns="0" rIns="0" bIns="0" rtlCol="0" anchor="ctr">
            <a:normAutofit fontScale="77500" lnSpcReduction="20000"/>
          </a:bodyPr>
          <a:lstStyle/>
          <a:p>
            <a:pPr marL="0" indent="0" algn="ctr">
              <a:buNone/>
            </a:pPr>
            <a:r>
              <a:rPr lang="en-US" sz="1050" b="1" dirty="0">
                <a:solidFill>
                  <a:srgbClr val="2E6BFF"/>
                </a:solidFill>
              </a:rPr>
              <a:t>Analysis: heading uncertainty creates a circular prediction cloud. The measurement update assigns high weights near the observed state and resampling collapses the cloud around the measurement.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endParaRPr lang="en-US" sz="850" dirty="0">
              <a:latin typeface="Arial" panose="020B0604020202020204" pitchFamily="34" charset="0"/>
              <a:cs typeface="Arial" panose="020B0604020202020204" pitchFamily="34" charset="0"/>
            </a:endParaRPr>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rial" panose="020B0604020202020204" pitchFamily="34" charset="0"/>
                <a:ea typeface="Aptos Display" pitchFamily="34" charset="-122"/>
                <a:cs typeface="Arial" panose="020B0604020202020204" pitchFamily="34" charset="0"/>
              </a:rPr>
              <a:t>Sensor accuracy changes the confidence ellipses</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endParaRPr lang="en-US" sz="850" dirty="0">
              <a:latin typeface="Arial" panose="020B0604020202020204" pitchFamily="34" charset="0"/>
              <a:cs typeface="Arial" panose="020B0604020202020204" pitchFamily="34" charset="0"/>
            </a:endParaRPr>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rial" panose="020B0604020202020204" pitchFamily="34" charset="0"/>
                <a:ea typeface="Aptos" pitchFamily="34" charset="-122"/>
                <a:cs typeface="Arial" panose="020B0604020202020204" pitchFamily="34" charset="0"/>
              </a:rPr>
              <a:t>11</a:t>
            </a:r>
            <a:endParaRPr lang="en-US" sz="850" dirty="0">
              <a:latin typeface="Arial" panose="020B0604020202020204" pitchFamily="34" charset="0"/>
              <a:cs typeface="Arial" panose="020B0604020202020204" pitchFamily="34" charset="0"/>
            </a:endParaRPr>
          </a:p>
        </p:txBody>
      </p:sp>
      <p:sp>
        <p:nvSpPr>
          <p:cNvPr id="7" name="Shape 5"/>
          <p:cNvSpPr/>
          <p:nvPr/>
        </p:nvSpPr>
        <p:spPr>
          <a:xfrm>
            <a:off x="548640" y="1371600"/>
            <a:ext cx="3520440" cy="4526280"/>
          </a:xfrm>
          <a:prstGeom prst="roundRect">
            <a:avLst>
              <a:gd name="adj" fmla="val 2078"/>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8" name="Shape 6"/>
          <p:cNvSpPr/>
          <p:nvPr/>
        </p:nvSpPr>
        <p:spPr>
          <a:xfrm>
            <a:off x="777240" y="1600200"/>
            <a:ext cx="1417320" cy="274320"/>
          </a:xfrm>
          <a:prstGeom prst="roundRect">
            <a:avLst>
              <a:gd name="adj" fmla="val 13333"/>
            </a:avLst>
          </a:prstGeom>
          <a:solidFill>
            <a:srgbClr val="12B76A"/>
          </a:solidFill>
          <a:ln w="12700">
            <a:solidFill>
              <a:srgbClr val="12B76A"/>
            </a:solidFill>
            <a:prstDash val="solid"/>
          </a:ln>
        </p:spPr>
      </p:sp>
      <p:sp>
        <p:nvSpPr>
          <p:cNvPr id="9" name="Text 7"/>
          <p:cNvSpPr/>
          <p:nvPr/>
        </p:nvSpPr>
        <p:spPr>
          <a:xfrm>
            <a:off x="868680" y="1691640"/>
            <a:ext cx="1234440" cy="91440"/>
          </a:xfrm>
          <a:prstGeom prst="rect">
            <a:avLst/>
          </a:prstGeom>
          <a:noFill/>
          <a:ln/>
        </p:spPr>
        <p:txBody>
          <a:bodyPr wrap="square" lIns="0" tIns="0" rIns="0" bIns="0" rtlCol="0" anchor="ctr"/>
          <a:lstStyle/>
          <a:p>
            <a:pPr marL="0" indent="0" algn="ctr">
              <a:buNone/>
            </a:pPr>
            <a:r>
              <a:rPr lang="en-US" sz="860" b="1" dirty="0">
                <a:solidFill>
                  <a:srgbClr val="FFFFFF"/>
                </a:solidFill>
                <a:latin typeface="Arial" panose="020B0604020202020204" pitchFamily="34" charset="0"/>
                <a:cs typeface="Arial" panose="020B0604020202020204" pitchFamily="34" charset="0"/>
              </a:rPr>
              <a:t>Better sensor</a:t>
            </a:r>
            <a:endParaRPr lang="en-US" sz="860" dirty="0">
              <a:latin typeface="Arial" panose="020B0604020202020204" pitchFamily="34" charset="0"/>
              <a:cs typeface="Arial" panose="020B0604020202020204" pitchFamily="34" charset="0"/>
            </a:endParaRPr>
          </a:p>
        </p:txBody>
      </p:sp>
      <p:pic>
        <p:nvPicPr>
          <p:cNvPr id="10" name="Image 0" descr="/mnt/data/ekf_slam_better_sensor.png"/>
          <p:cNvPicPr>
            <a:picLocks noChangeAspect="1"/>
          </p:cNvPicPr>
          <p:nvPr/>
        </p:nvPicPr>
        <p:blipFill>
          <a:blip r:embed="rId3"/>
          <a:stretch>
            <a:fillRect/>
          </a:stretch>
        </p:blipFill>
        <p:spPr>
          <a:xfrm>
            <a:off x="866784" y="2057400"/>
            <a:ext cx="2884151" cy="2907792"/>
          </a:xfrm>
          <a:prstGeom prst="rect">
            <a:avLst/>
          </a:prstGeom>
        </p:spPr>
      </p:pic>
      <p:sp>
        <p:nvSpPr>
          <p:cNvPr id="11" name="Text 8"/>
          <p:cNvSpPr/>
          <p:nvPr/>
        </p:nvSpPr>
        <p:spPr>
          <a:xfrm>
            <a:off x="841248" y="5230368"/>
            <a:ext cx="2971800" cy="164592"/>
          </a:xfrm>
          <a:prstGeom prst="rect">
            <a:avLst/>
          </a:prstGeom>
          <a:noFill/>
          <a:ln/>
        </p:spPr>
        <p:txBody>
          <a:bodyPr wrap="square" lIns="0" tIns="0" rIns="0" bIns="0" rtlCol="0" anchor="ctr"/>
          <a:lstStyle/>
          <a:p>
            <a:pPr marL="0" indent="0" algn="ctr">
              <a:buNone/>
            </a:pPr>
            <a:r>
              <a:rPr lang="en-US" sz="1120" b="1" dirty="0">
                <a:solidFill>
                  <a:srgbClr val="172033"/>
                </a:solidFill>
                <a:latin typeface="Arial" panose="020B0604020202020204" pitchFamily="34" charset="0"/>
                <a:cs typeface="Arial" panose="020B0604020202020204" pitchFamily="34" charset="0"/>
              </a:rPr>
              <a:t>Small ellipses: high confidence</a:t>
            </a:r>
            <a:endParaRPr lang="en-US" sz="1120" dirty="0">
              <a:latin typeface="Arial" panose="020B0604020202020204" pitchFamily="34" charset="0"/>
              <a:cs typeface="Arial" panose="020B0604020202020204" pitchFamily="34" charset="0"/>
            </a:endParaRPr>
          </a:p>
        </p:txBody>
      </p:sp>
      <p:sp>
        <p:nvSpPr>
          <p:cNvPr id="12" name="Shape 9"/>
          <p:cNvSpPr/>
          <p:nvPr/>
        </p:nvSpPr>
        <p:spPr>
          <a:xfrm>
            <a:off x="4434840" y="1371600"/>
            <a:ext cx="3520440" cy="4526280"/>
          </a:xfrm>
          <a:prstGeom prst="roundRect">
            <a:avLst>
              <a:gd name="adj" fmla="val 2078"/>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3" name="Shape 10"/>
          <p:cNvSpPr/>
          <p:nvPr/>
        </p:nvSpPr>
        <p:spPr>
          <a:xfrm>
            <a:off x="4663440" y="1600200"/>
            <a:ext cx="1417320" cy="274320"/>
          </a:xfrm>
          <a:prstGeom prst="roundRect">
            <a:avLst>
              <a:gd name="adj" fmla="val 13333"/>
            </a:avLst>
          </a:prstGeom>
          <a:solidFill>
            <a:srgbClr val="2E6BFF"/>
          </a:solidFill>
          <a:ln w="12700">
            <a:solidFill>
              <a:srgbClr val="2E6BFF"/>
            </a:solidFill>
            <a:prstDash val="solid"/>
          </a:ln>
        </p:spPr>
      </p:sp>
      <p:sp>
        <p:nvSpPr>
          <p:cNvPr id="14" name="Text 11"/>
          <p:cNvSpPr/>
          <p:nvPr/>
        </p:nvSpPr>
        <p:spPr>
          <a:xfrm>
            <a:off x="4754880" y="1691640"/>
            <a:ext cx="1234440" cy="91440"/>
          </a:xfrm>
          <a:prstGeom prst="rect">
            <a:avLst/>
          </a:prstGeom>
          <a:noFill/>
          <a:ln/>
        </p:spPr>
        <p:txBody>
          <a:bodyPr wrap="square" lIns="0" tIns="0" rIns="0" bIns="0" rtlCol="0" anchor="ctr"/>
          <a:lstStyle/>
          <a:p>
            <a:pPr marL="0" indent="0" algn="ctr">
              <a:buNone/>
            </a:pPr>
            <a:r>
              <a:rPr lang="en-US" sz="860" b="1" dirty="0">
                <a:solidFill>
                  <a:srgbClr val="FFFFFF"/>
                </a:solidFill>
                <a:latin typeface="Arial" panose="020B0604020202020204" pitchFamily="34" charset="0"/>
                <a:cs typeface="Arial" panose="020B0604020202020204" pitchFamily="34" charset="0"/>
              </a:rPr>
              <a:t>Original sensor</a:t>
            </a:r>
            <a:endParaRPr lang="en-US" sz="860" dirty="0">
              <a:latin typeface="Arial" panose="020B0604020202020204" pitchFamily="34" charset="0"/>
              <a:cs typeface="Arial" panose="020B0604020202020204" pitchFamily="34" charset="0"/>
            </a:endParaRPr>
          </a:p>
        </p:txBody>
      </p:sp>
      <p:pic>
        <p:nvPicPr>
          <p:cNvPr id="15" name="Image 1" descr="/mnt/data/ekf_slam_original_sensor.png"/>
          <p:cNvPicPr>
            <a:picLocks noChangeAspect="1"/>
          </p:cNvPicPr>
          <p:nvPr/>
        </p:nvPicPr>
        <p:blipFill>
          <a:blip r:embed="rId4"/>
          <a:stretch>
            <a:fillRect/>
          </a:stretch>
        </p:blipFill>
        <p:spPr>
          <a:xfrm>
            <a:off x="4705042" y="2057400"/>
            <a:ext cx="2980035" cy="2907792"/>
          </a:xfrm>
          <a:prstGeom prst="rect">
            <a:avLst/>
          </a:prstGeom>
        </p:spPr>
      </p:pic>
      <p:sp>
        <p:nvSpPr>
          <p:cNvPr id="16" name="Text 12"/>
          <p:cNvSpPr/>
          <p:nvPr/>
        </p:nvSpPr>
        <p:spPr>
          <a:xfrm>
            <a:off x="4727448" y="5230368"/>
            <a:ext cx="2971800" cy="164592"/>
          </a:xfrm>
          <a:prstGeom prst="rect">
            <a:avLst/>
          </a:prstGeom>
          <a:noFill/>
          <a:ln/>
        </p:spPr>
        <p:txBody>
          <a:bodyPr wrap="square" lIns="0" tIns="0" rIns="0" bIns="0" rtlCol="0" anchor="ctr"/>
          <a:lstStyle/>
          <a:p>
            <a:pPr marL="0" indent="0" algn="ctr">
              <a:buNone/>
            </a:pPr>
            <a:r>
              <a:rPr lang="en-US" sz="1120" b="1" dirty="0">
                <a:solidFill>
                  <a:srgbClr val="172033"/>
                </a:solidFill>
                <a:latin typeface="Arial" panose="020B0604020202020204" pitchFamily="34" charset="0"/>
                <a:cs typeface="Arial" panose="020B0604020202020204" pitchFamily="34" charset="0"/>
              </a:rPr>
              <a:t>Medium ellipses: baseline confidence</a:t>
            </a:r>
            <a:endParaRPr lang="en-US" sz="1120" dirty="0">
              <a:latin typeface="Arial" panose="020B0604020202020204" pitchFamily="34" charset="0"/>
              <a:cs typeface="Arial" panose="020B0604020202020204" pitchFamily="34" charset="0"/>
            </a:endParaRPr>
          </a:p>
        </p:txBody>
      </p:sp>
      <p:sp>
        <p:nvSpPr>
          <p:cNvPr id="17" name="Shape 13"/>
          <p:cNvSpPr/>
          <p:nvPr/>
        </p:nvSpPr>
        <p:spPr>
          <a:xfrm>
            <a:off x="8321040" y="1371600"/>
            <a:ext cx="3520440" cy="4526280"/>
          </a:xfrm>
          <a:prstGeom prst="roundRect">
            <a:avLst>
              <a:gd name="adj" fmla="val 2078"/>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8" name="Shape 14"/>
          <p:cNvSpPr/>
          <p:nvPr/>
        </p:nvSpPr>
        <p:spPr>
          <a:xfrm>
            <a:off x="8549640" y="1600200"/>
            <a:ext cx="1417320" cy="274320"/>
          </a:xfrm>
          <a:prstGeom prst="roundRect">
            <a:avLst>
              <a:gd name="adj" fmla="val 13333"/>
            </a:avLst>
          </a:prstGeom>
          <a:solidFill>
            <a:srgbClr val="E03131"/>
          </a:solidFill>
          <a:ln w="12700">
            <a:solidFill>
              <a:srgbClr val="E03131"/>
            </a:solidFill>
            <a:prstDash val="solid"/>
          </a:ln>
        </p:spPr>
      </p:sp>
      <p:sp>
        <p:nvSpPr>
          <p:cNvPr id="19" name="Text 15"/>
          <p:cNvSpPr/>
          <p:nvPr/>
        </p:nvSpPr>
        <p:spPr>
          <a:xfrm>
            <a:off x="8641080" y="1691640"/>
            <a:ext cx="1234440" cy="91440"/>
          </a:xfrm>
          <a:prstGeom prst="rect">
            <a:avLst/>
          </a:prstGeom>
          <a:noFill/>
          <a:ln/>
        </p:spPr>
        <p:txBody>
          <a:bodyPr wrap="square" lIns="0" tIns="0" rIns="0" bIns="0" rtlCol="0" anchor="ctr"/>
          <a:lstStyle/>
          <a:p>
            <a:pPr marL="0" indent="0" algn="ctr">
              <a:buNone/>
            </a:pPr>
            <a:r>
              <a:rPr lang="en-US" sz="860" b="1" dirty="0">
                <a:solidFill>
                  <a:srgbClr val="FFFFFF"/>
                </a:solidFill>
                <a:latin typeface="Arial" panose="020B0604020202020204" pitchFamily="34" charset="0"/>
                <a:cs typeface="Arial" panose="020B0604020202020204" pitchFamily="34" charset="0"/>
              </a:rPr>
              <a:t>Worse sensor</a:t>
            </a:r>
            <a:endParaRPr lang="en-US" sz="860" dirty="0">
              <a:latin typeface="Arial" panose="020B0604020202020204" pitchFamily="34" charset="0"/>
              <a:cs typeface="Arial" panose="020B0604020202020204" pitchFamily="34" charset="0"/>
            </a:endParaRPr>
          </a:p>
        </p:txBody>
      </p:sp>
      <p:pic>
        <p:nvPicPr>
          <p:cNvPr id="20" name="Image 2" descr="/mnt/data/ekf_slam_worse_sensor.png"/>
          <p:cNvPicPr>
            <a:picLocks noChangeAspect="1"/>
          </p:cNvPicPr>
          <p:nvPr/>
        </p:nvPicPr>
        <p:blipFill>
          <a:blip r:embed="rId5"/>
          <a:stretch>
            <a:fillRect/>
          </a:stretch>
        </p:blipFill>
        <p:spPr>
          <a:xfrm>
            <a:off x="8618220" y="2057400"/>
            <a:ext cx="2926080" cy="2907792"/>
          </a:xfrm>
          <a:prstGeom prst="rect">
            <a:avLst/>
          </a:prstGeom>
        </p:spPr>
      </p:pic>
      <p:sp>
        <p:nvSpPr>
          <p:cNvPr id="21" name="Text 16"/>
          <p:cNvSpPr/>
          <p:nvPr/>
        </p:nvSpPr>
        <p:spPr>
          <a:xfrm>
            <a:off x="8613648" y="5230368"/>
            <a:ext cx="2971800" cy="164592"/>
          </a:xfrm>
          <a:prstGeom prst="rect">
            <a:avLst/>
          </a:prstGeom>
          <a:noFill/>
          <a:ln/>
        </p:spPr>
        <p:txBody>
          <a:bodyPr wrap="square" lIns="0" tIns="0" rIns="0" bIns="0" rtlCol="0" anchor="ctr"/>
          <a:lstStyle/>
          <a:p>
            <a:pPr marL="0" indent="0" algn="ctr">
              <a:buNone/>
            </a:pPr>
            <a:r>
              <a:rPr lang="en-US" sz="1120" b="1" dirty="0">
                <a:solidFill>
                  <a:srgbClr val="172033"/>
                </a:solidFill>
                <a:latin typeface="Arial" panose="020B0604020202020204" pitchFamily="34" charset="0"/>
                <a:cs typeface="Arial" panose="020B0604020202020204" pitchFamily="34" charset="0"/>
              </a:rPr>
              <a:t>Large ellipses: low confidence</a:t>
            </a:r>
            <a:endParaRPr lang="en-US" sz="1120" dirty="0">
              <a:latin typeface="Arial" panose="020B0604020202020204" pitchFamily="34" charset="0"/>
              <a:cs typeface="Arial" panose="020B0604020202020204" pitchFamily="34" charset="0"/>
            </a:endParaRPr>
          </a:p>
        </p:txBody>
      </p:sp>
      <p:sp>
        <p:nvSpPr>
          <p:cNvPr id="22" name="Text 17"/>
          <p:cNvSpPr/>
          <p:nvPr/>
        </p:nvSpPr>
        <p:spPr>
          <a:xfrm>
            <a:off x="1005840" y="6199632"/>
            <a:ext cx="10149840" cy="201168"/>
          </a:xfrm>
          <a:prstGeom prst="rect">
            <a:avLst/>
          </a:prstGeom>
          <a:noFill/>
          <a:ln/>
        </p:spPr>
        <p:txBody>
          <a:bodyPr wrap="square" lIns="0" tIns="0" rIns="0" bIns="0" rtlCol="0" anchor="ctr">
            <a:normAutofit/>
          </a:bodyPr>
          <a:lstStyle/>
          <a:p>
            <a:pPr marL="0" indent="0" algn="ctr">
              <a:buNone/>
            </a:pPr>
            <a:r>
              <a:rPr lang="en-US" sz="1120" dirty="0">
                <a:solidFill>
                  <a:srgbClr val="667085"/>
                </a:solidFill>
                <a:latin typeface="Arial" panose="020B0604020202020204" pitchFamily="34" charset="0"/>
                <a:cs typeface="Arial" panose="020B0604020202020204" pitchFamily="34" charset="0"/>
              </a:rPr>
              <a:t>Red ellipses show 95% confidence regions for the estimated robot and landmarks. Larger ellipses mean higher covariance and lower certainty.</a:t>
            </a:r>
            <a:endParaRPr lang="en-US" sz="112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endParaRPr lang="en-US" sz="850" dirty="0">
              <a:latin typeface="Arial" panose="020B0604020202020204" pitchFamily="34" charset="0"/>
              <a:cs typeface="Arial" panose="020B0604020202020204" pitchFamily="34" charset="0"/>
            </a:endParaRPr>
          </a:p>
        </p:txBody>
      </p:sp>
      <p:sp>
        <p:nvSpPr>
          <p:cNvPr id="4" name="Text 2"/>
          <p:cNvSpPr/>
          <p:nvPr/>
        </p:nvSpPr>
        <p:spPr>
          <a:xfrm>
            <a:off x="548640" y="658368"/>
            <a:ext cx="10789920" cy="475488"/>
          </a:xfrm>
          <a:prstGeom prst="rect">
            <a:avLst/>
          </a:prstGeom>
          <a:noFill/>
          <a:ln/>
        </p:spPr>
        <p:txBody>
          <a:bodyPr wrap="square" lIns="0" tIns="0" rIns="0" bIns="0" rtlCol="0" anchor="ctr">
            <a:normAutofit/>
          </a:bodyPr>
          <a:lstStyle/>
          <a:p>
            <a:pPr marL="0" indent="0">
              <a:buNone/>
            </a:pPr>
            <a:r>
              <a:rPr lang="en-US" sz="2800" b="1" dirty="0">
                <a:solidFill>
                  <a:srgbClr val="172033"/>
                </a:solidFill>
                <a:latin typeface="Arial" panose="020B0604020202020204" pitchFamily="34" charset="0"/>
                <a:ea typeface="Aptos Display" pitchFamily="34" charset="-122"/>
                <a:cs typeface="Arial" panose="020B0604020202020204" pitchFamily="34" charset="0"/>
              </a:rPr>
              <a:t>Why the three EKF-SLAM outputs differ</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548640" y="6473952"/>
            <a:ext cx="2926080" cy="201168"/>
          </a:xfrm>
          <a:prstGeom prst="rect">
            <a:avLst/>
          </a:prstGeom>
          <a:noFill/>
          <a:ln/>
        </p:spPr>
        <p:txBody>
          <a:bodyPr wrap="square" lIns="0" tIns="0" rIns="0" bIns="0" rtlCol="0" anchor="ctr"/>
          <a:lstStyle/>
          <a:p>
            <a:pPr marL="0" indent="0">
              <a:buNone/>
            </a:pPr>
            <a:r>
              <a:rPr lang="en-US" sz="850" dirty="0">
                <a:solidFill>
                  <a:srgbClr val="98A2B3"/>
                </a:solidFill>
                <a:latin typeface="Arial" panose="020B0604020202020204" pitchFamily="34" charset="0"/>
                <a:ea typeface="Aptos" pitchFamily="34" charset="-122"/>
                <a:cs typeface="Arial" panose="020B0604020202020204" pitchFamily="34" charset="0"/>
              </a:rPr>
              <a:t>A3 State Estimation</a:t>
            </a:r>
            <a:endParaRPr lang="en-US" sz="850" dirty="0">
              <a:latin typeface="Arial" panose="020B0604020202020204" pitchFamily="34" charset="0"/>
              <a:cs typeface="Arial" panose="020B0604020202020204" pitchFamily="34" charset="0"/>
            </a:endParaRPr>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solidFill>
                  <a:srgbClr val="98A2B3"/>
                </a:solidFill>
                <a:latin typeface="Arial" panose="020B0604020202020204" pitchFamily="34" charset="0"/>
                <a:ea typeface="Aptos" pitchFamily="34" charset="-122"/>
                <a:cs typeface="Arial" panose="020B0604020202020204" pitchFamily="34" charset="0"/>
              </a:rPr>
              <a:t>12</a:t>
            </a:r>
            <a:endParaRPr lang="en-US" sz="850" dirty="0">
              <a:latin typeface="Arial" panose="020B0604020202020204" pitchFamily="34" charset="0"/>
              <a:cs typeface="Arial" panose="020B0604020202020204" pitchFamily="34" charset="0"/>
            </a:endParaRPr>
          </a:p>
        </p:txBody>
      </p:sp>
      <p:sp>
        <p:nvSpPr>
          <p:cNvPr id="7" name="Shape 5"/>
          <p:cNvSpPr/>
          <p:nvPr/>
        </p:nvSpPr>
        <p:spPr>
          <a:xfrm>
            <a:off x="2834640" y="2176272"/>
            <a:ext cx="1371600" cy="0"/>
          </a:xfrm>
          <a:prstGeom prst="line">
            <a:avLst/>
          </a:prstGeom>
          <a:noFill/>
          <a:ln w="25400">
            <a:solidFill>
              <a:srgbClr val="667085"/>
            </a:solidFill>
            <a:prstDash val="solid"/>
            <a:headEnd type="none"/>
            <a:tailEnd type="triangle"/>
          </a:ln>
        </p:spPr>
      </p:sp>
      <p:sp>
        <p:nvSpPr>
          <p:cNvPr id="8" name="Shape 6"/>
          <p:cNvSpPr/>
          <p:nvPr/>
        </p:nvSpPr>
        <p:spPr>
          <a:xfrm>
            <a:off x="6309360" y="2176272"/>
            <a:ext cx="1371600" cy="0"/>
          </a:xfrm>
          <a:prstGeom prst="line">
            <a:avLst/>
          </a:prstGeom>
          <a:noFill/>
          <a:ln w="25400">
            <a:solidFill>
              <a:srgbClr val="667085"/>
            </a:solidFill>
            <a:prstDash val="solid"/>
            <a:headEnd type="none"/>
            <a:tailEnd type="triangle"/>
          </a:ln>
        </p:spPr>
      </p:sp>
      <p:sp>
        <p:nvSpPr>
          <p:cNvPr id="9" name="Shape 7"/>
          <p:cNvSpPr/>
          <p:nvPr/>
        </p:nvSpPr>
        <p:spPr>
          <a:xfrm>
            <a:off x="731520" y="1600200"/>
            <a:ext cx="2148840" cy="1143000"/>
          </a:xfrm>
          <a:prstGeom prst="roundRect">
            <a:avLst>
              <a:gd name="adj" fmla="val 6400"/>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0" name="Text 8"/>
          <p:cNvSpPr/>
          <p:nvPr/>
        </p:nvSpPr>
        <p:spPr>
          <a:xfrm>
            <a:off x="960120" y="1874520"/>
            <a:ext cx="1691640" cy="182880"/>
          </a:xfrm>
          <a:prstGeom prst="rect">
            <a:avLst/>
          </a:prstGeom>
          <a:noFill/>
          <a:ln/>
        </p:spPr>
        <p:txBody>
          <a:bodyPr wrap="square" lIns="0" tIns="0" rIns="0" bIns="0" rtlCol="0" anchor="ctr"/>
          <a:lstStyle/>
          <a:p>
            <a:pPr marL="0" indent="0" algn="ctr">
              <a:buNone/>
            </a:pPr>
            <a:r>
              <a:rPr lang="en-US" sz="1500" b="1" dirty="0">
                <a:solidFill>
                  <a:srgbClr val="172033"/>
                </a:solidFill>
                <a:latin typeface="Arial" panose="020B0604020202020204" pitchFamily="34" charset="0"/>
                <a:cs typeface="Arial" panose="020B0604020202020204" pitchFamily="34" charset="0"/>
              </a:rPr>
              <a:t>Sensor covariance R</a:t>
            </a:r>
            <a:endParaRPr lang="en-US" sz="1500" dirty="0">
              <a:latin typeface="Arial" panose="020B0604020202020204" pitchFamily="34" charset="0"/>
              <a:cs typeface="Arial" panose="020B0604020202020204" pitchFamily="34" charset="0"/>
            </a:endParaRPr>
          </a:p>
        </p:txBody>
      </p:sp>
      <p:sp>
        <p:nvSpPr>
          <p:cNvPr id="11" name="Text 9"/>
          <p:cNvSpPr/>
          <p:nvPr/>
        </p:nvSpPr>
        <p:spPr>
          <a:xfrm>
            <a:off x="960120" y="2240280"/>
            <a:ext cx="1691640" cy="146304"/>
          </a:xfrm>
          <a:prstGeom prst="rect">
            <a:avLst/>
          </a:prstGeom>
          <a:noFill/>
          <a:ln/>
        </p:spPr>
        <p:txBody>
          <a:bodyPr wrap="square" lIns="0" tIns="0" rIns="0" bIns="0" rtlCol="0" anchor="ctr"/>
          <a:lstStyle/>
          <a:p>
            <a:pPr marL="0" indent="0" algn="ctr">
              <a:buNone/>
            </a:pPr>
            <a:r>
              <a:rPr lang="en-US" sz="950" dirty="0">
                <a:solidFill>
                  <a:srgbClr val="667085"/>
                </a:solidFill>
                <a:latin typeface="Arial" panose="020B0604020202020204" pitchFamily="34" charset="0"/>
                <a:cs typeface="Arial" panose="020B0604020202020204" pitchFamily="34" charset="0"/>
              </a:rPr>
              <a:t>bearing + range noise</a:t>
            </a:r>
            <a:endParaRPr lang="en-US" sz="950" dirty="0">
              <a:latin typeface="Arial" panose="020B0604020202020204" pitchFamily="34" charset="0"/>
              <a:cs typeface="Arial" panose="020B0604020202020204" pitchFamily="34" charset="0"/>
            </a:endParaRPr>
          </a:p>
        </p:txBody>
      </p:sp>
      <p:sp>
        <p:nvSpPr>
          <p:cNvPr id="12" name="Shape 10"/>
          <p:cNvSpPr/>
          <p:nvPr/>
        </p:nvSpPr>
        <p:spPr>
          <a:xfrm>
            <a:off x="4206240" y="1600200"/>
            <a:ext cx="2148840" cy="1143000"/>
          </a:xfrm>
          <a:prstGeom prst="roundRect">
            <a:avLst>
              <a:gd name="adj" fmla="val 6400"/>
            </a:avLst>
          </a:prstGeom>
          <a:solidFill>
            <a:srgbClr val="EEF4FF"/>
          </a:solidFill>
          <a:ln w="12700">
            <a:solidFill>
              <a:srgbClr val="C7D7FE">
                <a:alpha val="80000"/>
              </a:srgbClr>
            </a:solidFill>
            <a:prstDash val="solid"/>
          </a:ln>
          <a:effectLst>
            <a:outerShdw blurRad="12700" dist="50800" dir="2700000" algn="bl" rotWithShape="0">
              <a:srgbClr val="000000">
                <a:alpha val="8000"/>
              </a:srgbClr>
            </a:outerShdw>
          </a:effectLst>
        </p:spPr>
      </p:sp>
      <p:sp>
        <p:nvSpPr>
          <p:cNvPr id="13" name="Text 11"/>
          <p:cNvSpPr/>
          <p:nvPr/>
        </p:nvSpPr>
        <p:spPr>
          <a:xfrm>
            <a:off x="4590288" y="1874520"/>
            <a:ext cx="1371600" cy="182880"/>
          </a:xfrm>
          <a:prstGeom prst="rect">
            <a:avLst/>
          </a:prstGeom>
          <a:noFill/>
          <a:ln/>
        </p:spPr>
        <p:txBody>
          <a:bodyPr wrap="square" lIns="0" tIns="0" rIns="0" bIns="0" rtlCol="0" anchor="ctr"/>
          <a:lstStyle/>
          <a:p>
            <a:pPr marL="0" indent="0" algn="ctr">
              <a:buNone/>
            </a:pPr>
            <a:r>
              <a:rPr lang="en-US" sz="1500" b="1" dirty="0">
                <a:solidFill>
                  <a:srgbClr val="2E6BFF"/>
                </a:solidFill>
                <a:latin typeface="Arial" panose="020B0604020202020204" pitchFamily="34" charset="0"/>
                <a:cs typeface="Arial" panose="020B0604020202020204" pitchFamily="34" charset="0"/>
              </a:rPr>
              <a:t>Kalman gain K</a:t>
            </a:r>
            <a:endParaRPr lang="en-US" sz="1500" dirty="0">
              <a:latin typeface="Arial" panose="020B0604020202020204" pitchFamily="34" charset="0"/>
              <a:cs typeface="Arial" panose="020B0604020202020204" pitchFamily="34" charset="0"/>
            </a:endParaRPr>
          </a:p>
        </p:txBody>
      </p:sp>
      <p:sp>
        <p:nvSpPr>
          <p:cNvPr id="14" name="Text 12"/>
          <p:cNvSpPr/>
          <p:nvPr/>
        </p:nvSpPr>
        <p:spPr>
          <a:xfrm>
            <a:off x="4526280" y="2240280"/>
            <a:ext cx="1554480" cy="146304"/>
          </a:xfrm>
          <a:prstGeom prst="rect">
            <a:avLst/>
          </a:prstGeom>
          <a:noFill/>
          <a:ln/>
        </p:spPr>
        <p:txBody>
          <a:bodyPr wrap="square" lIns="0" tIns="0" rIns="0" bIns="0" rtlCol="0" anchor="ctr"/>
          <a:lstStyle/>
          <a:p>
            <a:pPr marL="0" indent="0" algn="ctr">
              <a:buNone/>
            </a:pPr>
            <a:r>
              <a:rPr lang="en-US" sz="950" dirty="0">
                <a:solidFill>
                  <a:srgbClr val="2E6BFF"/>
                </a:solidFill>
                <a:latin typeface="Arial" panose="020B0604020202020204" pitchFamily="34" charset="0"/>
                <a:cs typeface="Arial" panose="020B0604020202020204" pitchFamily="34" charset="0"/>
              </a:rPr>
              <a:t>trust sensor vs prediction</a:t>
            </a:r>
            <a:endParaRPr lang="en-US" sz="950" dirty="0">
              <a:latin typeface="Arial" panose="020B0604020202020204" pitchFamily="34" charset="0"/>
              <a:cs typeface="Arial" panose="020B0604020202020204" pitchFamily="34" charset="0"/>
            </a:endParaRPr>
          </a:p>
        </p:txBody>
      </p:sp>
      <p:sp>
        <p:nvSpPr>
          <p:cNvPr id="15" name="Shape 13"/>
          <p:cNvSpPr/>
          <p:nvPr/>
        </p:nvSpPr>
        <p:spPr>
          <a:xfrm>
            <a:off x="7680960" y="1600200"/>
            <a:ext cx="2148840" cy="1143000"/>
          </a:xfrm>
          <a:prstGeom prst="roundRect">
            <a:avLst>
              <a:gd name="adj" fmla="val 6400"/>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16" name="Text 14"/>
          <p:cNvSpPr/>
          <p:nvPr/>
        </p:nvSpPr>
        <p:spPr>
          <a:xfrm>
            <a:off x="8110728" y="1874520"/>
            <a:ext cx="1280160" cy="182880"/>
          </a:xfrm>
          <a:prstGeom prst="rect">
            <a:avLst/>
          </a:prstGeom>
          <a:noFill/>
          <a:ln/>
        </p:spPr>
        <p:txBody>
          <a:bodyPr wrap="square" lIns="0" tIns="0" rIns="0" bIns="0" rtlCol="0" anchor="ctr"/>
          <a:lstStyle/>
          <a:p>
            <a:pPr marL="0" indent="0" algn="ctr">
              <a:buNone/>
            </a:pPr>
            <a:r>
              <a:rPr lang="en-US" sz="1500" b="1" dirty="0">
                <a:solidFill>
                  <a:srgbClr val="172033"/>
                </a:solidFill>
                <a:latin typeface="Arial" panose="020B0604020202020204" pitchFamily="34" charset="0"/>
                <a:cs typeface="Arial" panose="020B0604020202020204" pitchFamily="34" charset="0"/>
              </a:rPr>
              <a:t>Covariance P</a:t>
            </a:r>
            <a:endParaRPr lang="en-US" sz="1500" dirty="0">
              <a:latin typeface="Arial" panose="020B0604020202020204" pitchFamily="34" charset="0"/>
              <a:cs typeface="Arial" panose="020B0604020202020204" pitchFamily="34" charset="0"/>
            </a:endParaRPr>
          </a:p>
        </p:txBody>
      </p:sp>
      <p:sp>
        <p:nvSpPr>
          <p:cNvPr id="17" name="Text 15"/>
          <p:cNvSpPr/>
          <p:nvPr/>
        </p:nvSpPr>
        <p:spPr>
          <a:xfrm>
            <a:off x="8074152" y="2240280"/>
            <a:ext cx="1325880" cy="146304"/>
          </a:xfrm>
          <a:prstGeom prst="rect">
            <a:avLst/>
          </a:prstGeom>
          <a:noFill/>
          <a:ln/>
        </p:spPr>
        <p:txBody>
          <a:bodyPr wrap="square" lIns="0" tIns="0" rIns="0" bIns="0" rtlCol="0" anchor="ctr"/>
          <a:lstStyle/>
          <a:p>
            <a:pPr marL="0" indent="0" algn="ctr">
              <a:buNone/>
            </a:pPr>
            <a:r>
              <a:rPr lang="en-US" sz="950" dirty="0">
                <a:solidFill>
                  <a:srgbClr val="667085"/>
                </a:solidFill>
                <a:latin typeface="Arial" panose="020B0604020202020204" pitchFamily="34" charset="0"/>
                <a:cs typeface="Arial" panose="020B0604020202020204" pitchFamily="34" charset="0"/>
              </a:rPr>
              <a:t>ellipse size in plot</a:t>
            </a:r>
            <a:endParaRPr lang="en-US" sz="950" dirty="0">
              <a:latin typeface="Arial" panose="020B0604020202020204" pitchFamily="34" charset="0"/>
              <a:cs typeface="Arial" panose="020B0604020202020204" pitchFamily="34" charset="0"/>
            </a:endParaRPr>
          </a:p>
        </p:txBody>
      </p:sp>
      <p:sp>
        <p:nvSpPr>
          <p:cNvPr id="18" name="Shape 16"/>
          <p:cNvSpPr/>
          <p:nvPr/>
        </p:nvSpPr>
        <p:spPr>
          <a:xfrm>
            <a:off x="868680" y="3566160"/>
            <a:ext cx="146304" cy="146304"/>
          </a:xfrm>
          <a:prstGeom prst="ellipse">
            <a:avLst/>
          </a:prstGeom>
          <a:solidFill>
            <a:srgbClr val="12B76A"/>
          </a:solidFill>
          <a:ln w="12700">
            <a:solidFill>
              <a:srgbClr val="12B76A"/>
            </a:solidFill>
            <a:prstDash val="solid"/>
          </a:ln>
        </p:spPr>
      </p:sp>
      <p:sp>
        <p:nvSpPr>
          <p:cNvPr id="19" name="Text 17"/>
          <p:cNvSpPr/>
          <p:nvPr/>
        </p:nvSpPr>
        <p:spPr>
          <a:xfrm>
            <a:off x="1115568" y="3520440"/>
            <a:ext cx="1417320" cy="155448"/>
          </a:xfrm>
          <a:prstGeom prst="rect">
            <a:avLst/>
          </a:prstGeom>
          <a:noFill/>
          <a:ln/>
        </p:spPr>
        <p:txBody>
          <a:bodyPr wrap="square" lIns="0" tIns="0" rIns="0" bIns="0" rtlCol="0" anchor="ctr"/>
          <a:lstStyle/>
          <a:p>
            <a:pPr marL="0" indent="0">
              <a:buNone/>
            </a:pPr>
            <a:r>
              <a:rPr lang="en-US" sz="1150" b="1" dirty="0">
                <a:solidFill>
                  <a:srgbClr val="172033"/>
                </a:solidFill>
                <a:latin typeface="Arial" panose="020B0604020202020204" pitchFamily="34" charset="0"/>
                <a:cs typeface="Arial" panose="020B0604020202020204" pitchFamily="34" charset="0"/>
              </a:rPr>
              <a:t>Better sensor</a:t>
            </a:r>
            <a:endParaRPr lang="en-US" sz="1150" dirty="0">
              <a:latin typeface="Arial" panose="020B0604020202020204" pitchFamily="34" charset="0"/>
              <a:cs typeface="Arial" panose="020B0604020202020204" pitchFamily="34" charset="0"/>
            </a:endParaRPr>
          </a:p>
        </p:txBody>
      </p:sp>
      <p:sp>
        <p:nvSpPr>
          <p:cNvPr id="20" name="Text 18"/>
          <p:cNvSpPr/>
          <p:nvPr/>
        </p:nvSpPr>
        <p:spPr>
          <a:xfrm>
            <a:off x="2788920" y="3520440"/>
            <a:ext cx="201168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Lower measurement noise</a:t>
            </a:r>
            <a:endParaRPr lang="en-US" sz="1120" dirty="0">
              <a:latin typeface="Arial" panose="020B0604020202020204" pitchFamily="34" charset="0"/>
              <a:cs typeface="Arial" panose="020B0604020202020204" pitchFamily="34" charset="0"/>
            </a:endParaRPr>
          </a:p>
        </p:txBody>
      </p:sp>
      <p:sp>
        <p:nvSpPr>
          <p:cNvPr id="21" name="Text 19"/>
          <p:cNvSpPr/>
          <p:nvPr/>
        </p:nvSpPr>
        <p:spPr>
          <a:xfrm>
            <a:off x="5120640" y="3520440"/>
            <a:ext cx="233172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Filter trusts measurements more</a:t>
            </a:r>
            <a:endParaRPr lang="en-US" sz="1120" dirty="0">
              <a:latin typeface="Arial" panose="020B0604020202020204" pitchFamily="34" charset="0"/>
              <a:cs typeface="Arial" panose="020B0604020202020204" pitchFamily="34" charset="0"/>
            </a:endParaRPr>
          </a:p>
        </p:txBody>
      </p:sp>
      <p:sp>
        <p:nvSpPr>
          <p:cNvPr id="22" name="Text 20"/>
          <p:cNvSpPr/>
          <p:nvPr/>
        </p:nvSpPr>
        <p:spPr>
          <a:xfrm>
            <a:off x="7818120" y="3520440"/>
            <a:ext cx="306324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Tighter ellipses, clearer landmark estimates</a:t>
            </a:r>
            <a:endParaRPr lang="en-US" sz="1120" dirty="0">
              <a:latin typeface="Arial" panose="020B0604020202020204" pitchFamily="34" charset="0"/>
              <a:cs typeface="Arial" panose="020B0604020202020204" pitchFamily="34" charset="0"/>
            </a:endParaRPr>
          </a:p>
        </p:txBody>
      </p:sp>
      <p:sp>
        <p:nvSpPr>
          <p:cNvPr id="23" name="Shape 21"/>
          <p:cNvSpPr/>
          <p:nvPr/>
        </p:nvSpPr>
        <p:spPr>
          <a:xfrm>
            <a:off x="868680" y="4279392"/>
            <a:ext cx="146304" cy="146304"/>
          </a:xfrm>
          <a:prstGeom prst="ellipse">
            <a:avLst/>
          </a:prstGeom>
          <a:solidFill>
            <a:srgbClr val="2E6BFF"/>
          </a:solidFill>
          <a:ln w="12700">
            <a:solidFill>
              <a:srgbClr val="2E6BFF"/>
            </a:solidFill>
            <a:prstDash val="solid"/>
          </a:ln>
        </p:spPr>
      </p:sp>
      <p:sp>
        <p:nvSpPr>
          <p:cNvPr id="24" name="Text 22"/>
          <p:cNvSpPr/>
          <p:nvPr/>
        </p:nvSpPr>
        <p:spPr>
          <a:xfrm>
            <a:off x="1115568" y="4233672"/>
            <a:ext cx="1417320" cy="155448"/>
          </a:xfrm>
          <a:prstGeom prst="rect">
            <a:avLst/>
          </a:prstGeom>
          <a:noFill/>
          <a:ln/>
        </p:spPr>
        <p:txBody>
          <a:bodyPr wrap="square" lIns="0" tIns="0" rIns="0" bIns="0" rtlCol="0" anchor="ctr"/>
          <a:lstStyle/>
          <a:p>
            <a:pPr marL="0" indent="0">
              <a:buNone/>
            </a:pPr>
            <a:r>
              <a:rPr lang="en-US" sz="1150" b="1" dirty="0">
                <a:solidFill>
                  <a:srgbClr val="172033"/>
                </a:solidFill>
                <a:latin typeface="Arial" panose="020B0604020202020204" pitchFamily="34" charset="0"/>
                <a:cs typeface="Arial" panose="020B0604020202020204" pitchFamily="34" charset="0"/>
              </a:rPr>
              <a:t>Original sensor</a:t>
            </a:r>
            <a:endParaRPr lang="en-US" sz="1150" dirty="0">
              <a:latin typeface="Arial" panose="020B0604020202020204" pitchFamily="34" charset="0"/>
              <a:cs typeface="Arial" panose="020B0604020202020204" pitchFamily="34" charset="0"/>
            </a:endParaRPr>
          </a:p>
        </p:txBody>
      </p:sp>
      <p:sp>
        <p:nvSpPr>
          <p:cNvPr id="25" name="Text 23"/>
          <p:cNvSpPr/>
          <p:nvPr/>
        </p:nvSpPr>
        <p:spPr>
          <a:xfrm>
            <a:off x="2788920" y="4233672"/>
            <a:ext cx="201168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Moderate measurement noise</a:t>
            </a:r>
            <a:endParaRPr lang="en-US" sz="1120" dirty="0">
              <a:latin typeface="Arial" panose="020B0604020202020204" pitchFamily="34" charset="0"/>
              <a:cs typeface="Arial" panose="020B0604020202020204" pitchFamily="34" charset="0"/>
            </a:endParaRPr>
          </a:p>
        </p:txBody>
      </p:sp>
      <p:sp>
        <p:nvSpPr>
          <p:cNvPr id="26" name="Text 24"/>
          <p:cNvSpPr/>
          <p:nvPr/>
        </p:nvSpPr>
        <p:spPr>
          <a:xfrm>
            <a:off x="5120640" y="4233672"/>
            <a:ext cx="233172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Balanced prediction and measurement</a:t>
            </a:r>
            <a:endParaRPr lang="en-US" sz="1120" dirty="0">
              <a:latin typeface="Arial" panose="020B0604020202020204" pitchFamily="34" charset="0"/>
              <a:cs typeface="Arial" panose="020B0604020202020204" pitchFamily="34" charset="0"/>
            </a:endParaRPr>
          </a:p>
        </p:txBody>
      </p:sp>
      <p:sp>
        <p:nvSpPr>
          <p:cNvPr id="27" name="Text 25"/>
          <p:cNvSpPr/>
          <p:nvPr/>
        </p:nvSpPr>
        <p:spPr>
          <a:xfrm>
            <a:off x="7818120" y="4233672"/>
            <a:ext cx="306324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Medium ellipses, expected baseline result</a:t>
            </a:r>
            <a:endParaRPr lang="en-US" sz="1120" dirty="0">
              <a:latin typeface="Arial" panose="020B0604020202020204" pitchFamily="34" charset="0"/>
              <a:cs typeface="Arial" panose="020B0604020202020204" pitchFamily="34" charset="0"/>
            </a:endParaRPr>
          </a:p>
        </p:txBody>
      </p:sp>
      <p:sp>
        <p:nvSpPr>
          <p:cNvPr id="28" name="Shape 26"/>
          <p:cNvSpPr/>
          <p:nvPr/>
        </p:nvSpPr>
        <p:spPr>
          <a:xfrm>
            <a:off x="868680" y="4992624"/>
            <a:ext cx="146304" cy="146304"/>
          </a:xfrm>
          <a:prstGeom prst="ellipse">
            <a:avLst/>
          </a:prstGeom>
          <a:solidFill>
            <a:srgbClr val="E03131"/>
          </a:solidFill>
          <a:ln w="12700">
            <a:solidFill>
              <a:srgbClr val="E03131"/>
            </a:solidFill>
            <a:prstDash val="solid"/>
          </a:ln>
        </p:spPr>
      </p:sp>
      <p:sp>
        <p:nvSpPr>
          <p:cNvPr id="29" name="Text 27"/>
          <p:cNvSpPr/>
          <p:nvPr/>
        </p:nvSpPr>
        <p:spPr>
          <a:xfrm>
            <a:off x="1115568" y="4946904"/>
            <a:ext cx="1417320" cy="155448"/>
          </a:xfrm>
          <a:prstGeom prst="rect">
            <a:avLst/>
          </a:prstGeom>
          <a:noFill/>
          <a:ln/>
        </p:spPr>
        <p:txBody>
          <a:bodyPr wrap="square" lIns="0" tIns="0" rIns="0" bIns="0" rtlCol="0" anchor="ctr"/>
          <a:lstStyle/>
          <a:p>
            <a:pPr marL="0" indent="0">
              <a:buNone/>
            </a:pPr>
            <a:r>
              <a:rPr lang="en-US" sz="1150" b="1" dirty="0">
                <a:solidFill>
                  <a:srgbClr val="172033"/>
                </a:solidFill>
                <a:latin typeface="Arial" panose="020B0604020202020204" pitchFamily="34" charset="0"/>
                <a:cs typeface="Arial" panose="020B0604020202020204" pitchFamily="34" charset="0"/>
              </a:rPr>
              <a:t>Worse sensor</a:t>
            </a:r>
            <a:endParaRPr lang="en-US" sz="1150" dirty="0">
              <a:latin typeface="Arial" panose="020B0604020202020204" pitchFamily="34" charset="0"/>
              <a:cs typeface="Arial" panose="020B0604020202020204" pitchFamily="34" charset="0"/>
            </a:endParaRPr>
          </a:p>
        </p:txBody>
      </p:sp>
      <p:sp>
        <p:nvSpPr>
          <p:cNvPr id="30" name="Text 28"/>
          <p:cNvSpPr/>
          <p:nvPr/>
        </p:nvSpPr>
        <p:spPr>
          <a:xfrm>
            <a:off x="2788920" y="4946904"/>
            <a:ext cx="201168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Higher measurement noise</a:t>
            </a:r>
            <a:endParaRPr lang="en-US" sz="1120" dirty="0">
              <a:latin typeface="Arial" panose="020B0604020202020204" pitchFamily="34" charset="0"/>
              <a:cs typeface="Arial" panose="020B0604020202020204" pitchFamily="34" charset="0"/>
            </a:endParaRPr>
          </a:p>
        </p:txBody>
      </p:sp>
      <p:sp>
        <p:nvSpPr>
          <p:cNvPr id="31" name="Text 29"/>
          <p:cNvSpPr/>
          <p:nvPr/>
        </p:nvSpPr>
        <p:spPr>
          <a:xfrm>
            <a:off x="5120640" y="4946904"/>
            <a:ext cx="233172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Filter trusts measurements less</a:t>
            </a:r>
            <a:endParaRPr lang="en-US" sz="1120" dirty="0">
              <a:latin typeface="Arial" panose="020B0604020202020204" pitchFamily="34" charset="0"/>
              <a:cs typeface="Arial" panose="020B0604020202020204" pitchFamily="34" charset="0"/>
            </a:endParaRPr>
          </a:p>
        </p:txBody>
      </p:sp>
      <p:sp>
        <p:nvSpPr>
          <p:cNvPr id="32" name="Text 30"/>
          <p:cNvSpPr/>
          <p:nvPr/>
        </p:nvSpPr>
        <p:spPr>
          <a:xfrm>
            <a:off x="7818120" y="4946904"/>
            <a:ext cx="3063240" cy="155448"/>
          </a:xfrm>
          <a:prstGeom prst="rect">
            <a:avLst/>
          </a:prstGeom>
          <a:noFill/>
          <a:ln/>
        </p:spPr>
        <p:txBody>
          <a:bodyPr wrap="square" lIns="0" tIns="0" rIns="0" bIns="0" rtlCol="0" anchor="ctr"/>
          <a:lstStyle/>
          <a:p>
            <a:pPr marL="0" indent="0">
              <a:buNone/>
            </a:pPr>
            <a:r>
              <a:rPr lang="en-US" sz="1120" dirty="0">
                <a:solidFill>
                  <a:srgbClr val="667085"/>
                </a:solidFill>
                <a:latin typeface="Arial" panose="020B0604020202020204" pitchFamily="34" charset="0"/>
                <a:cs typeface="Arial" panose="020B0604020202020204" pitchFamily="34" charset="0"/>
              </a:rPr>
              <a:t>Larger ellipses, uncertainty remains high</a:t>
            </a:r>
            <a:endParaRPr lang="en-US" sz="1120" dirty="0">
              <a:latin typeface="Arial" panose="020B0604020202020204" pitchFamily="34" charset="0"/>
              <a:cs typeface="Arial" panose="020B0604020202020204" pitchFamily="34" charset="0"/>
            </a:endParaRPr>
          </a:p>
        </p:txBody>
      </p:sp>
      <p:sp>
        <p:nvSpPr>
          <p:cNvPr id="33" name="Shape 31"/>
          <p:cNvSpPr/>
          <p:nvPr/>
        </p:nvSpPr>
        <p:spPr>
          <a:xfrm>
            <a:off x="822960" y="5833872"/>
            <a:ext cx="9966960" cy="402336"/>
          </a:xfrm>
          <a:prstGeom prst="roundRect">
            <a:avLst>
              <a:gd name="adj" fmla="val 11364"/>
            </a:avLst>
          </a:prstGeom>
          <a:solidFill>
            <a:srgbClr val="101828"/>
          </a:solidFill>
          <a:ln w="12700">
            <a:solidFill>
              <a:srgbClr val="101828"/>
            </a:solidFill>
            <a:prstDash val="solid"/>
          </a:ln>
        </p:spPr>
      </p:sp>
      <p:sp>
        <p:nvSpPr>
          <p:cNvPr id="34" name="Text 32"/>
          <p:cNvSpPr/>
          <p:nvPr/>
        </p:nvSpPr>
        <p:spPr>
          <a:xfrm>
            <a:off x="1051560" y="5961888"/>
            <a:ext cx="9509760" cy="128016"/>
          </a:xfrm>
          <a:prstGeom prst="rect">
            <a:avLst/>
          </a:prstGeom>
          <a:noFill/>
          <a:ln/>
        </p:spPr>
        <p:txBody>
          <a:bodyPr wrap="square" lIns="0" tIns="0" rIns="0" bIns="0" rtlCol="0" anchor="ctr"/>
          <a:lstStyle/>
          <a:p>
            <a:pPr marL="0" indent="0" algn="ctr">
              <a:buNone/>
            </a:pPr>
            <a:r>
              <a:rPr lang="en-US" sz="1120" b="1" dirty="0">
                <a:solidFill>
                  <a:srgbClr val="FFFFFF"/>
                </a:solidFill>
                <a:latin typeface="Arial" panose="020B0604020202020204" pitchFamily="34" charset="0"/>
                <a:cs typeface="Arial" panose="020B0604020202020204" pitchFamily="34" charset="0"/>
              </a:rPr>
              <a:t>Main takeaway: the filter is not just estimating position. It is also estimating how much it should trust that position.</a:t>
            </a:r>
            <a:endParaRPr lang="en-US" sz="1120"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347472"/>
            <a:ext cx="2194560" cy="182880"/>
          </a:xfrm>
          <a:prstGeom prst="rect">
            <a:avLst/>
          </a:prstGeom>
          <a:noFill/>
          <a:ln/>
        </p:spPr>
        <p:txBody>
          <a:bodyPr wrap="square" lIns="0" tIns="0" rIns="0" bIns="0" rtlCol="0" anchor="ctr"/>
          <a:lstStyle/>
          <a:p>
            <a:pPr marL="0" indent="0">
              <a:buNone/>
            </a:pPr>
            <a:r>
              <a:rPr lang="en-US" sz="850" b="1" dirty="0">
                <a:latin typeface="Arial" panose="020B0604020202020204" pitchFamily="34" charset="0"/>
                <a:ea typeface="Aptos" pitchFamily="34" charset="-122"/>
                <a:cs typeface="Arial" panose="020B0604020202020204" pitchFamily="34" charset="0"/>
              </a:rPr>
              <a:t>COMPARISON</a:t>
            </a:r>
            <a:endParaRPr lang="en-US" sz="850" dirty="0">
              <a:latin typeface="Arial" panose="020B0604020202020204" pitchFamily="34" charset="0"/>
              <a:cs typeface="Arial" panose="020B0604020202020204" pitchFamily="34" charset="0"/>
            </a:endParaRPr>
          </a:p>
        </p:txBody>
      </p:sp>
      <p:sp>
        <p:nvSpPr>
          <p:cNvPr id="4" name="Text 2"/>
          <p:cNvSpPr/>
          <p:nvPr/>
        </p:nvSpPr>
        <p:spPr>
          <a:xfrm>
            <a:off x="548640" y="658368"/>
            <a:ext cx="10789920" cy="475488"/>
          </a:xfrm>
          <a:prstGeom prst="rect">
            <a:avLst/>
          </a:prstGeom>
          <a:noFill/>
          <a:ln/>
        </p:spPr>
        <p:txBody>
          <a:bodyPr wrap="square" lIns="0" tIns="0" rIns="0" bIns="0" rtlCol="0" anchor="ctr">
            <a:normAutofit fontScale="92500"/>
          </a:bodyPr>
          <a:lstStyle/>
          <a:p>
            <a:pPr marL="0" indent="0">
              <a:buNone/>
            </a:pPr>
            <a:r>
              <a:rPr lang="en-US" sz="2800" b="1" dirty="0">
                <a:latin typeface="Arial" panose="020B0604020202020204" pitchFamily="34" charset="0"/>
                <a:ea typeface="Aptos Display" pitchFamily="34" charset="-122"/>
                <a:cs typeface="Arial" panose="020B0604020202020204" pitchFamily="34" charset="0"/>
              </a:rPr>
              <a:t>Kalman Filter and Particle Filter solve the same problem differently</a:t>
            </a:r>
            <a:endParaRPr lang="en-US" sz="2800" dirty="0">
              <a:latin typeface="Arial" panose="020B0604020202020204" pitchFamily="34" charset="0"/>
              <a:cs typeface="Arial" panose="020B0604020202020204" pitchFamily="34" charset="0"/>
            </a:endParaRPr>
          </a:p>
        </p:txBody>
      </p:sp>
      <p:sp>
        <p:nvSpPr>
          <p:cNvPr id="6" name="Text 4"/>
          <p:cNvSpPr/>
          <p:nvPr/>
        </p:nvSpPr>
        <p:spPr>
          <a:xfrm>
            <a:off x="11109960" y="6446520"/>
            <a:ext cx="502920" cy="228600"/>
          </a:xfrm>
          <a:prstGeom prst="rect">
            <a:avLst/>
          </a:prstGeom>
          <a:noFill/>
          <a:ln/>
        </p:spPr>
        <p:txBody>
          <a:bodyPr wrap="square" lIns="0" tIns="0" rIns="0" bIns="0" rtlCol="0" anchor="ctr"/>
          <a:lstStyle/>
          <a:p>
            <a:pPr marL="0" indent="0" algn="r">
              <a:buNone/>
            </a:pPr>
            <a:r>
              <a:rPr lang="en-US" sz="850" b="1" dirty="0">
                <a:latin typeface="Arial" panose="020B0604020202020204" pitchFamily="34" charset="0"/>
                <a:ea typeface="Aptos" pitchFamily="34" charset="-122"/>
                <a:cs typeface="Arial" panose="020B0604020202020204" pitchFamily="34" charset="0"/>
              </a:rPr>
              <a:t>13</a:t>
            </a:r>
            <a:endParaRPr lang="en-US" sz="850" dirty="0">
              <a:latin typeface="Arial" panose="020B0604020202020204" pitchFamily="34" charset="0"/>
              <a:cs typeface="Arial" panose="020B0604020202020204" pitchFamily="34" charset="0"/>
            </a:endParaRPr>
          </a:p>
        </p:txBody>
      </p:sp>
      <p:sp>
        <p:nvSpPr>
          <p:cNvPr id="7" name="Shape 5"/>
          <p:cNvSpPr/>
          <p:nvPr/>
        </p:nvSpPr>
        <p:spPr>
          <a:xfrm>
            <a:off x="777240" y="1508760"/>
            <a:ext cx="5074920" cy="3611880"/>
          </a:xfrm>
          <a:prstGeom prst="roundRect">
            <a:avLst>
              <a:gd name="adj" fmla="val 2025"/>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8" name="Shape 6"/>
          <p:cNvSpPr/>
          <p:nvPr/>
        </p:nvSpPr>
        <p:spPr>
          <a:xfrm>
            <a:off x="6355080" y="1508760"/>
            <a:ext cx="5074920" cy="3611880"/>
          </a:xfrm>
          <a:prstGeom prst="roundRect">
            <a:avLst>
              <a:gd name="adj" fmla="val 2025"/>
            </a:avLst>
          </a:prstGeom>
          <a:solidFill>
            <a:srgbClr val="FFFFFF"/>
          </a:solidFill>
          <a:ln w="12700">
            <a:solidFill>
              <a:srgbClr val="D7DCE5">
                <a:alpha val="80000"/>
              </a:srgbClr>
            </a:solidFill>
            <a:prstDash val="solid"/>
          </a:ln>
          <a:effectLst>
            <a:outerShdw blurRad="12700" dist="50800" dir="2700000" algn="bl" rotWithShape="0">
              <a:srgbClr val="000000">
                <a:alpha val="8000"/>
              </a:srgbClr>
            </a:outerShdw>
          </a:effectLst>
        </p:spPr>
      </p:sp>
      <p:sp>
        <p:nvSpPr>
          <p:cNvPr id="9" name="Text 7"/>
          <p:cNvSpPr/>
          <p:nvPr/>
        </p:nvSpPr>
        <p:spPr>
          <a:xfrm>
            <a:off x="1097280" y="1828800"/>
            <a:ext cx="2194560" cy="228600"/>
          </a:xfrm>
          <a:prstGeom prst="rect">
            <a:avLst/>
          </a:prstGeom>
          <a:noFill/>
          <a:ln/>
        </p:spPr>
        <p:txBody>
          <a:bodyPr wrap="square" lIns="0" tIns="0" rIns="0" bIns="0" rtlCol="0" anchor="ctr"/>
          <a:lstStyle/>
          <a:p>
            <a:pPr marL="0" indent="0">
              <a:buNone/>
            </a:pPr>
            <a:r>
              <a:rPr lang="en-US" sz="1800" b="1" dirty="0">
                <a:solidFill>
                  <a:schemeClr val="accent1">
                    <a:lumMod val="50000"/>
                  </a:schemeClr>
                </a:solidFill>
                <a:latin typeface="Arial" panose="020B0604020202020204" pitchFamily="34" charset="0"/>
                <a:cs typeface="Arial" panose="020B0604020202020204" pitchFamily="34" charset="0"/>
              </a:rPr>
              <a:t>Kalman Filter / EKF</a:t>
            </a:r>
            <a:endParaRPr lang="en-US" sz="1800" dirty="0">
              <a:solidFill>
                <a:schemeClr val="accent1">
                  <a:lumMod val="50000"/>
                </a:schemeClr>
              </a:solidFill>
              <a:latin typeface="Arial" panose="020B0604020202020204" pitchFamily="34" charset="0"/>
              <a:cs typeface="Arial" panose="020B0604020202020204" pitchFamily="34" charset="0"/>
            </a:endParaRPr>
          </a:p>
        </p:txBody>
      </p:sp>
      <p:sp>
        <p:nvSpPr>
          <p:cNvPr id="10" name="Text 8"/>
          <p:cNvSpPr/>
          <p:nvPr/>
        </p:nvSpPr>
        <p:spPr>
          <a:xfrm>
            <a:off x="6675120" y="1828800"/>
            <a:ext cx="2011680" cy="228600"/>
          </a:xfrm>
          <a:prstGeom prst="rect">
            <a:avLst/>
          </a:prstGeom>
          <a:noFill/>
          <a:ln/>
        </p:spPr>
        <p:txBody>
          <a:bodyPr wrap="square" lIns="0" tIns="0" rIns="0" bIns="0" rtlCol="0" anchor="ctr"/>
          <a:lstStyle/>
          <a:p>
            <a:pPr marL="0" indent="0">
              <a:buNone/>
            </a:pPr>
            <a:r>
              <a:rPr lang="en-US" sz="1800" b="1" dirty="0">
                <a:solidFill>
                  <a:srgbClr val="7030A0"/>
                </a:solidFill>
                <a:latin typeface="Arial" panose="020B0604020202020204" pitchFamily="34" charset="0"/>
                <a:cs typeface="Arial" panose="020B0604020202020204" pitchFamily="34" charset="0"/>
              </a:rPr>
              <a:t>Particle Filter</a:t>
            </a:r>
            <a:endParaRPr lang="en-US" sz="1800" dirty="0">
              <a:solidFill>
                <a:srgbClr val="7030A0"/>
              </a:solidFill>
              <a:latin typeface="Arial" panose="020B0604020202020204" pitchFamily="34" charset="0"/>
              <a:cs typeface="Arial" panose="020B0604020202020204" pitchFamily="34" charset="0"/>
            </a:endParaRPr>
          </a:p>
        </p:txBody>
      </p:sp>
      <p:sp>
        <p:nvSpPr>
          <p:cNvPr id="11" name="Text 9"/>
          <p:cNvSpPr/>
          <p:nvPr/>
        </p:nvSpPr>
        <p:spPr>
          <a:xfrm>
            <a:off x="1115568" y="2542032"/>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Belief</a:t>
            </a:r>
            <a:endParaRPr lang="en-US" sz="1150" dirty="0">
              <a:latin typeface="Arial" panose="020B0604020202020204" pitchFamily="34" charset="0"/>
              <a:cs typeface="Arial" panose="020B0604020202020204" pitchFamily="34" charset="0"/>
            </a:endParaRPr>
          </a:p>
        </p:txBody>
      </p:sp>
      <p:sp>
        <p:nvSpPr>
          <p:cNvPr id="12" name="Text 10"/>
          <p:cNvSpPr/>
          <p:nvPr/>
        </p:nvSpPr>
        <p:spPr>
          <a:xfrm>
            <a:off x="2258568" y="2542032"/>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mean + covariance</a:t>
            </a:r>
          </a:p>
        </p:txBody>
      </p:sp>
      <p:sp>
        <p:nvSpPr>
          <p:cNvPr id="13" name="Text 11"/>
          <p:cNvSpPr/>
          <p:nvPr/>
        </p:nvSpPr>
        <p:spPr>
          <a:xfrm>
            <a:off x="1115568" y="3255264"/>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Best when</a:t>
            </a:r>
            <a:endParaRPr lang="en-US" sz="1150" dirty="0">
              <a:latin typeface="Arial" panose="020B0604020202020204" pitchFamily="34" charset="0"/>
              <a:cs typeface="Arial" panose="020B0604020202020204" pitchFamily="34" charset="0"/>
            </a:endParaRPr>
          </a:p>
        </p:txBody>
      </p:sp>
      <p:sp>
        <p:nvSpPr>
          <p:cNvPr id="14" name="Text 12"/>
          <p:cNvSpPr/>
          <p:nvPr/>
        </p:nvSpPr>
        <p:spPr>
          <a:xfrm>
            <a:off x="2258568" y="3255264"/>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uncertainty is close to Gaussian</a:t>
            </a:r>
          </a:p>
        </p:txBody>
      </p:sp>
      <p:sp>
        <p:nvSpPr>
          <p:cNvPr id="15" name="Text 13"/>
          <p:cNvSpPr/>
          <p:nvPr/>
        </p:nvSpPr>
        <p:spPr>
          <a:xfrm>
            <a:off x="1115568" y="3968496"/>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Speed</a:t>
            </a:r>
            <a:endParaRPr lang="en-US" sz="1150" dirty="0">
              <a:latin typeface="Arial" panose="020B0604020202020204" pitchFamily="34" charset="0"/>
              <a:cs typeface="Arial" panose="020B0604020202020204" pitchFamily="34" charset="0"/>
            </a:endParaRPr>
          </a:p>
        </p:txBody>
      </p:sp>
      <p:sp>
        <p:nvSpPr>
          <p:cNvPr id="16" name="Text 14"/>
          <p:cNvSpPr/>
          <p:nvPr/>
        </p:nvSpPr>
        <p:spPr>
          <a:xfrm>
            <a:off x="2258568" y="3968496"/>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fast and efficient</a:t>
            </a:r>
          </a:p>
        </p:txBody>
      </p:sp>
      <p:sp>
        <p:nvSpPr>
          <p:cNvPr id="17" name="Text 15"/>
          <p:cNvSpPr/>
          <p:nvPr/>
        </p:nvSpPr>
        <p:spPr>
          <a:xfrm>
            <a:off x="1115568" y="4681728"/>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Weakness</a:t>
            </a:r>
            <a:endParaRPr lang="en-US" sz="1150" dirty="0">
              <a:latin typeface="Arial" panose="020B0604020202020204" pitchFamily="34" charset="0"/>
              <a:cs typeface="Arial" panose="020B0604020202020204" pitchFamily="34" charset="0"/>
            </a:endParaRPr>
          </a:p>
        </p:txBody>
      </p:sp>
      <p:sp>
        <p:nvSpPr>
          <p:cNvPr id="18" name="Text 16"/>
          <p:cNvSpPr/>
          <p:nvPr/>
        </p:nvSpPr>
        <p:spPr>
          <a:xfrm>
            <a:off x="2258568" y="4681728"/>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struggles with multi-modal belief</a:t>
            </a:r>
          </a:p>
        </p:txBody>
      </p:sp>
      <p:sp>
        <p:nvSpPr>
          <p:cNvPr id="19" name="Text 17"/>
          <p:cNvSpPr/>
          <p:nvPr/>
        </p:nvSpPr>
        <p:spPr>
          <a:xfrm>
            <a:off x="6693408" y="2542032"/>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Belief</a:t>
            </a:r>
            <a:endParaRPr lang="en-US" sz="1150" dirty="0">
              <a:latin typeface="Arial" panose="020B0604020202020204" pitchFamily="34" charset="0"/>
              <a:cs typeface="Arial" panose="020B0604020202020204" pitchFamily="34" charset="0"/>
            </a:endParaRPr>
          </a:p>
        </p:txBody>
      </p:sp>
      <p:sp>
        <p:nvSpPr>
          <p:cNvPr id="20" name="Text 18"/>
          <p:cNvSpPr/>
          <p:nvPr/>
        </p:nvSpPr>
        <p:spPr>
          <a:xfrm>
            <a:off x="7836408" y="2542032"/>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many weighted particles</a:t>
            </a:r>
          </a:p>
        </p:txBody>
      </p:sp>
      <p:sp>
        <p:nvSpPr>
          <p:cNvPr id="21" name="Text 19"/>
          <p:cNvSpPr/>
          <p:nvPr/>
        </p:nvSpPr>
        <p:spPr>
          <a:xfrm>
            <a:off x="6693408" y="3255264"/>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Best when</a:t>
            </a:r>
            <a:endParaRPr lang="en-US" sz="1150" dirty="0">
              <a:latin typeface="Arial" panose="020B0604020202020204" pitchFamily="34" charset="0"/>
              <a:cs typeface="Arial" panose="020B0604020202020204" pitchFamily="34" charset="0"/>
            </a:endParaRPr>
          </a:p>
        </p:txBody>
      </p:sp>
      <p:sp>
        <p:nvSpPr>
          <p:cNvPr id="22" name="Text 20"/>
          <p:cNvSpPr/>
          <p:nvPr/>
        </p:nvSpPr>
        <p:spPr>
          <a:xfrm>
            <a:off x="7836408" y="3255264"/>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nonlinear or non-Gaussian uncertainty</a:t>
            </a:r>
          </a:p>
        </p:txBody>
      </p:sp>
      <p:sp>
        <p:nvSpPr>
          <p:cNvPr id="23" name="Text 21"/>
          <p:cNvSpPr/>
          <p:nvPr/>
        </p:nvSpPr>
        <p:spPr>
          <a:xfrm>
            <a:off x="6693408" y="3968496"/>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Speed</a:t>
            </a:r>
            <a:endParaRPr lang="en-US" sz="1150" dirty="0">
              <a:latin typeface="Arial" panose="020B0604020202020204" pitchFamily="34" charset="0"/>
              <a:cs typeface="Arial" panose="020B0604020202020204" pitchFamily="34" charset="0"/>
            </a:endParaRPr>
          </a:p>
        </p:txBody>
      </p:sp>
      <p:sp>
        <p:nvSpPr>
          <p:cNvPr id="24" name="Text 22"/>
          <p:cNvSpPr/>
          <p:nvPr/>
        </p:nvSpPr>
        <p:spPr>
          <a:xfrm>
            <a:off x="7836408" y="3968496"/>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more computation</a:t>
            </a:r>
          </a:p>
        </p:txBody>
      </p:sp>
      <p:sp>
        <p:nvSpPr>
          <p:cNvPr id="25" name="Text 23"/>
          <p:cNvSpPr/>
          <p:nvPr/>
        </p:nvSpPr>
        <p:spPr>
          <a:xfrm>
            <a:off x="6693408" y="4681728"/>
            <a:ext cx="1024128" cy="146304"/>
          </a:xfrm>
          <a:prstGeom prst="rect">
            <a:avLst/>
          </a:prstGeom>
          <a:noFill/>
          <a:ln/>
        </p:spPr>
        <p:txBody>
          <a:bodyPr wrap="square" lIns="0" tIns="0" rIns="0" bIns="0" rtlCol="0" anchor="ctr"/>
          <a:lstStyle/>
          <a:p>
            <a:pPr marL="0" indent="0">
              <a:buNone/>
            </a:pPr>
            <a:r>
              <a:rPr lang="en-US" sz="1150" b="1" dirty="0">
                <a:latin typeface="Arial" panose="020B0604020202020204" pitchFamily="34" charset="0"/>
                <a:cs typeface="Arial" panose="020B0604020202020204" pitchFamily="34" charset="0"/>
              </a:rPr>
              <a:t>Weakness</a:t>
            </a:r>
            <a:endParaRPr lang="en-US" sz="1150" dirty="0">
              <a:latin typeface="Arial" panose="020B0604020202020204" pitchFamily="34" charset="0"/>
              <a:cs typeface="Arial" panose="020B0604020202020204" pitchFamily="34" charset="0"/>
            </a:endParaRPr>
          </a:p>
        </p:txBody>
      </p:sp>
      <p:sp>
        <p:nvSpPr>
          <p:cNvPr id="26" name="Text 24"/>
          <p:cNvSpPr/>
          <p:nvPr/>
        </p:nvSpPr>
        <p:spPr>
          <a:xfrm>
            <a:off x="7836408" y="4681728"/>
            <a:ext cx="3246120" cy="146304"/>
          </a:xfrm>
          <a:prstGeom prst="rect">
            <a:avLst/>
          </a:prstGeom>
          <a:noFill/>
          <a:ln/>
        </p:spPr>
        <p:txBody>
          <a:bodyPr wrap="square" lIns="0" tIns="0" rIns="0" bIns="0" rtlCol="0" anchor="ctr"/>
          <a:lstStyle/>
          <a:p>
            <a:pPr marL="0" indent="0">
              <a:buNone/>
            </a:pPr>
            <a:r>
              <a:rPr lang="en-US" sz="1150" dirty="0">
                <a:latin typeface="Arial" panose="020B0604020202020204" pitchFamily="34" charset="0"/>
                <a:cs typeface="Arial" panose="020B0604020202020204" pitchFamily="34" charset="0"/>
              </a:rPr>
              <a:t>needs enough particles</a:t>
            </a:r>
          </a:p>
        </p:txBody>
      </p:sp>
      <p:sp>
        <p:nvSpPr>
          <p:cNvPr id="27" name="Shape 25"/>
          <p:cNvSpPr/>
          <p:nvPr/>
        </p:nvSpPr>
        <p:spPr>
          <a:xfrm>
            <a:off x="6099048" y="1783080"/>
            <a:ext cx="0" cy="2926080"/>
          </a:xfrm>
          <a:prstGeom prst="line">
            <a:avLst/>
          </a:prstGeom>
          <a:noFill/>
          <a:ln w="12700">
            <a:solidFill>
              <a:srgbClr val="D7DCE5"/>
            </a:solidFill>
            <a:prstDash val="solid"/>
          </a:ln>
        </p:spPr>
      </p:sp>
      <p:sp>
        <p:nvSpPr>
          <p:cNvPr id="28" name="Shape 26"/>
          <p:cNvSpPr/>
          <p:nvPr/>
        </p:nvSpPr>
        <p:spPr>
          <a:xfrm>
            <a:off x="1097280" y="5559552"/>
            <a:ext cx="10012680" cy="457200"/>
          </a:xfrm>
          <a:prstGeom prst="roundRect">
            <a:avLst>
              <a:gd name="adj" fmla="val 10000"/>
            </a:avLst>
          </a:prstGeom>
          <a:solidFill>
            <a:srgbClr val="EEF4FF"/>
          </a:solidFill>
          <a:ln w="12700">
            <a:solidFill>
              <a:srgbClr val="C7D7FE"/>
            </a:solidFill>
            <a:prstDash val="solid"/>
          </a:ln>
        </p:spPr>
      </p:sp>
      <p:sp>
        <p:nvSpPr>
          <p:cNvPr id="29" name="Text 27"/>
          <p:cNvSpPr/>
          <p:nvPr/>
        </p:nvSpPr>
        <p:spPr>
          <a:xfrm>
            <a:off x="1325880" y="5715000"/>
            <a:ext cx="9555480" cy="128016"/>
          </a:xfrm>
          <a:prstGeom prst="rect">
            <a:avLst/>
          </a:prstGeom>
          <a:noFill/>
          <a:ln/>
        </p:spPr>
        <p:txBody>
          <a:bodyPr wrap="square" lIns="0" tIns="0" rIns="0" bIns="0" rtlCol="0" anchor="ctr"/>
          <a:lstStyle/>
          <a:p>
            <a:pPr marL="0" indent="0" algn="ctr">
              <a:buNone/>
            </a:pPr>
            <a:r>
              <a:rPr lang="en-US" sz="1230" b="1" dirty="0">
                <a:latin typeface="Arial" panose="020B0604020202020204" pitchFamily="34" charset="0"/>
                <a:cs typeface="Arial" panose="020B0604020202020204" pitchFamily="34" charset="0"/>
              </a:rPr>
              <a:t>Both algorithms follow prediction → measurement update. They mainly differ in how they represent uncertainty.</a:t>
            </a:r>
            <a:endParaRPr lang="en-US" sz="1230"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85800" y="1234440"/>
            <a:ext cx="10515600" cy="320040"/>
          </a:xfrm>
          <a:prstGeom prst="rect">
            <a:avLst/>
          </a:prstGeom>
          <a:noFill/>
        </p:spPr>
        <p:txBody>
          <a:bodyPr wrap="square" lIns="54864" tIns="27432" rIns="54864" bIns="27432" anchor="t">
            <a:spAutoFit/>
          </a:bodyPr>
          <a:lstStyle/>
          <a:p>
            <a:pPr algn="ctr"/>
            <a:r>
              <a:rPr sz="1300" b="1">
                <a:solidFill>
                  <a:srgbClr val="14808C"/>
                </a:solidFill>
                <a:latin typeface="Aptos"/>
              </a:rPr>
              <a:t>ADVANCED EXTENSION</a:t>
            </a:r>
          </a:p>
        </p:txBody>
      </p:sp>
      <p:sp>
        <p:nvSpPr>
          <p:cNvPr id="5" name="TextBox 4"/>
          <p:cNvSpPr txBox="1"/>
          <p:nvPr/>
        </p:nvSpPr>
        <p:spPr>
          <a:xfrm>
            <a:off x="914400" y="1691640"/>
            <a:ext cx="10058400" cy="868680"/>
          </a:xfrm>
          <a:prstGeom prst="rect">
            <a:avLst/>
          </a:prstGeom>
          <a:noFill/>
        </p:spPr>
        <p:txBody>
          <a:bodyPr wrap="square" lIns="54864" tIns="27432" rIns="54864" bIns="27432" anchor="t">
            <a:spAutoFit/>
          </a:bodyPr>
          <a:lstStyle/>
          <a:p>
            <a:pPr algn="ctr"/>
            <a:r>
              <a:rPr sz="3400" b="1">
                <a:solidFill>
                  <a:srgbClr val="112B3C"/>
                </a:solidFill>
                <a:latin typeface="Aptos"/>
              </a:rPr>
              <a:t>KITTI Dead Reckoning and EKF State Estimation</a:t>
            </a:r>
          </a:p>
        </p:txBody>
      </p:sp>
      <p:sp>
        <p:nvSpPr>
          <p:cNvPr id="6" name="TextBox 5"/>
          <p:cNvSpPr txBox="1"/>
          <p:nvPr/>
        </p:nvSpPr>
        <p:spPr>
          <a:xfrm>
            <a:off x="1371600" y="2743200"/>
            <a:ext cx="9144000" cy="685800"/>
          </a:xfrm>
          <a:prstGeom prst="rect">
            <a:avLst/>
          </a:prstGeom>
          <a:noFill/>
        </p:spPr>
        <p:txBody>
          <a:bodyPr wrap="square" lIns="54864" tIns="27432" rIns="54864" bIns="27432" anchor="t">
            <a:spAutoFit/>
          </a:bodyPr>
          <a:lstStyle/>
          <a:p>
            <a:pPr algn="ctr"/>
            <a:r>
              <a:rPr sz="1800" b="0">
                <a:solidFill>
                  <a:srgbClr val="1E2328"/>
                </a:solidFill>
                <a:latin typeface="Aptos"/>
              </a:rPr>
              <a:t>Goal: move from small simulated examples to a real driving dataset using IMU-only dead reckoning and IMU + GPS EKF fusion.</a:t>
            </a:r>
          </a:p>
        </p:txBody>
      </p:sp>
      <p:sp>
        <p:nvSpPr>
          <p:cNvPr id="7" name="Rounded Rectangle 6"/>
          <p:cNvSpPr/>
          <p:nvPr/>
        </p:nvSpPr>
        <p:spPr>
          <a:xfrm>
            <a:off x="1828800" y="3977638"/>
            <a:ext cx="3886200" cy="1691639"/>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828800" y="3977639"/>
            <a:ext cx="82296" cy="1143000"/>
          </a:xfrm>
          <a:prstGeom prst="rect">
            <a:avLst/>
          </a:prstGeom>
          <a:solidFill>
            <a:srgbClr val="14808C"/>
          </a:solidFill>
          <a:ln>
            <a:solidFill>
              <a:srgbClr val="148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4105655"/>
            <a:ext cx="3593592" cy="320040"/>
          </a:xfrm>
          <a:prstGeom prst="rect">
            <a:avLst/>
          </a:prstGeom>
          <a:noFill/>
        </p:spPr>
        <p:txBody>
          <a:bodyPr wrap="square" lIns="54864" tIns="27432" rIns="54864" bIns="27432" anchor="t">
            <a:spAutoFit/>
          </a:bodyPr>
          <a:lstStyle/>
          <a:p>
            <a:pPr algn="l"/>
            <a:r>
              <a:rPr sz="1500" b="1">
                <a:solidFill>
                  <a:srgbClr val="112B3C"/>
                </a:solidFill>
                <a:latin typeface="Aptos"/>
              </a:rPr>
              <a:t>Why this belongs here</a:t>
            </a:r>
          </a:p>
        </p:txBody>
      </p:sp>
      <p:sp>
        <p:nvSpPr>
          <p:cNvPr id="10" name="TextBox 9"/>
          <p:cNvSpPr txBox="1"/>
          <p:nvPr/>
        </p:nvSpPr>
        <p:spPr>
          <a:xfrm>
            <a:off x="2011680" y="4480559"/>
            <a:ext cx="3593592" cy="548640"/>
          </a:xfrm>
          <a:prstGeom prst="rect">
            <a:avLst/>
          </a:prstGeom>
          <a:noFill/>
        </p:spPr>
        <p:txBody>
          <a:bodyPr wrap="square" lIns="54864" tIns="27432" rIns="54864" bIns="27432" anchor="t">
            <a:spAutoFit/>
          </a:bodyPr>
          <a:lstStyle/>
          <a:p>
            <a:pPr algn="l"/>
            <a:r>
              <a:rPr sz="1400" b="0" dirty="0">
                <a:solidFill>
                  <a:srgbClr val="1E2328"/>
                </a:solidFill>
                <a:latin typeface="Aptos"/>
              </a:rPr>
              <a:t>It directly applies the same state-estimation idea: predict from motion, correct with measurements, and analyze uncertainty and drift.</a:t>
            </a:r>
          </a:p>
        </p:txBody>
      </p:sp>
      <p:sp>
        <p:nvSpPr>
          <p:cNvPr id="11" name="Rounded Rectangle 10"/>
          <p:cNvSpPr/>
          <p:nvPr/>
        </p:nvSpPr>
        <p:spPr>
          <a:xfrm>
            <a:off x="6400800" y="3977638"/>
            <a:ext cx="3886200" cy="1600201"/>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0" y="3977639"/>
            <a:ext cx="82296" cy="1143000"/>
          </a:xfrm>
          <a:prstGeom prst="rect">
            <a:avLst/>
          </a:prstGeom>
          <a:solidFill>
            <a:srgbClr val="4673B4"/>
          </a:solidFill>
          <a:ln>
            <a:solidFill>
              <a:srgbClr val="467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4105655"/>
            <a:ext cx="3593592" cy="320040"/>
          </a:xfrm>
          <a:prstGeom prst="rect">
            <a:avLst/>
          </a:prstGeom>
          <a:noFill/>
        </p:spPr>
        <p:txBody>
          <a:bodyPr wrap="square" lIns="54864" tIns="27432" rIns="54864" bIns="27432" anchor="t">
            <a:spAutoFit/>
          </a:bodyPr>
          <a:lstStyle/>
          <a:p>
            <a:pPr algn="l"/>
            <a:r>
              <a:rPr sz="1500" b="1" dirty="0">
                <a:solidFill>
                  <a:srgbClr val="112B3C"/>
                </a:solidFill>
                <a:latin typeface="Aptos"/>
              </a:rPr>
              <a:t>What changes</a:t>
            </a:r>
          </a:p>
        </p:txBody>
      </p:sp>
      <p:sp>
        <p:nvSpPr>
          <p:cNvPr id="14" name="TextBox 13"/>
          <p:cNvSpPr txBox="1"/>
          <p:nvPr/>
        </p:nvSpPr>
        <p:spPr>
          <a:xfrm>
            <a:off x="6583680" y="4480559"/>
            <a:ext cx="3593592" cy="548640"/>
          </a:xfrm>
          <a:prstGeom prst="rect">
            <a:avLst/>
          </a:prstGeom>
          <a:noFill/>
        </p:spPr>
        <p:txBody>
          <a:bodyPr wrap="square" lIns="54864" tIns="27432" rIns="54864" bIns="27432" anchor="t">
            <a:spAutoFit/>
          </a:bodyPr>
          <a:lstStyle/>
          <a:p>
            <a:pPr algn="l"/>
            <a:r>
              <a:rPr sz="1400" b="0" dirty="0">
                <a:solidFill>
                  <a:srgbClr val="1E2328"/>
                </a:solidFill>
                <a:latin typeface="Aptos"/>
              </a:rPr>
              <a:t>The problem becomes real-data based: timestamps, coordinate conversion, sensor quality, bias, and evaluation against a reference trajectory.</a:t>
            </a:r>
          </a:p>
        </p:txBody>
      </p:sp>
      <p:sp>
        <p:nvSpPr>
          <p:cNvPr id="15" name="TextBox 14"/>
          <p:cNvSpPr txBox="1"/>
          <p:nvPr/>
        </p:nvSpPr>
        <p:spPr>
          <a:xfrm>
            <a:off x="9235440" y="6446520"/>
            <a:ext cx="2286000" cy="228600"/>
          </a:xfrm>
          <a:prstGeom prst="rect">
            <a:avLst/>
          </a:prstGeom>
          <a:noFill/>
        </p:spPr>
        <p:txBody>
          <a:bodyPr wrap="square" lIns="54864" tIns="27432" rIns="54864" bIns="27432" anchor="t">
            <a:spAutoFit/>
          </a:bodyPr>
          <a:lstStyle/>
          <a:p>
            <a:pPr algn="r"/>
            <a:r>
              <a:rPr sz="900" b="0">
                <a:solidFill>
                  <a:srgbClr val="5F6973"/>
                </a:solidFill>
                <a:latin typeface="Aptos"/>
              </a:rPr>
              <a:t>KITTI extension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502920" y="320040"/>
            <a:ext cx="2926080" cy="256032"/>
          </a:xfrm>
          <a:prstGeom prst="rect">
            <a:avLst/>
          </a:prstGeom>
          <a:noFill/>
        </p:spPr>
        <p:txBody>
          <a:bodyPr wrap="square" lIns="54864" tIns="27432" rIns="54864" bIns="27432" anchor="t">
            <a:spAutoFit/>
          </a:bodyPr>
          <a:lstStyle/>
          <a:p>
            <a:pPr algn="l"/>
            <a:r>
              <a:rPr sz="1000" b="1">
                <a:solidFill>
                  <a:srgbClr val="14808C"/>
                </a:solidFill>
                <a:latin typeface="Aptos"/>
              </a:rPr>
              <a:t>DATASET CHOICE</a:t>
            </a:r>
          </a:p>
        </p:txBody>
      </p:sp>
      <p:sp>
        <p:nvSpPr>
          <p:cNvPr id="5" name="TextBox 4"/>
          <p:cNvSpPr txBox="1"/>
          <p:nvPr/>
        </p:nvSpPr>
        <p:spPr>
          <a:xfrm>
            <a:off x="502920" y="612648"/>
            <a:ext cx="10789920" cy="502920"/>
          </a:xfrm>
          <a:prstGeom prst="rect">
            <a:avLst/>
          </a:prstGeom>
          <a:noFill/>
        </p:spPr>
        <p:txBody>
          <a:bodyPr wrap="square" lIns="54864" tIns="27432" rIns="54864" bIns="27432" anchor="t">
            <a:spAutoFit/>
          </a:bodyPr>
          <a:lstStyle/>
          <a:p>
            <a:pPr algn="l"/>
            <a:r>
              <a:rPr sz="2800" b="1">
                <a:solidFill>
                  <a:srgbClr val="112B3C"/>
                </a:solidFill>
                <a:latin typeface="Aptos"/>
              </a:rPr>
              <a:t>KITTI Raw is the correct release for IMU/GPS experiments</a:t>
            </a:r>
          </a:p>
        </p:txBody>
      </p:sp>
      <p:sp>
        <p:nvSpPr>
          <p:cNvPr id="6" name="TextBox 5"/>
          <p:cNvSpPr txBox="1"/>
          <p:nvPr/>
        </p:nvSpPr>
        <p:spPr>
          <a:xfrm>
            <a:off x="530352" y="1143000"/>
            <a:ext cx="10424160" cy="320040"/>
          </a:xfrm>
          <a:prstGeom prst="rect">
            <a:avLst/>
          </a:prstGeom>
          <a:noFill/>
        </p:spPr>
        <p:txBody>
          <a:bodyPr wrap="square" lIns="54864" tIns="27432" rIns="54864" bIns="27432" anchor="t">
            <a:spAutoFit/>
          </a:bodyPr>
          <a:lstStyle/>
          <a:p>
            <a:pPr algn="l"/>
            <a:r>
              <a:rPr sz="1300" b="0">
                <a:solidFill>
                  <a:srgbClr val="5F6973"/>
                </a:solidFill>
                <a:latin typeface="Aptos"/>
              </a:rPr>
              <a:t>Use the raw synced drive, not only the odometry benchmark, because the raw release contains OXTS GPS/IMU packets.</a:t>
            </a:r>
          </a:p>
        </p:txBody>
      </p:sp>
      <p:graphicFrame>
        <p:nvGraphicFramePr>
          <p:cNvPr id="7" name="Table 6"/>
          <p:cNvGraphicFramePr>
            <a:graphicFrameLocks noGrp="1"/>
          </p:cNvGraphicFramePr>
          <p:nvPr>
            <p:extLst>
              <p:ext uri="{D42A27DB-BD31-4B8C-83A1-F6EECF244321}">
                <p14:modId xmlns:p14="http://schemas.microsoft.com/office/powerpoint/2010/main" val="2437062036"/>
              </p:ext>
            </p:extLst>
          </p:nvPr>
        </p:nvGraphicFramePr>
        <p:xfrm>
          <a:off x="594360" y="1600200"/>
          <a:ext cx="10972800" cy="274320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tblGrid>
              <a:tr h="548640">
                <a:tc>
                  <a:txBody>
                    <a:bodyPr/>
                    <a:lstStyle/>
                    <a:p>
                      <a:pPr>
                        <a:defRPr sz="1200" b="1">
                          <a:solidFill>
                            <a:srgbClr val="FFFFFF"/>
                          </a:solidFill>
                          <a:latin typeface="Aptos"/>
                        </a:defRPr>
                      </a:pPr>
                      <a:r>
                        <a:t>Item</a:t>
                      </a:r>
                    </a:p>
                  </a:txBody>
                  <a:tcPr marL="45720" marR="45720" marT="36576" marB="36576">
                    <a:solidFill>
                      <a:srgbClr val="112B3C"/>
                    </a:solidFill>
                  </a:tcPr>
                </a:tc>
                <a:tc>
                  <a:txBody>
                    <a:bodyPr/>
                    <a:lstStyle/>
                    <a:p>
                      <a:pPr>
                        <a:defRPr sz="1200" b="1">
                          <a:solidFill>
                            <a:srgbClr val="FFFFFF"/>
                          </a:solidFill>
                          <a:latin typeface="Aptos"/>
                        </a:defRPr>
                      </a:pPr>
                      <a:r>
                        <a:t>Choice in this report</a:t>
                      </a:r>
                    </a:p>
                  </a:txBody>
                  <a:tcPr marL="45720" marR="45720" marT="36576" marB="36576">
                    <a:solidFill>
                      <a:srgbClr val="112B3C"/>
                    </a:solidFill>
                  </a:tcPr>
                </a:tc>
                <a:tc>
                  <a:txBody>
                    <a:bodyPr/>
                    <a:lstStyle/>
                    <a:p>
                      <a:pPr>
                        <a:defRPr sz="1200" b="1">
                          <a:solidFill>
                            <a:srgbClr val="FFFFFF"/>
                          </a:solidFill>
                          <a:latin typeface="Aptos"/>
                        </a:defRPr>
                      </a:pPr>
                      <a:r>
                        <a:t>Reason</a:t>
                      </a:r>
                    </a:p>
                  </a:txBody>
                  <a:tcPr marL="45720" marR="45720" marT="36576" marB="36576">
                    <a:solidFill>
                      <a:srgbClr val="112B3C"/>
                    </a:solidFill>
                  </a:tcPr>
                </a:tc>
                <a:extLst>
                  <a:ext uri="{0D108BD9-81ED-4DB2-BD59-A6C34878D82A}">
                    <a16:rowId xmlns:a16="http://schemas.microsoft.com/office/drawing/2014/main" val="10000"/>
                  </a:ext>
                </a:extLst>
              </a:tr>
              <a:tr h="548640">
                <a:tc>
                  <a:txBody>
                    <a:bodyPr/>
                    <a:lstStyle/>
                    <a:p>
                      <a:pPr>
                        <a:defRPr sz="1200" b="0">
                          <a:solidFill>
                            <a:srgbClr val="1E2328"/>
                          </a:solidFill>
                          <a:latin typeface="Aptos"/>
                        </a:defRPr>
                      </a:pPr>
                      <a:r>
                        <a:t>Release</a:t>
                      </a:r>
                    </a:p>
                  </a:txBody>
                  <a:tcPr marL="45720" marR="45720" marT="36576" marB="36576">
                    <a:solidFill>
                      <a:srgbClr val="FFFFFF"/>
                    </a:solidFill>
                  </a:tcPr>
                </a:tc>
                <a:tc>
                  <a:txBody>
                    <a:bodyPr/>
                    <a:lstStyle/>
                    <a:p>
                      <a:pPr>
                        <a:defRPr sz="1200" b="0">
                          <a:solidFill>
                            <a:srgbClr val="1E2328"/>
                          </a:solidFill>
                          <a:latin typeface="Aptos"/>
                        </a:defRPr>
                      </a:pPr>
                      <a:r>
                        <a:t>KITTI Raw synced</a:t>
                      </a:r>
                    </a:p>
                  </a:txBody>
                  <a:tcPr marL="45720" marR="45720" marT="36576" marB="36576">
                    <a:solidFill>
                      <a:srgbClr val="FFFFFF"/>
                    </a:solidFill>
                  </a:tcPr>
                </a:tc>
                <a:tc>
                  <a:txBody>
                    <a:bodyPr/>
                    <a:lstStyle/>
                    <a:p>
                      <a:pPr>
                        <a:defRPr sz="1200" b="0">
                          <a:solidFill>
                            <a:srgbClr val="1E2328"/>
                          </a:solidFill>
                          <a:latin typeface="Aptos"/>
                        </a:defRPr>
                      </a:pPr>
                      <a:r>
                        <a:t>Contains synchronized GPS/IMU OXTS files</a:t>
                      </a:r>
                    </a:p>
                  </a:txBody>
                  <a:tcPr marL="45720" marR="45720" marT="36576" marB="36576">
                    <a:solidFill>
                      <a:srgbClr val="FFFFFF"/>
                    </a:solidFill>
                  </a:tcPr>
                </a:tc>
                <a:extLst>
                  <a:ext uri="{0D108BD9-81ED-4DB2-BD59-A6C34878D82A}">
                    <a16:rowId xmlns:a16="http://schemas.microsoft.com/office/drawing/2014/main" val="10001"/>
                  </a:ext>
                </a:extLst>
              </a:tr>
              <a:tr h="548640">
                <a:tc>
                  <a:txBody>
                    <a:bodyPr/>
                    <a:lstStyle/>
                    <a:p>
                      <a:pPr>
                        <a:defRPr sz="1200" b="0">
                          <a:solidFill>
                            <a:srgbClr val="1E2328"/>
                          </a:solidFill>
                          <a:latin typeface="Aptos"/>
                        </a:defRPr>
                      </a:pPr>
                      <a:r>
                        <a:t>Example drive</a:t>
                      </a:r>
                    </a:p>
                  </a:txBody>
                  <a:tcPr marL="45720" marR="45720" marT="36576" marB="36576">
                    <a:solidFill>
                      <a:srgbClr val="EEF4F7"/>
                    </a:solidFill>
                  </a:tcPr>
                </a:tc>
                <a:tc>
                  <a:txBody>
                    <a:bodyPr/>
                    <a:lstStyle/>
                    <a:p>
                      <a:pPr>
                        <a:defRPr sz="1200" b="0">
                          <a:solidFill>
                            <a:srgbClr val="1E2328"/>
                          </a:solidFill>
                          <a:latin typeface="Aptos"/>
                        </a:defRPr>
                      </a:pPr>
                      <a:r>
                        <a:rPr lang="en-US" smtClean="0"/>
                        <a:t>E_cars_2017</a:t>
                      </a:r>
                      <a:endParaRPr dirty="0"/>
                    </a:p>
                  </a:txBody>
                  <a:tcPr marL="45720" marR="45720" marT="36576" marB="36576">
                    <a:solidFill>
                      <a:srgbClr val="EEF4F7"/>
                    </a:solidFill>
                  </a:tcPr>
                </a:tc>
                <a:tc>
                  <a:txBody>
                    <a:bodyPr/>
                    <a:lstStyle/>
                    <a:p>
                      <a:pPr>
                        <a:defRPr sz="1200" b="0">
                          <a:solidFill>
                            <a:srgbClr val="1E2328"/>
                          </a:solidFill>
                          <a:latin typeface="Aptos"/>
                        </a:defRPr>
                      </a:pPr>
                      <a:r>
                        <a:t>Common pykitti example drive and easy to reproduce</a:t>
                      </a:r>
                    </a:p>
                  </a:txBody>
                  <a:tcPr marL="45720" marR="45720" marT="36576" marB="36576">
                    <a:solidFill>
                      <a:srgbClr val="EEF4F7"/>
                    </a:solidFill>
                  </a:tcPr>
                </a:tc>
                <a:extLst>
                  <a:ext uri="{0D108BD9-81ED-4DB2-BD59-A6C34878D82A}">
                    <a16:rowId xmlns:a16="http://schemas.microsoft.com/office/drawing/2014/main" val="10002"/>
                  </a:ext>
                </a:extLst>
              </a:tr>
              <a:tr h="548640">
                <a:tc>
                  <a:txBody>
                    <a:bodyPr/>
                    <a:lstStyle/>
                    <a:p>
                      <a:pPr>
                        <a:defRPr sz="1200" b="0">
                          <a:solidFill>
                            <a:srgbClr val="1E2328"/>
                          </a:solidFill>
                          <a:latin typeface="Aptos"/>
                        </a:defRPr>
                      </a:pPr>
                      <a:r>
                        <a:t>Reference</a:t>
                      </a:r>
                    </a:p>
                  </a:txBody>
                  <a:tcPr marL="45720" marR="45720" marT="36576" marB="36576">
                    <a:solidFill>
                      <a:srgbClr val="FFFFFF"/>
                    </a:solidFill>
                  </a:tcPr>
                </a:tc>
                <a:tc>
                  <a:txBody>
                    <a:bodyPr/>
                    <a:lstStyle/>
                    <a:p>
                      <a:pPr>
                        <a:defRPr sz="1200" b="0">
                          <a:solidFill>
                            <a:srgbClr val="1E2328"/>
                          </a:solidFill>
                          <a:latin typeface="Aptos"/>
                        </a:defRPr>
                      </a:pPr>
                      <a:r>
                        <a:t>OXTS-derived local pose</a:t>
                      </a:r>
                    </a:p>
                  </a:txBody>
                  <a:tcPr marL="45720" marR="45720" marT="36576" marB="36576">
                    <a:solidFill>
                      <a:srgbClr val="FFFFFF"/>
                    </a:solidFill>
                  </a:tcPr>
                </a:tc>
                <a:tc>
                  <a:txBody>
                    <a:bodyPr/>
                    <a:lstStyle/>
                    <a:p>
                      <a:pPr>
                        <a:defRPr sz="1200" b="0">
                          <a:solidFill>
                            <a:srgbClr val="1E2328"/>
                          </a:solidFill>
                          <a:latin typeface="Aptos"/>
                        </a:defRPr>
                      </a:pPr>
                      <a:r>
                        <a:t>Usable baseline reference, but not independent mocap truth</a:t>
                      </a:r>
                    </a:p>
                  </a:txBody>
                  <a:tcPr marL="45720" marR="45720" marT="36576" marB="36576">
                    <a:solidFill>
                      <a:srgbClr val="FFFFFF"/>
                    </a:solidFill>
                  </a:tcPr>
                </a:tc>
                <a:extLst>
                  <a:ext uri="{0D108BD9-81ED-4DB2-BD59-A6C34878D82A}">
                    <a16:rowId xmlns:a16="http://schemas.microsoft.com/office/drawing/2014/main" val="10003"/>
                  </a:ext>
                </a:extLst>
              </a:tr>
              <a:tr h="548640">
                <a:tc>
                  <a:txBody>
                    <a:bodyPr/>
                    <a:lstStyle/>
                    <a:p>
                      <a:pPr>
                        <a:defRPr sz="1200" b="0">
                          <a:solidFill>
                            <a:srgbClr val="1E2328"/>
                          </a:solidFill>
                          <a:latin typeface="Aptos"/>
                        </a:defRPr>
                      </a:pPr>
                      <a:r>
                        <a:t>Frame</a:t>
                      </a:r>
                    </a:p>
                  </a:txBody>
                  <a:tcPr marL="45720" marR="45720" marT="36576" marB="36576">
                    <a:solidFill>
                      <a:srgbClr val="EEF4F7"/>
                    </a:solidFill>
                  </a:tcPr>
                </a:tc>
                <a:tc>
                  <a:txBody>
                    <a:bodyPr/>
                    <a:lstStyle/>
                    <a:p>
                      <a:pPr>
                        <a:defRPr sz="1200" b="0">
                          <a:solidFill>
                            <a:srgbClr val="1E2328"/>
                          </a:solidFill>
                          <a:latin typeface="Aptos"/>
                        </a:defRPr>
                      </a:pPr>
                      <a:r>
                        <a:t>Local ENU-like x-y frame</a:t>
                      </a:r>
                    </a:p>
                  </a:txBody>
                  <a:tcPr marL="45720" marR="45720" marT="36576" marB="36576">
                    <a:solidFill>
                      <a:srgbClr val="EEF4F7"/>
                    </a:solidFill>
                  </a:tcPr>
                </a:tc>
                <a:tc>
                  <a:txBody>
                    <a:bodyPr/>
                    <a:lstStyle/>
                    <a:p>
                      <a:pPr>
                        <a:defRPr sz="1200" b="0">
                          <a:solidFill>
                            <a:srgbClr val="1E2328"/>
                          </a:solidFill>
                          <a:latin typeface="Aptos"/>
                        </a:defRPr>
                      </a:pPr>
                      <a:r>
                        <a:rPr dirty="0"/>
                        <a:t>Converts latitude/longitude into meters for plotting and </a:t>
                      </a:r>
                      <a:r>
                        <a:rPr dirty="0" err="1"/>
                        <a:t>RMSE</a:t>
                      </a:r>
                      <a:endParaRPr dirty="0"/>
                    </a:p>
                  </a:txBody>
                  <a:tcPr marL="45720" marR="45720" marT="36576" marB="36576">
                    <a:solidFill>
                      <a:srgbClr val="EEF4F7"/>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77240" y="4800600"/>
            <a:ext cx="10515600" cy="100584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4800600"/>
            <a:ext cx="82296" cy="1005840"/>
          </a:xfrm>
          <a:prstGeom prst="rect">
            <a:avLst/>
          </a:prstGeom>
          <a:solidFill>
            <a:srgbClr val="BE3737"/>
          </a:solidFill>
          <a:ln>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928616"/>
            <a:ext cx="10222992" cy="320040"/>
          </a:xfrm>
          <a:prstGeom prst="rect">
            <a:avLst/>
          </a:prstGeom>
          <a:noFill/>
        </p:spPr>
        <p:txBody>
          <a:bodyPr wrap="square" lIns="54864" tIns="27432" rIns="54864" bIns="27432" anchor="t">
            <a:spAutoFit/>
          </a:bodyPr>
          <a:lstStyle/>
          <a:p>
            <a:pPr algn="l"/>
            <a:r>
              <a:rPr sz="1500" b="1">
                <a:solidFill>
                  <a:srgbClr val="112B3C"/>
                </a:solidFill>
                <a:latin typeface="Aptos"/>
              </a:rPr>
              <a:t>Important reproducibility note</a:t>
            </a:r>
          </a:p>
        </p:txBody>
      </p:sp>
      <p:sp>
        <p:nvSpPr>
          <p:cNvPr id="11" name="TextBox 10"/>
          <p:cNvSpPr txBox="1"/>
          <p:nvPr/>
        </p:nvSpPr>
        <p:spPr>
          <a:xfrm>
            <a:off x="960120" y="5303520"/>
            <a:ext cx="10222992" cy="411480"/>
          </a:xfrm>
          <a:prstGeom prst="rect">
            <a:avLst/>
          </a:prstGeom>
          <a:noFill/>
        </p:spPr>
        <p:txBody>
          <a:bodyPr wrap="square" lIns="54864" tIns="27432" rIns="54864" bIns="27432" anchor="t">
            <a:spAutoFit/>
          </a:bodyPr>
          <a:lstStyle/>
          <a:p>
            <a:pPr algn="l"/>
            <a:r>
              <a:rPr sz="1400" b="0">
                <a:solidFill>
                  <a:srgbClr val="1E2328"/>
                </a:solidFill>
                <a:latin typeface="Aptos"/>
              </a:rPr>
              <a:t>KITTI Raw downloads require registration and the raw sequence zip was not attached here. Therefore, the report gives runnable code and expected analysis, but does not invent numeric RMSE values.</a:t>
            </a:r>
          </a:p>
        </p:txBody>
      </p:sp>
      <p:sp>
        <p:nvSpPr>
          <p:cNvPr id="12" name="TextBox 11"/>
          <p:cNvSpPr txBox="1"/>
          <p:nvPr/>
        </p:nvSpPr>
        <p:spPr>
          <a:xfrm>
            <a:off x="9235440" y="6446520"/>
            <a:ext cx="2286000" cy="228600"/>
          </a:xfrm>
          <a:prstGeom prst="rect">
            <a:avLst/>
          </a:prstGeom>
          <a:noFill/>
        </p:spPr>
        <p:txBody>
          <a:bodyPr wrap="square" lIns="54864" tIns="27432" rIns="54864" bIns="27432" anchor="t">
            <a:spAutoFit/>
          </a:bodyPr>
          <a:lstStyle/>
          <a:p>
            <a:pPr algn="r"/>
            <a:r>
              <a:rPr sz="900" b="0">
                <a:solidFill>
                  <a:srgbClr val="5F6973"/>
                </a:solidFill>
                <a:latin typeface="Aptos"/>
              </a:rPr>
              <a:t>KITTI extension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502920" y="320040"/>
            <a:ext cx="2926080" cy="209288"/>
          </a:xfrm>
          <a:prstGeom prst="rect">
            <a:avLst/>
          </a:prstGeom>
          <a:noFill/>
        </p:spPr>
        <p:txBody>
          <a:bodyPr wrap="square" lIns="54864" tIns="27432" rIns="54864" bIns="27432" anchor="t">
            <a:spAutoFit/>
          </a:bodyPr>
          <a:lstStyle/>
          <a:p>
            <a:pPr algn="l"/>
            <a:r>
              <a:rPr sz="1000" b="1">
                <a:solidFill>
                  <a:srgbClr val="14808C"/>
                </a:solidFill>
                <a:latin typeface="Arial" panose="020B0604020202020204" pitchFamily="34" charset="0"/>
                <a:cs typeface="Arial" panose="020B0604020202020204" pitchFamily="34" charset="0"/>
              </a:rPr>
              <a:t>PREPROCESSING PIPELINE</a:t>
            </a:r>
          </a:p>
        </p:txBody>
      </p:sp>
      <p:sp>
        <p:nvSpPr>
          <p:cNvPr id="5" name="TextBox 4"/>
          <p:cNvSpPr txBox="1"/>
          <p:nvPr/>
        </p:nvSpPr>
        <p:spPr>
          <a:xfrm>
            <a:off x="502920" y="612648"/>
            <a:ext cx="10789920" cy="502920"/>
          </a:xfrm>
          <a:prstGeom prst="rect">
            <a:avLst/>
          </a:prstGeom>
          <a:noFill/>
        </p:spPr>
        <p:txBody>
          <a:bodyPr wrap="square" lIns="54864" tIns="27432" rIns="54864" bIns="27432" anchor="t">
            <a:spAutoFit/>
          </a:bodyPr>
          <a:lstStyle/>
          <a:p>
            <a:pPr algn="l"/>
            <a:r>
              <a:rPr sz="2800" b="1">
                <a:solidFill>
                  <a:srgbClr val="112B3C"/>
                </a:solidFill>
                <a:latin typeface="Arial" panose="020B0604020202020204" pitchFamily="34" charset="0"/>
                <a:cs typeface="Arial" panose="020B0604020202020204" pitchFamily="34" charset="0"/>
              </a:rPr>
              <a:t>From KITTI OXTS packets to estimator-ready data</a:t>
            </a:r>
          </a:p>
        </p:txBody>
      </p:sp>
      <p:sp>
        <p:nvSpPr>
          <p:cNvPr id="6" name="Rounded Rectangle 5"/>
          <p:cNvSpPr/>
          <p:nvPr/>
        </p:nvSpPr>
        <p:spPr>
          <a:xfrm>
            <a:off x="502920" y="1600200"/>
            <a:ext cx="2148840" cy="1143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7" name="Rectangle 6"/>
          <p:cNvSpPr/>
          <p:nvPr/>
        </p:nvSpPr>
        <p:spPr>
          <a:xfrm>
            <a:off x="502920" y="1600200"/>
            <a:ext cx="82296" cy="1143000"/>
          </a:xfrm>
          <a:prstGeom prst="rect">
            <a:avLst/>
          </a:prstGeom>
          <a:solidFill>
            <a:srgbClr val="14808C"/>
          </a:solidFill>
          <a:ln>
            <a:solidFill>
              <a:srgbClr val="148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8" name="TextBox 7"/>
          <p:cNvSpPr txBox="1"/>
          <p:nvPr/>
        </p:nvSpPr>
        <p:spPr>
          <a:xfrm>
            <a:off x="685800" y="1728216"/>
            <a:ext cx="1856232" cy="517065"/>
          </a:xfrm>
          <a:prstGeom prst="rect">
            <a:avLst/>
          </a:prstGeom>
          <a:noFill/>
        </p:spPr>
        <p:txBody>
          <a:bodyPr wrap="square" lIns="54864" tIns="27432" rIns="54864" bIns="27432" anchor="t">
            <a:spAutoFit/>
          </a:bodyPr>
          <a:lstStyle/>
          <a:p>
            <a:pPr algn="l"/>
            <a:r>
              <a:rPr sz="1500" b="1">
                <a:solidFill>
                  <a:srgbClr val="112B3C"/>
                </a:solidFill>
                <a:latin typeface="Arial" panose="020B0604020202020204" pitchFamily="34" charset="0"/>
                <a:cs typeface="Arial" panose="020B0604020202020204" pitchFamily="34" charset="0"/>
              </a:rPr>
              <a:t>Download raw synced drive</a:t>
            </a:r>
          </a:p>
        </p:txBody>
      </p:sp>
      <p:sp>
        <p:nvSpPr>
          <p:cNvPr id="9" name="TextBox 8"/>
          <p:cNvSpPr txBox="1"/>
          <p:nvPr/>
        </p:nvSpPr>
        <p:spPr>
          <a:xfrm>
            <a:off x="685800" y="2191129"/>
            <a:ext cx="1856232" cy="363176"/>
          </a:xfrm>
          <a:prstGeom prst="rect">
            <a:avLst/>
          </a:prstGeom>
          <a:noFill/>
        </p:spPr>
        <p:txBody>
          <a:bodyPr wrap="square" lIns="54864" tIns="27432" rIns="54864" bIns="27432" anchor="t">
            <a:spAutoFit/>
          </a:bodyPr>
          <a:lstStyle/>
          <a:p>
            <a:pPr algn="l"/>
            <a:r>
              <a:rPr sz="1000" b="0" dirty="0" err="1">
                <a:solidFill>
                  <a:srgbClr val="1E2328"/>
                </a:solidFill>
                <a:latin typeface="Arial" panose="020B0604020202020204" pitchFamily="34" charset="0"/>
                <a:cs typeface="Arial" panose="020B0604020202020204" pitchFamily="34" charset="0"/>
              </a:rPr>
              <a:t>KITTI</a:t>
            </a:r>
            <a:r>
              <a:rPr sz="1000" b="0" dirty="0">
                <a:solidFill>
                  <a:srgbClr val="1E2328"/>
                </a:solidFill>
                <a:latin typeface="Arial" panose="020B0604020202020204" pitchFamily="34" charset="0"/>
                <a:cs typeface="Arial" panose="020B0604020202020204" pitchFamily="34" charset="0"/>
              </a:rPr>
              <a:t> Raw + date calibration zip</a:t>
            </a:r>
          </a:p>
        </p:txBody>
      </p:sp>
      <p:sp>
        <p:nvSpPr>
          <p:cNvPr id="10" name="TextBox 9"/>
          <p:cNvSpPr txBox="1"/>
          <p:nvPr/>
        </p:nvSpPr>
        <p:spPr>
          <a:xfrm>
            <a:off x="2560320" y="2039112"/>
            <a:ext cx="365760" cy="363176"/>
          </a:xfrm>
          <a:prstGeom prst="rect">
            <a:avLst/>
          </a:prstGeom>
          <a:noFill/>
        </p:spPr>
        <p:txBody>
          <a:bodyPr wrap="square" lIns="54864" tIns="27432" rIns="54864" bIns="27432" anchor="t">
            <a:spAutoFit/>
          </a:bodyPr>
          <a:lstStyle/>
          <a:p>
            <a:pPr algn="ctr"/>
            <a:r>
              <a:rPr sz="2000" b="1">
                <a:solidFill>
                  <a:srgbClr val="5F6973"/>
                </a:solidFill>
                <a:latin typeface="Arial" panose="020B0604020202020204" pitchFamily="34" charset="0"/>
                <a:cs typeface="Arial" panose="020B0604020202020204" pitchFamily="34" charset="0"/>
              </a:rPr>
              <a:t>→</a:t>
            </a:r>
          </a:p>
        </p:txBody>
      </p:sp>
      <p:sp>
        <p:nvSpPr>
          <p:cNvPr id="11" name="Rounded Rectangle 10"/>
          <p:cNvSpPr/>
          <p:nvPr/>
        </p:nvSpPr>
        <p:spPr>
          <a:xfrm>
            <a:off x="2770632" y="1600200"/>
            <a:ext cx="2148840" cy="1143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2" name="Rectangle 11"/>
          <p:cNvSpPr/>
          <p:nvPr/>
        </p:nvSpPr>
        <p:spPr>
          <a:xfrm>
            <a:off x="2770632" y="1600200"/>
            <a:ext cx="82296" cy="1143000"/>
          </a:xfrm>
          <a:prstGeom prst="rect">
            <a:avLst/>
          </a:prstGeom>
          <a:solidFill>
            <a:srgbClr val="4673B4"/>
          </a:solidFill>
          <a:ln>
            <a:solidFill>
              <a:srgbClr val="467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3" name="TextBox 12"/>
          <p:cNvSpPr txBox="1"/>
          <p:nvPr/>
        </p:nvSpPr>
        <p:spPr>
          <a:xfrm>
            <a:off x="2953512" y="1728216"/>
            <a:ext cx="1856232" cy="286232"/>
          </a:xfrm>
          <a:prstGeom prst="rect">
            <a:avLst/>
          </a:prstGeom>
          <a:noFill/>
        </p:spPr>
        <p:txBody>
          <a:bodyPr wrap="square" lIns="54864" tIns="27432" rIns="54864" bIns="27432" anchor="t">
            <a:spAutoFit/>
          </a:bodyPr>
          <a:lstStyle/>
          <a:p>
            <a:pPr algn="l"/>
            <a:r>
              <a:rPr sz="1500" b="1">
                <a:solidFill>
                  <a:srgbClr val="112B3C"/>
                </a:solidFill>
                <a:latin typeface="Arial" panose="020B0604020202020204" pitchFamily="34" charset="0"/>
                <a:cs typeface="Arial" panose="020B0604020202020204" pitchFamily="34" charset="0"/>
              </a:rPr>
              <a:t>Read OXTS files</a:t>
            </a:r>
          </a:p>
        </p:txBody>
      </p:sp>
      <p:sp>
        <p:nvSpPr>
          <p:cNvPr id="14" name="TextBox 13"/>
          <p:cNvSpPr txBox="1"/>
          <p:nvPr/>
        </p:nvSpPr>
        <p:spPr>
          <a:xfrm>
            <a:off x="2953512" y="2103120"/>
            <a:ext cx="1856232" cy="517065"/>
          </a:xfrm>
          <a:prstGeom prst="rect">
            <a:avLst/>
          </a:prstGeom>
          <a:noFill/>
        </p:spPr>
        <p:txBody>
          <a:bodyPr wrap="square" lIns="54864" tIns="27432" rIns="54864" bIns="27432" anchor="t">
            <a:spAutoFit/>
          </a:bodyPr>
          <a:lstStyle/>
          <a:p>
            <a:pPr algn="l"/>
            <a:r>
              <a:rPr sz="1000" b="0">
                <a:solidFill>
                  <a:srgbClr val="1E2328"/>
                </a:solidFill>
                <a:latin typeface="Arial" panose="020B0604020202020204" pitchFamily="34" charset="0"/>
                <a:cs typeface="Arial" panose="020B0604020202020204" pitchFamily="34" charset="0"/>
              </a:rPr>
              <a:t>lat, lon, alt, roll, pitch, yaw, velocities, accelerations, angular rates</a:t>
            </a:r>
          </a:p>
        </p:txBody>
      </p:sp>
      <p:sp>
        <p:nvSpPr>
          <p:cNvPr id="15" name="TextBox 14"/>
          <p:cNvSpPr txBox="1"/>
          <p:nvPr/>
        </p:nvSpPr>
        <p:spPr>
          <a:xfrm>
            <a:off x="4828032" y="2039112"/>
            <a:ext cx="365760" cy="363176"/>
          </a:xfrm>
          <a:prstGeom prst="rect">
            <a:avLst/>
          </a:prstGeom>
          <a:noFill/>
        </p:spPr>
        <p:txBody>
          <a:bodyPr wrap="square" lIns="54864" tIns="27432" rIns="54864" bIns="27432" anchor="t">
            <a:spAutoFit/>
          </a:bodyPr>
          <a:lstStyle/>
          <a:p>
            <a:pPr algn="ctr"/>
            <a:r>
              <a:rPr sz="2000" b="1">
                <a:solidFill>
                  <a:srgbClr val="5F6973"/>
                </a:solidFill>
                <a:latin typeface="Arial" panose="020B0604020202020204" pitchFamily="34" charset="0"/>
                <a:cs typeface="Arial" panose="020B0604020202020204" pitchFamily="34" charset="0"/>
              </a:rPr>
              <a:t>→</a:t>
            </a:r>
          </a:p>
        </p:txBody>
      </p:sp>
      <p:sp>
        <p:nvSpPr>
          <p:cNvPr id="16" name="Rounded Rectangle 15"/>
          <p:cNvSpPr/>
          <p:nvPr/>
        </p:nvSpPr>
        <p:spPr>
          <a:xfrm>
            <a:off x="5038344" y="1600200"/>
            <a:ext cx="2148840" cy="1143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7" name="Rectangle 16"/>
          <p:cNvSpPr/>
          <p:nvPr/>
        </p:nvSpPr>
        <p:spPr>
          <a:xfrm>
            <a:off x="5038344" y="1600200"/>
            <a:ext cx="82296" cy="1143000"/>
          </a:xfrm>
          <a:prstGeom prst="rect">
            <a:avLst/>
          </a:prstGeom>
          <a:solidFill>
            <a:srgbClr val="14808C"/>
          </a:solidFill>
          <a:ln>
            <a:solidFill>
              <a:srgbClr val="148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8" name="TextBox 17"/>
          <p:cNvSpPr txBox="1"/>
          <p:nvPr/>
        </p:nvSpPr>
        <p:spPr>
          <a:xfrm>
            <a:off x="5221224" y="1728216"/>
            <a:ext cx="1856232" cy="286232"/>
          </a:xfrm>
          <a:prstGeom prst="rect">
            <a:avLst/>
          </a:prstGeom>
          <a:noFill/>
        </p:spPr>
        <p:txBody>
          <a:bodyPr wrap="square" lIns="54864" tIns="27432" rIns="54864" bIns="27432" anchor="t">
            <a:spAutoFit/>
          </a:bodyPr>
          <a:lstStyle/>
          <a:p>
            <a:pPr algn="l"/>
            <a:r>
              <a:rPr sz="1500" b="1">
                <a:solidFill>
                  <a:srgbClr val="112B3C"/>
                </a:solidFill>
                <a:latin typeface="Arial" panose="020B0604020202020204" pitchFamily="34" charset="0"/>
                <a:cs typeface="Arial" panose="020B0604020202020204" pitchFamily="34" charset="0"/>
              </a:rPr>
              <a:t>Parse timestamps</a:t>
            </a:r>
          </a:p>
        </p:txBody>
      </p:sp>
      <p:sp>
        <p:nvSpPr>
          <p:cNvPr id="19" name="TextBox 18"/>
          <p:cNvSpPr txBox="1"/>
          <p:nvPr/>
        </p:nvSpPr>
        <p:spPr>
          <a:xfrm>
            <a:off x="5221224" y="2103120"/>
            <a:ext cx="1856232" cy="363176"/>
          </a:xfrm>
          <a:prstGeom prst="rect">
            <a:avLst/>
          </a:prstGeom>
          <a:noFill/>
        </p:spPr>
        <p:txBody>
          <a:bodyPr wrap="square" lIns="54864" tIns="27432" rIns="54864" bIns="27432" anchor="t">
            <a:spAutoFit/>
          </a:bodyPr>
          <a:lstStyle/>
          <a:p>
            <a:pPr algn="l"/>
            <a:r>
              <a:rPr sz="1000" b="0">
                <a:solidFill>
                  <a:srgbClr val="1E2328"/>
                </a:solidFill>
                <a:latin typeface="Arial" panose="020B0604020202020204" pitchFamily="34" charset="0"/>
                <a:cs typeface="Arial" panose="020B0604020202020204" pitchFamily="34" charset="0"/>
              </a:rPr>
              <a:t>compute dt for integration and EKF propagation</a:t>
            </a:r>
          </a:p>
        </p:txBody>
      </p:sp>
      <p:sp>
        <p:nvSpPr>
          <p:cNvPr id="20" name="TextBox 19"/>
          <p:cNvSpPr txBox="1"/>
          <p:nvPr/>
        </p:nvSpPr>
        <p:spPr>
          <a:xfrm>
            <a:off x="7095744" y="2039112"/>
            <a:ext cx="365760" cy="363176"/>
          </a:xfrm>
          <a:prstGeom prst="rect">
            <a:avLst/>
          </a:prstGeom>
          <a:noFill/>
        </p:spPr>
        <p:txBody>
          <a:bodyPr wrap="square" lIns="54864" tIns="27432" rIns="54864" bIns="27432" anchor="t">
            <a:spAutoFit/>
          </a:bodyPr>
          <a:lstStyle/>
          <a:p>
            <a:pPr algn="ctr"/>
            <a:r>
              <a:rPr sz="2000" b="1">
                <a:solidFill>
                  <a:srgbClr val="5F6973"/>
                </a:solidFill>
                <a:latin typeface="Arial" panose="020B0604020202020204" pitchFamily="34" charset="0"/>
                <a:cs typeface="Arial" panose="020B0604020202020204" pitchFamily="34" charset="0"/>
              </a:rPr>
              <a:t>→</a:t>
            </a:r>
          </a:p>
        </p:txBody>
      </p:sp>
      <p:sp>
        <p:nvSpPr>
          <p:cNvPr id="21" name="Rounded Rectangle 20"/>
          <p:cNvSpPr/>
          <p:nvPr/>
        </p:nvSpPr>
        <p:spPr>
          <a:xfrm>
            <a:off x="7306056" y="1600200"/>
            <a:ext cx="2148840" cy="1143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2" name="Rectangle 21"/>
          <p:cNvSpPr/>
          <p:nvPr/>
        </p:nvSpPr>
        <p:spPr>
          <a:xfrm>
            <a:off x="7306056" y="1600200"/>
            <a:ext cx="82296" cy="1143000"/>
          </a:xfrm>
          <a:prstGeom prst="rect">
            <a:avLst/>
          </a:prstGeom>
          <a:solidFill>
            <a:srgbClr val="4673B4"/>
          </a:solidFill>
          <a:ln>
            <a:solidFill>
              <a:srgbClr val="467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3" name="TextBox 22"/>
          <p:cNvSpPr txBox="1"/>
          <p:nvPr/>
        </p:nvSpPr>
        <p:spPr>
          <a:xfrm>
            <a:off x="7488936" y="1728216"/>
            <a:ext cx="1856232" cy="517065"/>
          </a:xfrm>
          <a:prstGeom prst="rect">
            <a:avLst/>
          </a:prstGeom>
          <a:noFill/>
        </p:spPr>
        <p:txBody>
          <a:bodyPr wrap="square" lIns="54864" tIns="27432" rIns="54864" bIns="27432" anchor="t">
            <a:spAutoFit/>
          </a:bodyPr>
          <a:lstStyle/>
          <a:p>
            <a:pPr algn="l"/>
            <a:r>
              <a:rPr sz="1500" b="1">
                <a:solidFill>
                  <a:srgbClr val="112B3C"/>
                </a:solidFill>
                <a:latin typeface="Arial" panose="020B0604020202020204" pitchFamily="34" charset="0"/>
                <a:cs typeface="Arial" panose="020B0604020202020204" pitchFamily="34" charset="0"/>
              </a:rPr>
              <a:t>Convert coordinates</a:t>
            </a:r>
          </a:p>
        </p:txBody>
      </p:sp>
      <p:sp>
        <p:nvSpPr>
          <p:cNvPr id="24" name="TextBox 23"/>
          <p:cNvSpPr txBox="1"/>
          <p:nvPr/>
        </p:nvSpPr>
        <p:spPr>
          <a:xfrm>
            <a:off x="7488936" y="2191129"/>
            <a:ext cx="1856232" cy="363176"/>
          </a:xfrm>
          <a:prstGeom prst="rect">
            <a:avLst/>
          </a:prstGeom>
          <a:noFill/>
        </p:spPr>
        <p:txBody>
          <a:bodyPr wrap="square" lIns="54864" tIns="27432" rIns="54864" bIns="27432" anchor="t">
            <a:spAutoFit/>
          </a:bodyPr>
          <a:lstStyle/>
          <a:p>
            <a:pPr algn="l"/>
            <a:r>
              <a:rPr sz="1000" b="0" dirty="0" err="1">
                <a:solidFill>
                  <a:srgbClr val="1E2328"/>
                </a:solidFill>
                <a:latin typeface="Arial" panose="020B0604020202020204" pitchFamily="34" charset="0"/>
                <a:cs typeface="Arial" panose="020B0604020202020204" pitchFamily="34" charset="0"/>
              </a:rPr>
              <a:t>lat</a:t>
            </a:r>
            <a:r>
              <a:rPr sz="1000" b="0" dirty="0">
                <a:solidFill>
                  <a:srgbClr val="1E2328"/>
                </a:solidFill>
                <a:latin typeface="Arial" panose="020B0604020202020204" pitchFamily="34" charset="0"/>
                <a:cs typeface="Arial" panose="020B0604020202020204" pitchFamily="34" charset="0"/>
              </a:rPr>
              <a:t>/</a:t>
            </a:r>
            <a:r>
              <a:rPr sz="1000" b="0" dirty="0" err="1">
                <a:solidFill>
                  <a:srgbClr val="1E2328"/>
                </a:solidFill>
                <a:latin typeface="Arial" panose="020B0604020202020204" pitchFamily="34" charset="0"/>
                <a:cs typeface="Arial" panose="020B0604020202020204" pitchFamily="34" charset="0"/>
              </a:rPr>
              <a:t>lon</a:t>
            </a:r>
            <a:r>
              <a:rPr sz="1000" b="0" dirty="0">
                <a:solidFill>
                  <a:srgbClr val="1E2328"/>
                </a:solidFill>
                <a:latin typeface="Arial" panose="020B0604020202020204" pitchFamily="34" charset="0"/>
                <a:cs typeface="Arial" panose="020B0604020202020204" pitchFamily="34" charset="0"/>
              </a:rPr>
              <a:t> to local x-y meters using Mercator/</a:t>
            </a:r>
            <a:r>
              <a:rPr sz="1000" b="0" dirty="0" err="1">
                <a:solidFill>
                  <a:srgbClr val="1E2328"/>
                </a:solidFill>
                <a:latin typeface="Arial" panose="020B0604020202020204" pitchFamily="34" charset="0"/>
                <a:cs typeface="Arial" panose="020B0604020202020204" pitchFamily="34" charset="0"/>
              </a:rPr>
              <a:t>ENU</a:t>
            </a:r>
            <a:r>
              <a:rPr sz="1000" b="0" dirty="0">
                <a:solidFill>
                  <a:srgbClr val="1E2328"/>
                </a:solidFill>
                <a:latin typeface="Arial" panose="020B0604020202020204" pitchFamily="34" charset="0"/>
                <a:cs typeface="Arial" panose="020B0604020202020204" pitchFamily="34" charset="0"/>
              </a:rPr>
              <a:t>-like frame</a:t>
            </a:r>
          </a:p>
        </p:txBody>
      </p:sp>
      <p:sp>
        <p:nvSpPr>
          <p:cNvPr id="25" name="TextBox 24"/>
          <p:cNvSpPr txBox="1"/>
          <p:nvPr/>
        </p:nvSpPr>
        <p:spPr>
          <a:xfrm>
            <a:off x="9363456" y="2039112"/>
            <a:ext cx="365760" cy="363176"/>
          </a:xfrm>
          <a:prstGeom prst="rect">
            <a:avLst/>
          </a:prstGeom>
          <a:noFill/>
        </p:spPr>
        <p:txBody>
          <a:bodyPr wrap="square" lIns="54864" tIns="27432" rIns="54864" bIns="27432" anchor="t">
            <a:spAutoFit/>
          </a:bodyPr>
          <a:lstStyle/>
          <a:p>
            <a:pPr algn="ctr"/>
            <a:r>
              <a:rPr sz="2000" b="1">
                <a:solidFill>
                  <a:srgbClr val="5F6973"/>
                </a:solidFill>
                <a:latin typeface="Arial" panose="020B0604020202020204" pitchFamily="34" charset="0"/>
                <a:cs typeface="Arial" panose="020B0604020202020204" pitchFamily="34" charset="0"/>
              </a:rPr>
              <a:t>→</a:t>
            </a:r>
          </a:p>
        </p:txBody>
      </p:sp>
      <p:sp>
        <p:nvSpPr>
          <p:cNvPr id="26" name="Rounded Rectangle 25"/>
          <p:cNvSpPr/>
          <p:nvPr/>
        </p:nvSpPr>
        <p:spPr>
          <a:xfrm>
            <a:off x="9573768" y="1600200"/>
            <a:ext cx="2148840" cy="11430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7" name="Rectangle 26"/>
          <p:cNvSpPr/>
          <p:nvPr/>
        </p:nvSpPr>
        <p:spPr>
          <a:xfrm>
            <a:off x="9573768" y="1600200"/>
            <a:ext cx="82296" cy="1143000"/>
          </a:xfrm>
          <a:prstGeom prst="rect">
            <a:avLst/>
          </a:prstGeom>
          <a:solidFill>
            <a:srgbClr val="14808C"/>
          </a:solidFill>
          <a:ln>
            <a:solidFill>
              <a:srgbClr val="148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8" name="TextBox 27"/>
          <p:cNvSpPr txBox="1"/>
          <p:nvPr/>
        </p:nvSpPr>
        <p:spPr>
          <a:xfrm>
            <a:off x="9756648" y="1728216"/>
            <a:ext cx="1856232" cy="286232"/>
          </a:xfrm>
          <a:prstGeom prst="rect">
            <a:avLst/>
          </a:prstGeom>
          <a:noFill/>
        </p:spPr>
        <p:txBody>
          <a:bodyPr wrap="square" lIns="54864" tIns="27432" rIns="54864" bIns="27432" anchor="t">
            <a:spAutoFit/>
          </a:bodyPr>
          <a:lstStyle/>
          <a:p>
            <a:pPr algn="l"/>
            <a:r>
              <a:rPr sz="1500" b="1">
                <a:solidFill>
                  <a:srgbClr val="112B3C"/>
                </a:solidFill>
                <a:latin typeface="Arial" panose="020B0604020202020204" pitchFamily="34" charset="0"/>
                <a:cs typeface="Arial" panose="020B0604020202020204" pitchFamily="34" charset="0"/>
              </a:rPr>
              <a:t>Quality handling</a:t>
            </a:r>
          </a:p>
        </p:txBody>
      </p:sp>
      <p:sp>
        <p:nvSpPr>
          <p:cNvPr id="29" name="TextBox 28"/>
          <p:cNvSpPr txBox="1"/>
          <p:nvPr/>
        </p:nvSpPr>
        <p:spPr>
          <a:xfrm>
            <a:off x="9756648" y="2103120"/>
            <a:ext cx="1856232" cy="363176"/>
          </a:xfrm>
          <a:prstGeom prst="rect">
            <a:avLst/>
          </a:prstGeom>
          <a:noFill/>
        </p:spPr>
        <p:txBody>
          <a:bodyPr wrap="square" lIns="54864" tIns="27432" rIns="54864" bIns="27432" anchor="t">
            <a:spAutoFit/>
          </a:bodyPr>
          <a:lstStyle/>
          <a:p>
            <a:pPr algn="l"/>
            <a:r>
              <a:rPr sz="1000" b="0">
                <a:solidFill>
                  <a:srgbClr val="1E2328"/>
                </a:solidFill>
                <a:latin typeface="Arial" panose="020B0604020202020204" pitchFamily="34" charset="0"/>
                <a:cs typeface="Arial" panose="020B0604020202020204" pitchFamily="34" charset="0"/>
              </a:rPr>
              <a:t>use pos_accuracy and status flags to downweight bad GPS</a:t>
            </a:r>
          </a:p>
        </p:txBody>
      </p:sp>
      <p:sp>
        <p:nvSpPr>
          <p:cNvPr id="30" name="TextBox 29"/>
          <p:cNvSpPr txBox="1"/>
          <p:nvPr/>
        </p:nvSpPr>
        <p:spPr>
          <a:xfrm>
            <a:off x="731520" y="3337560"/>
            <a:ext cx="10515600" cy="1258293"/>
          </a:xfrm>
          <a:prstGeom prst="rect">
            <a:avLst/>
          </a:prstGeom>
          <a:noFill/>
        </p:spPr>
        <p:txBody>
          <a:bodyPr wrap="square" tIns="73152" bIns="73152">
            <a:spAutoFit/>
          </a:bodyPr>
          <a:lstStyle/>
          <a:p>
            <a:pPr>
              <a:spcAft>
                <a:spcPts val="500"/>
              </a:spcAft>
              <a:defRPr sz="1700">
                <a:solidFill>
                  <a:srgbClr val="1E2328"/>
                </a:solidFill>
                <a:latin typeface="Aptos"/>
              </a:defRPr>
            </a:pPr>
            <a:r>
              <a:rPr>
                <a:latin typeface="Arial" panose="020B0604020202020204" pitchFamily="34" charset="0"/>
                <a:cs typeface="Arial" panose="020B0604020202020204" pitchFamily="34" charset="0"/>
              </a:rPr>
              <a:t>Minimum checks: dt is nonzero after the first sample, yaw is unwrapped, GPS position is in meters, and missing or low-quality OXTS entries are handled.</a:t>
            </a:r>
          </a:p>
          <a:p>
            <a:pPr>
              <a:spcAft>
                <a:spcPts val="500"/>
              </a:spcAft>
              <a:defRPr sz="1700">
                <a:solidFill>
                  <a:srgbClr val="1E2328"/>
                </a:solidFill>
                <a:latin typeface="Aptos"/>
              </a:defRPr>
            </a:pPr>
            <a:r>
              <a:rPr>
                <a:latin typeface="Arial" panose="020B0604020202020204" pitchFamily="34" charset="0"/>
                <a:cs typeface="Arial" panose="020B0604020202020204" pitchFamily="34" charset="0"/>
              </a:rPr>
              <a:t>A common mistake is treating every GPS update as equally reliable. Adaptive R based on reported position accuracy makes the EKF more robust.</a:t>
            </a:r>
          </a:p>
        </p:txBody>
      </p:sp>
      <p:sp>
        <p:nvSpPr>
          <p:cNvPr id="31" name="TextBox 30"/>
          <p:cNvSpPr txBox="1"/>
          <p:nvPr/>
        </p:nvSpPr>
        <p:spPr>
          <a:xfrm>
            <a:off x="9235440" y="6446520"/>
            <a:ext cx="2286000" cy="193899"/>
          </a:xfrm>
          <a:prstGeom prst="rect">
            <a:avLst/>
          </a:prstGeom>
          <a:noFill/>
        </p:spPr>
        <p:txBody>
          <a:bodyPr wrap="square" lIns="54864" tIns="27432" rIns="54864" bIns="27432" anchor="t">
            <a:spAutoFit/>
          </a:bodyPr>
          <a:lstStyle/>
          <a:p>
            <a:pPr algn="r"/>
            <a:r>
              <a:rPr sz="900" b="0">
                <a:solidFill>
                  <a:srgbClr val="5F6973"/>
                </a:solidFill>
                <a:latin typeface="Arial" panose="020B0604020202020204" pitchFamily="34" charset="0"/>
                <a:cs typeface="Arial" panose="020B0604020202020204" pitchFamily="34" charset="0"/>
              </a:rPr>
              <a:t>KITTI extension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502920" y="320040"/>
            <a:ext cx="2926080" cy="209288"/>
          </a:xfrm>
          <a:prstGeom prst="rect">
            <a:avLst/>
          </a:prstGeom>
          <a:noFill/>
        </p:spPr>
        <p:txBody>
          <a:bodyPr wrap="square" lIns="54864" tIns="27432" rIns="54864" bIns="27432" anchor="t">
            <a:spAutoFit/>
          </a:bodyPr>
          <a:lstStyle/>
          <a:p>
            <a:pPr algn="l"/>
            <a:r>
              <a:rPr sz="1000" b="1">
                <a:solidFill>
                  <a:srgbClr val="14808C"/>
                </a:solidFill>
                <a:latin typeface="Arial" panose="020B0604020202020204" pitchFamily="34" charset="0"/>
                <a:cs typeface="Arial" panose="020B0604020202020204" pitchFamily="34" charset="0"/>
              </a:rPr>
              <a:t>MODELS</a:t>
            </a:r>
          </a:p>
        </p:txBody>
      </p:sp>
      <p:sp>
        <p:nvSpPr>
          <p:cNvPr id="5" name="TextBox 4"/>
          <p:cNvSpPr txBox="1"/>
          <p:nvPr/>
        </p:nvSpPr>
        <p:spPr>
          <a:xfrm>
            <a:off x="502920" y="612648"/>
            <a:ext cx="10789920" cy="502920"/>
          </a:xfrm>
          <a:prstGeom prst="rect">
            <a:avLst/>
          </a:prstGeom>
          <a:noFill/>
        </p:spPr>
        <p:txBody>
          <a:bodyPr wrap="square" lIns="54864" tIns="27432" rIns="54864" bIns="27432" anchor="t">
            <a:spAutoFit/>
          </a:bodyPr>
          <a:lstStyle/>
          <a:p>
            <a:pPr algn="l"/>
            <a:r>
              <a:rPr sz="2800" b="1">
                <a:solidFill>
                  <a:srgbClr val="112B3C"/>
                </a:solidFill>
                <a:latin typeface="Arial" panose="020B0604020202020204" pitchFamily="34" charset="0"/>
                <a:cs typeface="Arial" panose="020B0604020202020204" pitchFamily="34" charset="0"/>
              </a:rPr>
              <a:t>Two baselines: IMU-only dead reckoning and IMU + GPS EKF</a:t>
            </a:r>
          </a:p>
        </p:txBody>
      </p:sp>
      <p:sp>
        <p:nvSpPr>
          <p:cNvPr id="6" name="Rounded Rectangle 5"/>
          <p:cNvSpPr/>
          <p:nvPr/>
        </p:nvSpPr>
        <p:spPr>
          <a:xfrm>
            <a:off x="685800" y="1508760"/>
            <a:ext cx="5212080" cy="20574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7" name="Rectangle 6"/>
          <p:cNvSpPr/>
          <p:nvPr/>
        </p:nvSpPr>
        <p:spPr>
          <a:xfrm>
            <a:off x="685800" y="1508760"/>
            <a:ext cx="82296" cy="2057400"/>
          </a:xfrm>
          <a:prstGeom prst="rect">
            <a:avLst/>
          </a:prstGeom>
          <a:solidFill>
            <a:srgbClr val="BE3737"/>
          </a:solidFill>
          <a:ln>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8" name="TextBox 7"/>
          <p:cNvSpPr txBox="1"/>
          <p:nvPr/>
        </p:nvSpPr>
        <p:spPr>
          <a:xfrm>
            <a:off x="868680" y="1636776"/>
            <a:ext cx="4919472" cy="286232"/>
          </a:xfrm>
          <a:prstGeom prst="rect">
            <a:avLst/>
          </a:prstGeom>
          <a:noFill/>
        </p:spPr>
        <p:txBody>
          <a:bodyPr wrap="square" lIns="54864" tIns="27432" rIns="54864" bIns="27432" anchor="t">
            <a:spAutoFit/>
          </a:bodyPr>
          <a:lstStyle/>
          <a:p>
            <a:pPr algn="l"/>
            <a:r>
              <a:rPr sz="1500" b="1">
                <a:solidFill>
                  <a:srgbClr val="112B3C"/>
                </a:solidFill>
                <a:latin typeface="Arial" panose="020B0604020202020204" pitchFamily="34" charset="0"/>
                <a:cs typeface="Arial" panose="020B0604020202020204" pitchFamily="34" charset="0"/>
              </a:rPr>
              <a:t>Baseline A: IMU-only dead reckoning</a:t>
            </a:r>
          </a:p>
        </p:txBody>
      </p:sp>
      <p:sp>
        <p:nvSpPr>
          <p:cNvPr id="9" name="TextBox 8"/>
          <p:cNvSpPr txBox="1"/>
          <p:nvPr/>
        </p:nvSpPr>
        <p:spPr>
          <a:xfrm>
            <a:off x="868680" y="2011680"/>
            <a:ext cx="4919472" cy="1132618"/>
          </a:xfrm>
          <a:prstGeom prst="rect">
            <a:avLst/>
          </a:prstGeom>
          <a:noFill/>
        </p:spPr>
        <p:txBody>
          <a:bodyPr wrap="square" lIns="54864" tIns="27432" rIns="54864" bIns="27432" anchor="t">
            <a:spAutoFit/>
          </a:bodyPr>
          <a:lstStyle/>
          <a:p>
            <a:pPr algn="l"/>
            <a:r>
              <a:rPr sz="1400" b="0" dirty="0">
                <a:solidFill>
                  <a:srgbClr val="1E2328"/>
                </a:solidFill>
                <a:latin typeface="Arial" panose="020B0604020202020204" pitchFamily="34" charset="0"/>
                <a:cs typeface="Arial" panose="020B0604020202020204" pitchFamily="34" charset="0"/>
              </a:rPr>
              <a:t>State: [x, y, theta, v]
Inputs: forward acceleration </a:t>
            </a:r>
            <a:r>
              <a:rPr sz="1400" b="0" dirty="0" err="1">
                <a:solidFill>
                  <a:srgbClr val="1E2328"/>
                </a:solidFill>
                <a:latin typeface="Arial" panose="020B0604020202020204" pitchFamily="34" charset="0"/>
                <a:cs typeface="Arial" panose="020B0604020202020204" pitchFamily="34" charset="0"/>
              </a:rPr>
              <a:t>af</a:t>
            </a:r>
            <a:r>
              <a:rPr sz="1400" b="0" dirty="0">
                <a:solidFill>
                  <a:srgbClr val="1E2328"/>
                </a:solidFill>
                <a:latin typeface="Arial" panose="020B0604020202020204" pitchFamily="34" charset="0"/>
                <a:cs typeface="Arial" panose="020B0604020202020204" pitchFamily="34" charset="0"/>
              </a:rPr>
              <a:t> and yaw rate </a:t>
            </a:r>
            <a:r>
              <a:rPr sz="1400" b="0" dirty="0" err="1">
                <a:solidFill>
                  <a:srgbClr val="1E2328"/>
                </a:solidFill>
                <a:latin typeface="Arial" panose="020B0604020202020204" pitchFamily="34" charset="0"/>
                <a:cs typeface="Arial" panose="020B0604020202020204" pitchFamily="34" charset="0"/>
              </a:rPr>
              <a:t>wz</a:t>
            </a:r>
            <a:r>
              <a:rPr sz="1400" b="0" dirty="0">
                <a:solidFill>
                  <a:srgbClr val="1E2328"/>
                </a:solidFill>
                <a:latin typeface="Arial" panose="020B0604020202020204" pitchFamily="34" charset="0"/>
                <a:cs typeface="Arial" panose="020B0604020202020204" pitchFamily="34" charset="0"/>
              </a:rPr>
              <a:t>
Prediction: integrate acceleration and heading over time
Expected issue: small </a:t>
            </a:r>
            <a:r>
              <a:rPr sz="1400" b="0" dirty="0" err="1">
                <a:solidFill>
                  <a:srgbClr val="1E2328"/>
                </a:solidFill>
                <a:latin typeface="Arial" panose="020B0604020202020204" pitchFamily="34" charset="0"/>
                <a:cs typeface="Arial" panose="020B0604020202020204" pitchFamily="34" charset="0"/>
              </a:rPr>
              <a:t>IMU</a:t>
            </a:r>
            <a:r>
              <a:rPr sz="1400" b="0" dirty="0">
                <a:solidFill>
                  <a:srgbClr val="1E2328"/>
                </a:solidFill>
                <a:latin typeface="Arial" panose="020B0604020202020204" pitchFamily="34" charset="0"/>
                <a:cs typeface="Arial" panose="020B0604020202020204" pitchFamily="34" charset="0"/>
              </a:rPr>
              <a:t> bias becomes large position drift after integration.</a:t>
            </a:r>
          </a:p>
        </p:txBody>
      </p:sp>
      <p:sp>
        <p:nvSpPr>
          <p:cNvPr id="10" name="Rounded Rectangle 9"/>
          <p:cNvSpPr/>
          <p:nvPr/>
        </p:nvSpPr>
        <p:spPr>
          <a:xfrm>
            <a:off x="6263640" y="1508760"/>
            <a:ext cx="5212080" cy="205740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Rectangle 10"/>
          <p:cNvSpPr/>
          <p:nvPr/>
        </p:nvSpPr>
        <p:spPr>
          <a:xfrm>
            <a:off x="6263640" y="1508760"/>
            <a:ext cx="82296" cy="2057400"/>
          </a:xfrm>
          <a:prstGeom prst="rect">
            <a:avLst/>
          </a:prstGeom>
          <a:solidFill>
            <a:srgbClr val="3C8C5F"/>
          </a:solidFill>
          <a:ln>
            <a:solidFill>
              <a:srgbClr val="3C8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2" name="TextBox 11"/>
          <p:cNvSpPr txBox="1"/>
          <p:nvPr/>
        </p:nvSpPr>
        <p:spPr>
          <a:xfrm>
            <a:off x="6446520" y="1636776"/>
            <a:ext cx="4919472" cy="286232"/>
          </a:xfrm>
          <a:prstGeom prst="rect">
            <a:avLst/>
          </a:prstGeom>
          <a:noFill/>
        </p:spPr>
        <p:txBody>
          <a:bodyPr wrap="square" lIns="54864" tIns="27432" rIns="54864" bIns="27432" anchor="t">
            <a:spAutoFit/>
          </a:bodyPr>
          <a:lstStyle/>
          <a:p>
            <a:pPr algn="l"/>
            <a:r>
              <a:rPr sz="1500" b="1">
                <a:solidFill>
                  <a:srgbClr val="112B3C"/>
                </a:solidFill>
                <a:latin typeface="Arial" panose="020B0604020202020204" pitchFamily="34" charset="0"/>
                <a:cs typeface="Arial" panose="020B0604020202020204" pitchFamily="34" charset="0"/>
              </a:rPr>
              <a:t>Baseline B: IMU + GPS EKF</a:t>
            </a:r>
          </a:p>
        </p:txBody>
      </p:sp>
      <p:sp>
        <p:nvSpPr>
          <p:cNvPr id="13" name="TextBox 12"/>
          <p:cNvSpPr txBox="1"/>
          <p:nvPr/>
        </p:nvSpPr>
        <p:spPr>
          <a:xfrm>
            <a:off x="6446520" y="2011680"/>
            <a:ext cx="4919472" cy="1132618"/>
          </a:xfrm>
          <a:prstGeom prst="rect">
            <a:avLst/>
          </a:prstGeom>
          <a:noFill/>
        </p:spPr>
        <p:txBody>
          <a:bodyPr wrap="square" lIns="54864" tIns="27432" rIns="54864" bIns="27432" anchor="t">
            <a:spAutoFit/>
          </a:bodyPr>
          <a:lstStyle/>
          <a:p>
            <a:pPr algn="l"/>
            <a:r>
              <a:rPr sz="1400" b="0">
                <a:solidFill>
                  <a:srgbClr val="1E2328"/>
                </a:solidFill>
                <a:latin typeface="Arial" panose="020B0604020202020204" pitchFamily="34" charset="0"/>
                <a:cs typeface="Arial" panose="020B0604020202020204" pitchFamily="34" charset="0"/>
              </a:rPr>
              <a:t>State: [x, y, theta, v] or [x, y, theta, v, bg, ba]
Prediction: IMU-driven motion model
Update: GPS x-y position measurement
Expected benefit: GPS correction keeps position error bounded.</a:t>
            </a:r>
          </a:p>
        </p:txBody>
      </p:sp>
      <p:sp>
        <p:nvSpPr>
          <p:cNvPr id="14" name="TextBox 13"/>
          <p:cNvSpPr txBox="1"/>
          <p:nvPr/>
        </p:nvSpPr>
        <p:spPr>
          <a:xfrm>
            <a:off x="822960" y="3977639"/>
            <a:ext cx="10241280" cy="301621"/>
          </a:xfrm>
          <a:prstGeom prst="rect">
            <a:avLst/>
          </a:prstGeom>
          <a:noFill/>
        </p:spPr>
        <p:txBody>
          <a:bodyPr wrap="square" lIns="54864" tIns="27432" rIns="54864" bIns="27432" anchor="t">
            <a:spAutoFit/>
          </a:bodyPr>
          <a:lstStyle/>
          <a:p>
            <a:pPr algn="ctr"/>
            <a:r>
              <a:rPr sz="1600" b="1">
                <a:solidFill>
                  <a:srgbClr val="112B3C"/>
                </a:solidFill>
                <a:latin typeface="Arial" panose="020B0604020202020204" pitchFamily="34" charset="0"/>
                <a:cs typeface="Arial" panose="020B0604020202020204" pitchFamily="34" charset="0"/>
              </a:rPr>
              <a:t>Core EKF idea</a:t>
            </a:r>
          </a:p>
        </p:txBody>
      </p:sp>
      <p:sp>
        <p:nvSpPr>
          <p:cNvPr id="15" name="TextBox 14"/>
          <p:cNvSpPr txBox="1"/>
          <p:nvPr/>
        </p:nvSpPr>
        <p:spPr>
          <a:xfrm>
            <a:off x="1188720" y="4434840"/>
            <a:ext cx="9418320" cy="731520"/>
          </a:xfrm>
          <a:prstGeom prst="rect">
            <a:avLst/>
          </a:prstGeom>
          <a:noFill/>
        </p:spPr>
        <p:txBody>
          <a:bodyPr wrap="square" lIns="54864" tIns="27432" rIns="54864" bIns="27432" anchor="t">
            <a:spAutoFit/>
          </a:bodyPr>
          <a:lstStyle/>
          <a:p>
            <a:pPr algn="ctr"/>
            <a:r>
              <a:rPr sz="2200" b="1">
                <a:solidFill>
                  <a:srgbClr val="1E2328"/>
                </a:solidFill>
                <a:latin typeface="Arial" panose="020B0604020202020204" pitchFamily="34" charset="0"/>
                <a:cs typeface="Arial" panose="020B0604020202020204" pitchFamily="34" charset="0"/>
              </a:rPr>
              <a:t>Prediction from IMU motion model  +  correction from GPS position measurement  =  improved state estimate</a:t>
            </a:r>
          </a:p>
        </p:txBody>
      </p:sp>
      <p:sp>
        <p:nvSpPr>
          <p:cNvPr id="16" name="TextBox 15"/>
          <p:cNvSpPr txBox="1"/>
          <p:nvPr/>
        </p:nvSpPr>
        <p:spPr>
          <a:xfrm>
            <a:off x="1097280" y="5440680"/>
            <a:ext cx="9601200" cy="517065"/>
          </a:xfrm>
          <a:prstGeom prst="rect">
            <a:avLst/>
          </a:prstGeom>
          <a:noFill/>
        </p:spPr>
        <p:txBody>
          <a:bodyPr wrap="square" lIns="54864" tIns="27432" rIns="54864" bIns="27432" anchor="t">
            <a:spAutoFit/>
          </a:bodyPr>
          <a:lstStyle/>
          <a:p>
            <a:pPr algn="ctr"/>
            <a:r>
              <a:rPr sz="1500" b="0">
                <a:solidFill>
                  <a:srgbClr val="5F6973"/>
                </a:solidFill>
                <a:latin typeface="Arial" panose="020B0604020202020204" pitchFamily="34" charset="0"/>
                <a:cs typeface="Arial" panose="020B0604020202020204" pitchFamily="34" charset="0"/>
              </a:rPr>
              <a:t>Bias-augmented EKF is the stronger version because gyro and accelerometer bias are the main drivers of long-term drift.</a:t>
            </a:r>
          </a:p>
        </p:txBody>
      </p:sp>
      <p:sp>
        <p:nvSpPr>
          <p:cNvPr id="17" name="TextBox 16"/>
          <p:cNvSpPr txBox="1"/>
          <p:nvPr/>
        </p:nvSpPr>
        <p:spPr>
          <a:xfrm>
            <a:off x="9235440" y="6446520"/>
            <a:ext cx="2286000" cy="193899"/>
          </a:xfrm>
          <a:prstGeom prst="rect">
            <a:avLst/>
          </a:prstGeom>
          <a:noFill/>
        </p:spPr>
        <p:txBody>
          <a:bodyPr wrap="square" lIns="54864" tIns="27432" rIns="54864" bIns="27432" anchor="t">
            <a:spAutoFit/>
          </a:bodyPr>
          <a:lstStyle/>
          <a:p>
            <a:pPr algn="r"/>
            <a:r>
              <a:rPr sz="900" b="0">
                <a:solidFill>
                  <a:srgbClr val="5F6973"/>
                </a:solidFill>
                <a:latin typeface="Arial" panose="020B0604020202020204" pitchFamily="34" charset="0"/>
                <a:cs typeface="Arial" panose="020B0604020202020204" pitchFamily="34" charset="0"/>
              </a:rPr>
              <a:t>KITTI extension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502920" y="320040"/>
            <a:ext cx="2926080" cy="256032"/>
          </a:xfrm>
          <a:prstGeom prst="rect">
            <a:avLst/>
          </a:prstGeom>
          <a:noFill/>
        </p:spPr>
        <p:txBody>
          <a:bodyPr wrap="square" lIns="54864" tIns="27432" rIns="54864" bIns="27432" anchor="t">
            <a:spAutoFit/>
          </a:bodyPr>
          <a:lstStyle/>
          <a:p>
            <a:pPr algn="l"/>
            <a:r>
              <a:rPr sz="1000" b="1">
                <a:solidFill>
                  <a:srgbClr val="14808C"/>
                </a:solidFill>
                <a:latin typeface="Aptos"/>
              </a:rPr>
              <a:t>EVALUATION DESIGN</a:t>
            </a:r>
          </a:p>
        </p:txBody>
      </p:sp>
      <p:sp>
        <p:nvSpPr>
          <p:cNvPr id="5" name="TextBox 4"/>
          <p:cNvSpPr txBox="1"/>
          <p:nvPr/>
        </p:nvSpPr>
        <p:spPr>
          <a:xfrm>
            <a:off x="502920" y="612648"/>
            <a:ext cx="10789920" cy="502920"/>
          </a:xfrm>
          <a:prstGeom prst="rect">
            <a:avLst/>
          </a:prstGeom>
          <a:noFill/>
        </p:spPr>
        <p:txBody>
          <a:bodyPr wrap="square" lIns="54864" tIns="27432" rIns="54864" bIns="27432" anchor="t">
            <a:spAutoFit/>
          </a:bodyPr>
          <a:lstStyle/>
          <a:p>
            <a:pPr algn="l"/>
            <a:r>
              <a:rPr sz="2800" b="1">
                <a:solidFill>
                  <a:srgbClr val="112B3C"/>
                </a:solidFill>
                <a:latin typeface="Aptos"/>
              </a:rPr>
              <a:t>How to turn the experiment into defensible results</a:t>
            </a:r>
          </a:p>
        </p:txBody>
      </p:sp>
      <p:graphicFrame>
        <p:nvGraphicFramePr>
          <p:cNvPr id="6" name="Table 5"/>
          <p:cNvGraphicFramePr>
            <a:graphicFrameLocks noGrp="1"/>
          </p:cNvGraphicFramePr>
          <p:nvPr/>
        </p:nvGraphicFramePr>
        <p:xfrm>
          <a:off x="822960" y="1508760"/>
          <a:ext cx="10424159" cy="329184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7498079">
                  <a:extLst>
                    <a:ext uri="{9D8B030D-6E8A-4147-A177-3AD203B41FA5}">
                      <a16:colId xmlns:a16="http://schemas.microsoft.com/office/drawing/2014/main" val="20001"/>
                    </a:ext>
                  </a:extLst>
                </a:gridCol>
              </a:tblGrid>
              <a:tr h="470262">
                <a:tc>
                  <a:txBody>
                    <a:bodyPr/>
                    <a:lstStyle/>
                    <a:p>
                      <a:pPr>
                        <a:defRPr sz="1300" b="1">
                          <a:solidFill>
                            <a:srgbClr val="FFFFFF"/>
                          </a:solidFill>
                          <a:latin typeface="Aptos"/>
                        </a:defRPr>
                      </a:pPr>
                      <a:r>
                        <a:t>Output</a:t>
                      </a:r>
                    </a:p>
                  </a:txBody>
                  <a:tcPr marL="45720" marR="45720" marT="36576" marB="36576">
                    <a:solidFill>
                      <a:srgbClr val="112B3C"/>
                    </a:solidFill>
                  </a:tcPr>
                </a:tc>
                <a:tc>
                  <a:txBody>
                    <a:bodyPr/>
                    <a:lstStyle/>
                    <a:p>
                      <a:pPr>
                        <a:defRPr sz="1300" b="1">
                          <a:solidFill>
                            <a:srgbClr val="FFFFFF"/>
                          </a:solidFill>
                          <a:latin typeface="Aptos"/>
                        </a:defRPr>
                      </a:pPr>
                      <a:r>
                        <a:t>What it shows</a:t>
                      </a:r>
                    </a:p>
                  </a:txBody>
                  <a:tcPr marL="45720" marR="45720" marT="36576" marB="36576">
                    <a:solidFill>
                      <a:srgbClr val="112B3C"/>
                    </a:solidFill>
                  </a:tcPr>
                </a:tc>
                <a:extLst>
                  <a:ext uri="{0D108BD9-81ED-4DB2-BD59-A6C34878D82A}">
                    <a16:rowId xmlns:a16="http://schemas.microsoft.com/office/drawing/2014/main" val="10000"/>
                  </a:ext>
                </a:extLst>
              </a:tr>
              <a:tr h="470262">
                <a:tc>
                  <a:txBody>
                    <a:bodyPr/>
                    <a:lstStyle/>
                    <a:p>
                      <a:pPr>
                        <a:defRPr sz="1300" b="0">
                          <a:solidFill>
                            <a:srgbClr val="1E2328"/>
                          </a:solidFill>
                          <a:latin typeface="Aptos"/>
                        </a:defRPr>
                      </a:pPr>
                      <a:r>
                        <a:t>Trajectory plot</a:t>
                      </a:r>
                    </a:p>
                  </a:txBody>
                  <a:tcPr marL="45720" marR="45720" marT="36576" marB="36576">
                    <a:solidFill>
                      <a:srgbClr val="FFFFFF"/>
                    </a:solidFill>
                  </a:tcPr>
                </a:tc>
                <a:tc>
                  <a:txBody>
                    <a:bodyPr/>
                    <a:lstStyle/>
                    <a:p>
                      <a:pPr>
                        <a:defRPr sz="1300" b="0">
                          <a:solidFill>
                            <a:srgbClr val="1E2328"/>
                          </a:solidFill>
                          <a:latin typeface="Aptos"/>
                        </a:defRPr>
                      </a:pPr>
                      <a:r>
                        <a:t>Visual drift: reference vs IMU-only vs EKF</a:t>
                      </a:r>
                    </a:p>
                  </a:txBody>
                  <a:tcPr marL="45720" marR="45720" marT="36576" marB="36576">
                    <a:solidFill>
                      <a:srgbClr val="FFFFFF"/>
                    </a:solidFill>
                  </a:tcPr>
                </a:tc>
                <a:extLst>
                  <a:ext uri="{0D108BD9-81ED-4DB2-BD59-A6C34878D82A}">
                    <a16:rowId xmlns:a16="http://schemas.microsoft.com/office/drawing/2014/main" val="10001"/>
                  </a:ext>
                </a:extLst>
              </a:tr>
              <a:tr h="470262">
                <a:tc>
                  <a:txBody>
                    <a:bodyPr/>
                    <a:lstStyle/>
                    <a:p>
                      <a:pPr>
                        <a:defRPr sz="1300" b="0">
                          <a:solidFill>
                            <a:srgbClr val="1E2328"/>
                          </a:solidFill>
                          <a:latin typeface="Aptos"/>
                        </a:defRPr>
                      </a:pPr>
                      <a:r>
                        <a:t>Error vs time plot</a:t>
                      </a:r>
                    </a:p>
                  </a:txBody>
                  <a:tcPr marL="45720" marR="45720" marT="36576" marB="36576">
                    <a:solidFill>
                      <a:srgbClr val="EEF4F7"/>
                    </a:solidFill>
                  </a:tcPr>
                </a:tc>
                <a:tc>
                  <a:txBody>
                    <a:bodyPr/>
                    <a:lstStyle/>
                    <a:p>
                      <a:pPr>
                        <a:defRPr sz="1300" b="0">
                          <a:solidFill>
                            <a:srgbClr val="1E2328"/>
                          </a:solidFill>
                          <a:latin typeface="Aptos"/>
                        </a:defRPr>
                      </a:pPr>
                      <a:r>
                        <a:t>Whether error grows unbounded or stays corrected</a:t>
                      </a:r>
                    </a:p>
                  </a:txBody>
                  <a:tcPr marL="45720" marR="45720" marT="36576" marB="36576">
                    <a:solidFill>
                      <a:srgbClr val="EEF4F7"/>
                    </a:solidFill>
                  </a:tcPr>
                </a:tc>
                <a:extLst>
                  <a:ext uri="{0D108BD9-81ED-4DB2-BD59-A6C34878D82A}">
                    <a16:rowId xmlns:a16="http://schemas.microsoft.com/office/drawing/2014/main" val="10002"/>
                  </a:ext>
                </a:extLst>
              </a:tr>
              <a:tr h="470262">
                <a:tc>
                  <a:txBody>
                    <a:bodyPr/>
                    <a:lstStyle/>
                    <a:p>
                      <a:pPr>
                        <a:defRPr sz="1300" b="0">
                          <a:solidFill>
                            <a:srgbClr val="1E2328"/>
                          </a:solidFill>
                          <a:latin typeface="Aptos"/>
                        </a:defRPr>
                      </a:pPr>
                      <a:r>
                        <a:t>RMSE [m]</a:t>
                      </a:r>
                    </a:p>
                  </a:txBody>
                  <a:tcPr marL="45720" marR="45720" marT="36576" marB="36576">
                    <a:solidFill>
                      <a:srgbClr val="FFFFFF"/>
                    </a:solidFill>
                  </a:tcPr>
                </a:tc>
                <a:tc>
                  <a:txBody>
                    <a:bodyPr/>
                    <a:lstStyle/>
                    <a:p>
                      <a:pPr>
                        <a:defRPr sz="1300" b="0">
                          <a:solidFill>
                            <a:srgbClr val="1E2328"/>
                          </a:solidFill>
                          <a:latin typeface="Aptos"/>
                        </a:defRPr>
                      </a:pPr>
                      <a:r>
                        <a:t>Average position disagreement with OXTS reference</a:t>
                      </a:r>
                    </a:p>
                  </a:txBody>
                  <a:tcPr marL="45720" marR="45720" marT="36576" marB="36576">
                    <a:solidFill>
                      <a:srgbClr val="FFFFFF"/>
                    </a:solidFill>
                  </a:tcPr>
                </a:tc>
                <a:extLst>
                  <a:ext uri="{0D108BD9-81ED-4DB2-BD59-A6C34878D82A}">
                    <a16:rowId xmlns:a16="http://schemas.microsoft.com/office/drawing/2014/main" val="10003"/>
                  </a:ext>
                </a:extLst>
              </a:tr>
              <a:tr h="470262">
                <a:tc>
                  <a:txBody>
                    <a:bodyPr/>
                    <a:lstStyle/>
                    <a:p>
                      <a:pPr>
                        <a:defRPr sz="1300" b="0">
                          <a:solidFill>
                            <a:srgbClr val="1E2328"/>
                          </a:solidFill>
                          <a:latin typeface="Aptos"/>
                        </a:defRPr>
                      </a:pPr>
                      <a:r>
                        <a:t>Final error [m]</a:t>
                      </a:r>
                    </a:p>
                  </a:txBody>
                  <a:tcPr marL="45720" marR="45720" marT="36576" marB="36576">
                    <a:solidFill>
                      <a:srgbClr val="EEF4F7"/>
                    </a:solidFill>
                  </a:tcPr>
                </a:tc>
                <a:tc>
                  <a:txBody>
                    <a:bodyPr/>
                    <a:lstStyle/>
                    <a:p>
                      <a:pPr>
                        <a:defRPr sz="1300" b="0">
                          <a:solidFill>
                            <a:srgbClr val="1E2328"/>
                          </a:solidFill>
                          <a:latin typeface="Aptos"/>
                        </a:defRPr>
                      </a:pPr>
                      <a:r>
                        <a:t>Endpoint drift after the full sequence</a:t>
                      </a:r>
                    </a:p>
                  </a:txBody>
                  <a:tcPr marL="45720" marR="45720" marT="36576" marB="36576">
                    <a:solidFill>
                      <a:srgbClr val="EEF4F7"/>
                    </a:solidFill>
                  </a:tcPr>
                </a:tc>
                <a:extLst>
                  <a:ext uri="{0D108BD9-81ED-4DB2-BD59-A6C34878D82A}">
                    <a16:rowId xmlns:a16="http://schemas.microsoft.com/office/drawing/2014/main" val="10004"/>
                  </a:ext>
                </a:extLst>
              </a:tr>
              <a:tr h="470262">
                <a:tc>
                  <a:txBody>
                    <a:bodyPr/>
                    <a:lstStyle/>
                    <a:p>
                      <a:pPr>
                        <a:defRPr sz="1300" b="0">
                          <a:solidFill>
                            <a:srgbClr val="1E2328"/>
                          </a:solidFill>
                          <a:latin typeface="Aptos"/>
                        </a:defRPr>
                      </a:pPr>
                      <a:r>
                        <a:t>Max error [m]</a:t>
                      </a:r>
                    </a:p>
                  </a:txBody>
                  <a:tcPr marL="45720" marR="45720" marT="36576" marB="36576">
                    <a:solidFill>
                      <a:srgbClr val="FFFFFF"/>
                    </a:solidFill>
                  </a:tcPr>
                </a:tc>
                <a:tc>
                  <a:txBody>
                    <a:bodyPr/>
                    <a:lstStyle/>
                    <a:p>
                      <a:pPr>
                        <a:defRPr sz="1300" b="0">
                          <a:solidFill>
                            <a:srgbClr val="1E2328"/>
                          </a:solidFill>
                          <a:latin typeface="Aptos"/>
                        </a:defRPr>
                      </a:pPr>
                      <a:r>
                        <a:t>Worst-case deviation during the drive</a:t>
                      </a:r>
                    </a:p>
                  </a:txBody>
                  <a:tcPr marL="45720" marR="45720" marT="36576" marB="36576">
                    <a:solidFill>
                      <a:srgbClr val="FFFFFF"/>
                    </a:solidFill>
                  </a:tcPr>
                </a:tc>
                <a:extLst>
                  <a:ext uri="{0D108BD9-81ED-4DB2-BD59-A6C34878D82A}">
                    <a16:rowId xmlns:a16="http://schemas.microsoft.com/office/drawing/2014/main" val="10005"/>
                  </a:ext>
                </a:extLst>
              </a:tr>
              <a:tr h="470268">
                <a:tc>
                  <a:txBody>
                    <a:bodyPr/>
                    <a:lstStyle/>
                    <a:p>
                      <a:pPr>
                        <a:defRPr sz="1300" b="0">
                          <a:solidFill>
                            <a:srgbClr val="1E2328"/>
                          </a:solidFill>
                          <a:latin typeface="Aptos"/>
                        </a:defRPr>
                      </a:pPr>
                      <a:r>
                        <a:t>KITTI-style relative error</a:t>
                      </a:r>
                    </a:p>
                  </a:txBody>
                  <a:tcPr marL="45720" marR="45720" marT="36576" marB="36576">
                    <a:solidFill>
                      <a:srgbClr val="EEF4F7"/>
                    </a:solidFill>
                  </a:tcPr>
                </a:tc>
                <a:tc>
                  <a:txBody>
                    <a:bodyPr/>
                    <a:lstStyle/>
                    <a:p>
                      <a:pPr>
                        <a:defRPr sz="1300" b="0">
                          <a:solidFill>
                            <a:srgbClr val="1E2328"/>
                          </a:solidFill>
                          <a:latin typeface="Aptos"/>
                        </a:defRPr>
                      </a:pPr>
                      <a:r>
                        <a:t>Subsequence performance over 100 to 800 m segments</a:t>
                      </a:r>
                    </a:p>
                  </a:txBody>
                  <a:tcPr marL="45720" marR="45720" marT="36576" marB="36576">
                    <a:solidFill>
                      <a:srgbClr val="EEF4F7"/>
                    </a:solidFill>
                  </a:tcPr>
                </a:tc>
                <a:extLst>
                  <a:ext uri="{0D108BD9-81ED-4DB2-BD59-A6C34878D82A}">
                    <a16:rowId xmlns:a16="http://schemas.microsoft.com/office/drawing/2014/main" val="10006"/>
                  </a:ext>
                </a:extLst>
              </a:tr>
            </a:tbl>
          </a:graphicData>
        </a:graphic>
      </p:graphicFrame>
      <p:sp>
        <p:nvSpPr>
          <p:cNvPr id="7" name="Rounded Rectangle 6"/>
          <p:cNvSpPr/>
          <p:nvPr/>
        </p:nvSpPr>
        <p:spPr>
          <a:xfrm>
            <a:off x="1143000" y="5120640"/>
            <a:ext cx="9875520" cy="86868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43000" y="5120640"/>
            <a:ext cx="82296" cy="868680"/>
          </a:xfrm>
          <a:prstGeom prst="rect">
            <a:avLst/>
          </a:prstGeom>
          <a:solidFill>
            <a:srgbClr val="14808C"/>
          </a:solidFill>
          <a:ln>
            <a:solidFill>
              <a:srgbClr val="148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5248656"/>
            <a:ext cx="9582912" cy="320040"/>
          </a:xfrm>
          <a:prstGeom prst="rect">
            <a:avLst/>
          </a:prstGeom>
          <a:noFill/>
        </p:spPr>
        <p:txBody>
          <a:bodyPr wrap="square" lIns="54864" tIns="27432" rIns="54864" bIns="27432" anchor="t">
            <a:spAutoFit/>
          </a:bodyPr>
          <a:lstStyle/>
          <a:p>
            <a:pPr algn="l"/>
            <a:r>
              <a:rPr sz="1500" b="1">
                <a:solidFill>
                  <a:srgbClr val="112B3C"/>
                </a:solidFill>
                <a:latin typeface="Aptos"/>
              </a:rPr>
              <a:t>How to phrase the reference carefully</a:t>
            </a:r>
          </a:p>
        </p:txBody>
      </p:sp>
      <p:sp>
        <p:nvSpPr>
          <p:cNvPr id="10" name="TextBox 9"/>
          <p:cNvSpPr txBox="1"/>
          <p:nvPr/>
        </p:nvSpPr>
        <p:spPr>
          <a:xfrm>
            <a:off x="1325880" y="5623560"/>
            <a:ext cx="9582912" cy="274320"/>
          </a:xfrm>
          <a:prstGeom prst="rect">
            <a:avLst/>
          </a:prstGeom>
          <a:noFill/>
        </p:spPr>
        <p:txBody>
          <a:bodyPr wrap="square" lIns="54864" tIns="27432" rIns="54864" bIns="27432" anchor="t">
            <a:spAutoFit/>
          </a:bodyPr>
          <a:lstStyle/>
          <a:p>
            <a:pPr algn="l"/>
            <a:r>
              <a:rPr sz="1400" b="0">
                <a:solidFill>
                  <a:srgbClr val="1E2328"/>
                </a:solidFill>
                <a:latin typeface="Aptos"/>
              </a:rPr>
              <a:t>Report the numbers as agreement with the OXTS-derived reference, not as perfect ground truth. This avoids overstating precision.</a:t>
            </a:r>
          </a:p>
        </p:txBody>
      </p:sp>
      <p:sp>
        <p:nvSpPr>
          <p:cNvPr id="11" name="TextBox 10"/>
          <p:cNvSpPr txBox="1"/>
          <p:nvPr/>
        </p:nvSpPr>
        <p:spPr>
          <a:xfrm>
            <a:off x="9235440" y="6446520"/>
            <a:ext cx="2286000" cy="228600"/>
          </a:xfrm>
          <a:prstGeom prst="rect">
            <a:avLst/>
          </a:prstGeom>
          <a:noFill/>
        </p:spPr>
        <p:txBody>
          <a:bodyPr wrap="square" lIns="54864" tIns="27432" rIns="54864" bIns="27432" anchor="t">
            <a:spAutoFit/>
          </a:bodyPr>
          <a:lstStyle/>
          <a:p>
            <a:pPr algn="r"/>
            <a:r>
              <a:rPr sz="900" b="0">
                <a:solidFill>
                  <a:srgbClr val="5F6973"/>
                </a:solidFill>
                <a:latin typeface="Aptos"/>
              </a:rPr>
              <a:t>KITTI extension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Box 4"/>
          <p:cNvSpPr txBox="1"/>
          <p:nvPr/>
        </p:nvSpPr>
        <p:spPr>
          <a:xfrm>
            <a:off x="502920" y="612648"/>
            <a:ext cx="10789920" cy="502920"/>
          </a:xfrm>
          <a:prstGeom prst="rect">
            <a:avLst/>
          </a:prstGeom>
          <a:noFill/>
        </p:spPr>
        <p:txBody>
          <a:bodyPr wrap="square" lIns="54864" tIns="27432" rIns="54864" bIns="27432" anchor="t">
            <a:spAutoFit/>
          </a:bodyPr>
          <a:lstStyle/>
          <a:p>
            <a:pPr algn="l"/>
            <a:r>
              <a:rPr sz="2800" b="1">
                <a:solidFill>
                  <a:srgbClr val="112B3C"/>
                </a:solidFill>
                <a:latin typeface="Arial" panose="020B0604020202020204" pitchFamily="34" charset="0"/>
                <a:cs typeface="Arial" panose="020B0604020202020204" pitchFamily="34" charset="0"/>
              </a:rPr>
              <a:t>What should differ between dead reckoning and EKF</a:t>
            </a:r>
          </a:p>
        </p:txBody>
      </p:sp>
      <p:graphicFrame>
        <p:nvGraphicFramePr>
          <p:cNvPr id="6" name="Table 5"/>
          <p:cNvGraphicFramePr>
            <a:graphicFrameLocks noGrp="1"/>
          </p:cNvGraphicFramePr>
          <p:nvPr>
            <p:extLst>
              <p:ext uri="{D42A27DB-BD31-4B8C-83A1-F6EECF244321}">
                <p14:modId xmlns:p14="http://schemas.microsoft.com/office/powerpoint/2010/main" val="1386397530"/>
              </p:ext>
            </p:extLst>
          </p:nvPr>
        </p:nvGraphicFramePr>
        <p:xfrm>
          <a:off x="411480" y="1508760"/>
          <a:ext cx="11338560" cy="3886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971550">
                <a:tc>
                  <a:txBody>
                    <a:bodyPr/>
                    <a:lstStyle/>
                    <a:p>
                      <a:pPr>
                        <a:defRPr sz="1000" b="1">
                          <a:solidFill>
                            <a:srgbClr val="FFFFFF"/>
                          </a:solidFill>
                          <a:latin typeface="Aptos"/>
                        </a:defRPr>
                      </a:pPr>
                      <a:r>
                        <a:t>Method</a:t>
                      </a:r>
                    </a:p>
                  </a:txBody>
                  <a:tcPr marL="45720" marR="45720" marT="36576" marB="36576">
                    <a:solidFill>
                      <a:srgbClr val="112B3C"/>
                    </a:solidFill>
                  </a:tcPr>
                </a:tc>
                <a:tc>
                  <a:txBody>
                    <a:bodyPr/>
                    <a:lstStyle/>
                    <a:p>
                      <a:pPr>
                        <a:defRPr sz="1000" b="1">
                          <a:solidFill>
                            <a:srgbClr val="FFFFFF"/>
                          </a:solidFill>
                          <a:latin typeface="Aptos"/>
                        </a:defRPr>
                      </a:pPr>
                      <a:r>
                        <a:t>Expected visual result</a:t>
                      </a:r>
                    </a:p>
                  </a:txBody>
                  <a:tcPr marL="45720" marR="45720" marT="36576" marB="36576">
                    <a:solidFill>
                      <a:srgbClr val="112B3C"/>
                    </a:solidFill>
                  </a:tcPr>
                </a:tc>
                <a:tc>
                  <a:txBody>
                    <a:bodyPr/>
                    <a:lstStyle/>
                    <a:p>
                      <a:pPr>
                        <a:defRPr sz="1000" b="1">
                          <a:solidFill>
                            <a:srgbClr val="FFFFFF"/>
                          </a:solidFill>
                          <a:latin typeface="Aptos"/>
                        </a:defRPr>
                      </a:pPr>
                      <a:r>
                        <a:t>Expected numeric result</a:t>
                      </a:r>
                    </a:p>
                  </a:txBody>
                  <a:tcPr marL="45720" marR="45720" marT="36576" marB="36576">
                    <a:solidFill>
                      <a:srgbClr val="112B3C"/>
                    </a:solidFill>
                  </a:tcPr>
                </a:tc>
                <a:tc>
                  <a:txBody>
                    <a:bodyPr/>
                    <a:lstStyle/>
                    <a:p>
                      <a:pPr>
                        <a:defRPr sz="1000" b="1">
                          <a:solidFill>
                            <a:srgbClr val="FFFFFF"/>
                          </a:solidFill>
                          <a:latin typeface="Aptos"/>
                        </a:defRPr>
                      </a:pPr>
                      <a:r>
                        <a:t>Reason</a:t>
                      </a:r>
                    </a:p>
                  </a:txBody>
                  <a:tcPr marL="45720" marR="45720" marT="36576" marB="36576">
                    <a:solidFill>
                      <a:srgbClr val="112B3C"/>
                    </a:solidFill>
                  </a:tcPr>
                </a:tc>
                <a:extLst>
                  <a:ext uri="{0D108BD9-81ED-4DB2-BD59-A6C34878D82A}">
                    <a16:rowId xmlns:a16="http://schemas.microsoft.com/office/drawing/2014/main" val="10000"/>
                  </a:ext>
                </a:extLst>
              </a:tr>
              <a:tr h="971550">
                <a:tc>
                  <a:txBody>
                    <a:bodyPr/>
                    <a:lstStyle/>
                    <a:p>
                      <a:pPr>
                        <a:defRPr sz="1000" b="0">
                          <a:solidFill>
                            <a:srgbClr val="1E2328"/>
                          </a:solidFill>
                          <a:latin typeface="Aptos"/>
                        </a:defRPr>
                      </a:pPr>
                      <a:r>
                        <a:t>IMU-only dead reckoning</a:t>
                      </a:r>
                    </a:p>
                  </a:txBody>
                  <a:tcPr marL="45720" marR="45720" marT="36576" marB="36576">
                    <a:solidFill>
                      <a:srgbClr val="FFFFFF"/>
                    </a:solidFill>
                  </a:tcPr>
                </a:tc>
                <a:tc>
                  <a:txBody>
                    <a:bodyPr/>
                    <a:lstStyle/>
                    <a:p>
                      <a:pPr>
                        <a:defRPr sz="1000" b="0">
                          <a:solidFill>
                            <a:srgbClr val="1E2328"/>
                          </a:solidFill>
                          <a:latin typeface="Aptos"/>
                        </a:defRPr>
                      </a:pPr>
                      <a:r>
                        <a:t>Trajectory drifts away, especially after turns and speed changes</a:t>
                      </a:r>
                    </a:p>
                  </a:txBody>
                  <a:tcPr marL="45720" marR="45720" marT="36576" marB="36576">
                    <a:solidFill>
                      <a:srgbClr val="FFFFFF"/>
                    </a:solidFill>
                  </a:tcPr>
                </a:tc>
                <a:tc>
                  <a:txBody>
                    <a:bodyPr/>
                    <a:lstStyle/>
                    <a:p>
                      <a:pPr>
                        <a:defRPr sz="1000" b="0">
                          <a:solidFill>
                            <a:srgbClr val="1E2328"/>
                          </a:solidFill>
                          <a:latin typeface="Aptos"/>
                        </a:defRPr>
                      </a:pPr>
                      <a:r>
                        <a:t>RMSE and final error grow quickly</a:t>
                      </a:r>
                    </a:p>
                  </a:txBody>
                  <a:tcPr marL="45720" marR="45720" marT="36576" marB="36576">
                    <a:solidFill>
                      <a:srgbClr val="FFFFFF"/>
                    </a:solidFill>
                  </a:tcPr>
                </a:tc>
                <a:tc>
                  <a:txBody>
                    <a:bodyPr/>
                    <a:lstStyle/>
                    <a:p>
                      <a:pPr>
                        <a:defRPr sz="1000" b="0">
                          <a:solidFill>
                            <a:srgbClr val="1E2328"/>
                          </a:solidFill>
                          <a:latin typeface="Aptos"/>
                        </a:defRPr>
                      </a:pPr>
                      <a:r>
                        <a:t>Noise and bias are integrated into velocity and then position</a:t>
                      </a:r>
                    </a:p>
                  </a:txBody>
                  <a:tcPr marL="45720" marR="45720" marT="36576" marB="36576">
                    <a:solidFill>
                      <a:srgbClr val="FFFFFF"/>
                    </a:solidFill>
                  </a:tcPr>
                </a:tc>
                <a:extLst>
                  <a:ext uri="{0D108BD9-81ED-4DB2-BD59-A6C34878D82A}">
                    <a16:rowId xmlns:a16="http://schemas.microsoft.com/office/drawing/2014/main" val="10001"/>
                  </a:ext>
                </a:extLst>
              </a:tr>
              <a:tr h="971550">
                <a:tc>
                  <a:txBody>
                    <a:bodyPr/>
                    <a:lstStyle/>
                    <a:p>
                      <a:pPr>
                        <a:defRPr sz="1000" b="0">
                          <a:solidFill>
                            <a:srgbClr val="1E2328"/>
                          </a:solidFill>
                          <a:latin typeface="Aptos"/>
                        </a:defRPr>
                      </a:pPr>
                      <a:r>
                        <a:t>IMU + GPS EKF</a:t>
                      </a:r>
                    </a:p>
                  </a:txBody>
                  <a:tcPr marL="45720" marR="45720" marT="36576" marB="36576">
                    <a:solidFill>
                      <a:srgbClr val="EEF4F7"/>
                    </a:solidFill>
                  </a:tcPr>
                </a:tc>
                <a:tc>
                  <a:txBody>
                    <a:bodyPr/>
                    <a:lstStyle/>
                    <a:p>
                      <a:pPr>
                        <a:defRPr sz="1000" b="0">
                          <a:solidFill>
                            <a:srgbClr val="1E2328"/>
                          </a:solidFill>
                          <a:latin typeface="Aptos"/>
                        </a:defRPr>
                      </a:pPr>
                      <a:r>
                        <a:t>Trajectory follows the OXTS path much more closely</a:t>
                      </a:r>
                    </a:p>
                  </a:txBody>
                  <a:tcPr marL="45720" marR="45720" marT="36576" marB="36576">
                    <a:solidFill>
                      <a:srgbClr val="EEF4F7"/>
                    </a:solidFill>
                  </a:tcPr>
                </a:tc>
                <a:tc>
                  <a:txBody>
                    <a:bodyPr/>
                    <a:lstStyle/>
                    <a:p>
                      <a:pPr>
                        <a:defRPr sz="1000" b="0">
                          <a:solidFill>
                            <a:srgbClr val="1E2328"/>
                          </a:solidFill>
                          <a:latin typeface="Aptos"/>
                        </a:defRPr>
                      </a:pPr>
                      <a:r>
                        <a:t>Lower RMSE, lower final error, bounded max error</a:t>
                      </a:r>
                    </a:p>
                  </a:txBody>
                  <a:tcPr marL="45720" marR="45720" marT="36576" marB="36576">
                    <a:solidFill>
                      <a:srgbClr val="EEF4F7"/>
                    </a:solidFill>
                  </a:tcPr>
                </a:tc>
                <a:tc>
                  <a:txBody>
                    <a:bodyPr/>
                    <a:lstStyle/>
                    <a:p>
                      <a:pPr>
                        <a:defRPr sz="1000" b="0">
                          <a:solidFill>
                            <a:srgbClr val="1E2328"/>
                          </a:solidFill>
                          <a:latin typeface="Aptos"/>
                        </a:defRPr>
                      </a:pPr>
                      <a:r>
                        <a:t>GPS updates correct accumulated inertial drift</a:t>
                      </a:r>
                    </a:p>
                  </a:txBody>
                  <a:tcPr marL="45720" marR="45720" marT="36576" marB="36576">
                    <a:solidFill>
                      <a:srgbClr val="EEF4F7"/>
                    </a:solidFill>
                  </a:tcPr>
                </a:tc>
                <a:extLst>
                  <a:ext uri="{0D108BD9-81ED-4DB2-BD59-A6C34878D82A}">
                    <a16:rowId xmlns:a16="http://schemas.microsoft.com/office/drawing/2014/main" val="10002"/>
                  </a:ext>
                </a:extLst>
              </a:tr>
              <a:tr h="971550">
                <a:tc>
                  <a:txBody>
                    <a:bodyPr/>
                    <a:lstStyle/>
                    <a:p>
                      <a:pPr>
                        <a:defRPr sz="1000" b="0">
                          <a:solidFill>
                            <a:srgbClr val="1E2328"/>
                          </a:solidFill>
                          <a:latin typeface="Aptos"/>
                        </a:defRPr>
                      </a:pPr>
                      <a:r>
                        <a:t>Bias-augmented EKF</a:t>
                      </a:r>
                    </a:p>
                  </a:txBody>
                  <a:tcPr marL="45720" marR="45720" marT="36576" marB="36576">
                    <a:solidFill>
                      <a:srgbClr val="FFFFFF"/>
                    </a:solidFill>
                  </a:tcPr>
                </a:tc>
                <a:tc>
                  <a:txBody>
                    <a:bodyPr/>
                    <a:lstStyle/>
                    <a:p>
                      <a:pPr>
                        <a:defRPr sz="1000" b="0">
                          <a:solidFill>
                            <a:srgbClr val="1E2328"/>
                          </a:solidFill>
                          <a:latin typeface="Aptos"/>
                        </a:defRPr>
                      </a:pPr>
                      <a:r>
                        <a:t>Similar path shape but usually more stable heading and velocity</a:t>
                      </a:r>
                    </a:p>
                  </a:txBody>
                  <a:tcPr marL="45720" marR="45720" marT="36576" marB="36576">
                    <a:solidFill>
                      <a:srgbClr val="FFFFFF"/>
                    </a:solidFill>
                  </a:tcPr>
                </a:tc>
                <a:tc>
                  <a:txBody>
                    <a:bodyPr/>
                    <a:lstStyle/>
                    <a:p>
                      <a:pPr>
                        <a:defRPr sz="1000" b="0">
                          <a:solidFill>
                            <a:srgbClr val="1E2328"/>
                          </a:solidFill>
                          <a:latin typeface="Aptos"/>
                        </a:defRPr>
                      </a:pPr>
                      <a:r>
                        <a:t>Lower or more stable error than no-bias EKF</a:t>
                      </a:r>
                    </a:p>
                  </a:txBody>
                  <a:tcPr marL="45720" marR="45720" marT="36576" marB="36576">
                    <a:solidFill>
                      <a:srgbClr val="FFFFFF"/>
                    </a:solidFill>
                  </a:tcPr>
                </a:tc>
                <a:tc>
                  <a:txBody>
                    <a:bodyPr/>
                    <a:lstStyle/>
                    <a:p>
                      <a:pPr>
                        <a:defRPr sz="1000" b="0">
                          <a:solidFill>
                            <a:srgbClr val="1E2328"/>
                          </a:solidFill>
                          <a:latin typeface="Aptos"/>
                        </a:defRPr>
                      </a:pPr>
                      <a:r>
                        <a:t>Estimated gyro and accel bias reduce systematic drift</a:t>
                      </a:r>
                    </a:p>
                  </a:txBody>
                  <a:tcPr marL="45720" marR="45720" marT="36576" marB="36576">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777240" y="5669280"/>
            <a:ext cx="10698480" cy="578620"/>
          </a:xfrm>
          <a:prstGeom prst="rect">
            <a:avLst/>
          </a:prstGeom>
          <a:noFill/>
        </p:spPr>
        <p:txBody>
          <a:bodyPr wrap="square" lIns="54864" tIns="27432" rIns="54864" bIns="27432" anchor="t">
            <a:spAutoFit/>
          </a:bodyPr>
          <a:lstStyle/>
          <a:p>
            <a:pPr algn="ctr"/>
            <a:r>
              <a:rPr sz="1700" b="1">
                <a:solidFill>
                  <a:srgbClr val="112B3C"/>
                </a:solidFill>
                <a:latin typeface="Arial" panose="020B0604020202020204" pitchFamily="34" charset="0"/>
                <a:cs typeface="Arial" panose="020B0604020202020204" pitchFamily="34" charset="0"/>
              </a:rPr>
              <a:t>Main analytical point: dead reckoning explains why state estimation is necessary, and EKF shows how sensor fusion reduces uncertainty and drift.</a:t>
            </a:r>
          </a:p>
        </p:txBody>
      </p:sp>
      <p:sp>
        <p:nvSpPr>
          <p:cNvPr id="8" name="TextBox 7"/>
          <p:cNvSpPr txBox="1"/>
          <p:nvPr/>
        </p:nvSpPr>
        <p:spPr>
          <a:xfrm>
            <a:off x="9235440" y="6446520"/>
            <a:ext cx="2286000" cy="193899"/>
          </a:xfrm>
          <a:prstGeom prst="rect">
            <a:avLst/>
          </a:prstGeom>
          <a:noFill/>
        </p:spPr>
        <p:txBody>
          <a:bodyPr wrap="square" lIns="54864" tIns="27432" rIns="54864" bIns="27432" anchor="t">
            <a:spAutoFit/>
          </a:bodyPr>
          <a:lstStyle/>
          <a:p>
            <a:pPr algn="r"/>
            <a:r>
              <a:rPr sz="900" b="0">
                <a:solidFill>
                  <a:srgbClr val="5F6973"/>
                </a:solidFill>
                <a:latin typeface="Arial" panose="020B0604020202020204" pitchFamily="34" charset="0"/>
                <a:cs typeface="Arial" panose="020B0604020202020204" pitchFamily="34" charset="0"/>
              </a:rPr>
              <a:t>KITTI extension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502920" y="320040"/>
            <a:ext cx="2926080" cy="256032"/>
          </a:xfrm>
          <a:prstGeom prst="rect">
            <a:avLst/>
          </a:prstGeom>
          <a:noFill/>
        </p:spPr>
        <p:txBody>
          <a:bodyPr wrap="square" lIns="54864" tIns="27432" rIns="54864" bIns="27432" anchor="t">
            <a:spAutoFit/>
          </a:bodyPr>
          <a:lstStyle/>
          <a:p>
            <a:pPr algn="l"/>
            <a:r>
              <a:rPr sz="1000" b="1">
                <a:solidFill>
                  <a:srgbClr val="14808C"/>
                </a:solidFill>
                <a:latin typeface="Aptos"/>
              </a:rPr>
              <a:t>LITERATURE COMPARISON AND IMPROVEMENT ROADMAP</a:t>
            </a:r>
          </a:p>
        </p:txBody>
      </p:sp>
      <p:sp>
        <p:nvSpPr>
          <p:cNvPr id="5" name="TextBox 4"/>
          <p:cNvSpPr txBox="1"/>
          <p:nvPr/>
        </p:nvSpPr>
        <p:spPr>
          <a:xfrm>
            <a:off x="502920" y="612648"/>
            <a:ext cx="10789920" cy="502920"/>
          </a:xfrm>
          <a:prstGeom prst="rect">
            <a:avLst/>
          </a:prstGeom>
          <a:noFill/>
        </p:spPr>
        <p:txBody>
          <a:bodyPr wrap="square" lIns="54864" tIns="27432" rIns="54864" bIns="27432" anchor="t">
            <a:spAutoFit/>
          </a:bodyPr>
          <a:lstStyle/>
          <a:p>
            <a:pPr algn="l"/>
            <a:r>
              <a:rPr sz="2800" b="1">
                <a:solidFill>
                  <a:srgbClr val="112B3C"/>
                </a:solidFill>
                <a:latin typeface="Aptos"/>
              </a:rPr>
              <a:t>Where this baseline can go next</a:t>
            </a:r>
          </a:p>
        </p:txBody>
      </p:sp>
      <p:graphicFrame>
        <p:nvGraphicFramePr>
          <p:cNvPr id="6" name="Table 5"/>
          <p:cNvGraphicFramePr>
            <a:graphicFrameLocks noGrp="1"/>
          </p:cNvGraphicFramePr>
          <p:nvPr/>
        </p:nvGraphicFramePr>
        <p:xfrm>
          <a:off x="685800" y="1417320"/>
          <a:ext cx="10835640" cy="329184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995160">
                  <a:extLst>
                    <a:ext uri="{9D8B030D-6E8A-4147-A177-3AD203B41FA5}">
                      <a16:colId xmlns:a16="http://schemas.microsoft.com/office/drawing/2014/main" val="20001"/>
                    </a:ext>
                  </a:extLst>
                </a:gridCol>
              </a:tblGrid>
              <a:tr h="548640">
                <a:tc>
                  <a:txBody>
                    <a:bodyPr/>
                    <a:lstStyle/>
                    <a:p>
                      <a:pPr>
                        <a:defRPr sz="1200" b="1">
                          <a:solidFill>
                            <a:srgbClr val="FFFFFF"/>
                          </a:solidFill>
                          <a:latin typeface="Aptos"/>
                        </a:defRPr>
                      </a:pPr>
                      <a:r>
                        <a:t>Improvement</a:t>
                      </a:r>
                    </a:p>
                  </a:txBody>
                  <a:tcPr marL="45720" marR="45720" marT="36576" marB="36576">
                    <a:solidFill>
                      <a:srgbClr val="112B3C"/>
                    </a:solidFill>
                  </a:tcPr>
                </a:tc>
                <a:tc>
                  <a:txBody>
                    <a:bodyPr/>
                    <a:lstStyle/>
                    <a:p>
                      <a:pPr>
                        <a:defRPr sz="1200" b="1">
                          <a:solidFill>
                            <a:srgbClr val="FFFFFF"/>
                          </a:solidFill>
                          <a:latin typeface="Aptos"/>
                        </a:defRPr>
                      </a:pPr>
                      <a:r>
                        <a:t>Why it helps</a:t>
                      </a:r>
                    </a:p>
                  </a:txBody>
                  <a:tcPr marL="45720" marR="45720" marT="36576" marB="36576">
                    <a:solidFill>
                      <a:srgbClr val="112B3C"/>
                    </a:solidFill>
                  </a:tcPr>
                </a:tc>
                <a:extLst>
                  <a:ext uri="{0D108BD9-81ED-4DB2-BD59-A6C34878D82A}">
                    <a16:rowId xmlns:a16="http://schemas.microsoft.com/office/drawing/2014/main" val="10000"/>
                  </a:ext>
                </a:extLst>
              </a:tr>
              <a:tr h="548640">
                <a:tc>
                  <a:txBody>
                    <a:bodyPr/>
                    <a:lstStyle/>
                    <a:p>
                      <a:pPr>
                        <a:defRPr sz="1200" b="0">
                          <a:solidFill>
                            <a:srgbClr val="1E2328"/>
                          </a:solidFill>
                          <a:latin typeface="Aptos"/>
                        </a:defRPr>
                      </a:pPr>
                      <a:r>
                        <a:rPr dirty="0"/>
                        <a:t>Add explicit </a:t>
                      </a:r>
                      <a:r>
                        <a:rPr dirty="0" err="1"/>
                        <a:t>IMU</a:t>
                      </a:r>
                      <a:r>
                        <a:rPr dirty="0"/>
                        <a:t> bias states</a:t>
                      </a:r>
                    </a:p>
                  </a:txBody>
                  <a:tcPr marL="45720" marR="45720" marT="36576" marB="36576">
                    <a:solidFill>
                      <a:srgbClr val="FFFFFF"/>
                    </a:solidFill>
                  </a:tcPr>
                </a:tc>
                <a:tc>
                  <a:txBody>
                    <a:bodyPr/>
                    <a:lstStyle/>
                    <a:p>
                      <a:pPr>
                        <a:defRPr sz="1200" b="0">
                          <a:solidFill>
                            <a:srgbClr val="1E2328"/>
                          </a:solidFill>
                          <a:latin typeface="Aptos"/>
                        </a:defRPr>
                      </a:pPr>
                      <a:r>
                        <a:t>Reduces systematic heading and velocity drift</a:t>
                      </a:r>
                    </a:p>
                  </a:txBody>
                  <a:tcPr marL="45720" marR="45720" marT="36576" marB="36576">
                    <a:solidFill>
                      <a:srgbClr val="FFFFFF"/>
                    </a:solidFill>
                  </a:tcPr>
                </a:tc>
                <a:extLst>
                  <a:ext uri="{0D108BD9-81ED-4DB2-BD59-A6C34878D82A}">
                    <a16:rowId xmlns:a16="http://schemas.microsoft.com/office/drawing/2014/main" val="10001"/>
                  </a:ext>
                </a:extLst>
              </a:tr>
              <a:tr h="548640">
                <a:tc>
                  <a:txBody>
                    <a:bodyPr/>
                    <a:lstStyle/>
                    <a:p>
                      <a:pPr>
                        <a:defRPr sz="1200" b="0">
                          <a:solidFill>
                            <a:srgbClr val="1E2328"/>
                          </a:solidFill>
                          <a:latin typeface="Aptos"/>
                        </a:defRPr>
                      </a:pPr>
                      <a:r>
                        <a:t>Move from EKF to error-state EKF or IEKF</a:t>
                      </a:r>
                    </a:p>
                  </a:txBody>
                  <a:tcPr marL="45720" marR="45720" marT="36576" marB="36576">
                    <a:solidFill>
                      <a:srgbClr val="EEF4F7"/>
                    </a:solidFill>
                  </a:tcPr>
                </a:tc>
                <a:tc>
                  <a:txBody>
                    <a:bodyPr/>
                    <a:lstStyle/>
                    <a:p>
                      <a:pPr>
                        <a:defRPr sz="1200" b="0">
                          <a:solidFill>
                            <a:srgbClr val="1E2328"/>
                          </a:solidFill>
                          <a:latin typeface="Aptos"/>
                        </a:defRPr>
                      </a:pPr>
                      <a:r>
                        <a:t>Better handles nonlinear pose geometry and improves consistency</a:t>
                      </a:r>
                    </a:p>
                  </a:txBody>
                  <a:tcPr marL="45720" marR="45720" marT="36576" marB="36576">
                    <a:solidFill>
                      <a:srgbClr val="EEF4F7"/>
                    </a:solidFill>
                  </a:tcPr>
                </a:tc>
                <a:extLst>
                  <a:ext uri="{0D108BD9-81ED-4DB2-BD59-A6C34878D82A}">
                    <a16:rowId xmlns:a16="http://schemas.microsoft.com/office/drawing/2014/main" val="10002"/>
                  </a:ext>
                </a:extLst>
              </a:tr>
              <a:tr h="548640">
                <a:tc>
                  <a:txBody>
                    <a:bodyPr/>
                    <a:lstStyle/>
                    <a:p>
                      <a:pPr>
                        <a:defRPr sz="1200" b="0">
                          <a:solidFill>
                            <a:srgbClr val="1E2328"/>
                          </a:solidFill>
                          <a:latin typeface="Aptos"/>
                        </a:defRPr>
                      </a:pPr>
                      <a:r>
                        <a:t>Adaptive or learned covariance tuning</a:t>
                      </a:r>
                    </a:p>
                  </a:txBody>
                  <a:tcPr marL="45720" marR="45720" marT="36576" marB="36576">
                    <a:solidFill>
                      <a:srgbClr val="FFFFFF"/>
                    </a:solidFill>
                  </a:tcPr>
                </a:tc>
                <a:tc>
                  <a:txBody>
                    <a:bodyPr/>
                    <a:lstStyle/>
                    <a:p>
                      <a:pPr>
                        <a:defRPr sz="1200" b="0">
                          <a:solidFill>
                            <a:srgbClr val="1E2328"/>
                          </a:solidFill>
                          <a:latin typeface="Aptos"/>
                        </a:defRPr>
                      </a:pPr>
                      <a:r>
                        <a:t>Lets Q and R respond to changing motion and GPS quality</a:t>
                      </a:r>
                    </a:p>
                  </a:txBody>
                  <a:tcPr marL="45720" marR="45720" marT="36576" marB="36576">
                    <a:solidFill>
                      <a:srgbClr val="FFFFFF"/>
                    </a:solidFill>
                  </a:tcPr>
                </a:tc>
                <a:extLst>
                  <a:ext uri="{0D108BD9-81ED-4DB2-BD59-A6C34878D82A}">
                    <a16:rowId xmlns:a16="http://schemas.microsoft.com/office/drawing/2014/main" val="10003"/>
                  </a:ext>
                </a:extLst>
              </a:tr>
              <a:tr h="548640">
                <a:tc>
                  <a:txBody>
                    <a:bodyPr/>
                    <a:lstStyle/>
                    <a:p>
                      <a:pPr>
                        <a:defRPr sz="1200" b="0">
                          <a:solidFill>
                            <a:srgbClr val="1E2328"/>
                          </a:solidFill>
                          <a:latin typeface="Aptos"/>
                        </a:defRPr>
                      </a:pPr>
                      <a:r>
                        <a:t>Add camera, wheel odometry, or LiDAR</a:t>
                      </a:r>
                    </a:p>
                  </a:txBody>
                  <a:tcPr marL="45720" marR="45720" marT="36576" marB="36576">
                    <a:solidFill>
                      <a:srgbClr val="EEF4F7"/>
                    </a:solidFill>
                  </a:tcPr>
                </a:tc>
                <a:tc>
                  <a:txBody>
                    <a:bodyPr/>
                    <a:lstStyle/>
                    <a:p>
                      <a:pPr>
                        <a:defRPr sz="1200" b="0">
                          <a:solidFill>
                            <a:srgbClr val="1E2328"/>
                          </a:solidFill>
                          <a:latin typeface="Aptos"/>
                        </a:defRPr>
                      </a:pPr>
                      <a:r>
                        <a:t>Provides geometric constraints that inertial/GPS alone cannot provide</a:t>
                      </a:r>
                    </a:p>
                  </a:txBody>
                  <a:tcPr marL="45720" marR="45720" marT="36576" marB="36576">
                    <a:solidFill>
                      <a:srgbClr val="EEF4F7"/>
                    </a:solidFill>
                  </a:tcPr>
                </a:tc>
                <a:extLst>
                  <a:ext uri="{0D108BD9-81ED-4DB2-BD59-A6C34878D82A}">
                    <a16:rowId xmlns:a16="http://schemas.microsoft.com/office/drawing/2014/main" val="10004"/>
                  </a:ext>
                </a:extLst>
              </a:tr>
              <a:tr h="548640">
                <a:tc>
                  <a:txBody>
                    <a:bodyPr/>
                    <a:lstStyle/>
                    <a:p>
                      <a:pPr>
                        <a:defRPr sz="1200" b="0">
                          <a:solidFill>
                            <a:srgbClr val="1E2328"/>
                          </a:solidFill>
                          <a:latin typeface="Aptos"/>
                        </a:defRPr>
                      </a:pPr>
                      <a:r>
                        <a:t>Measurement gating and outlier rejection</a:t>
                      </a:r>
                    </a:p>
                  </a:txBody>
                  <a:tcPr marL="45720" marR="45720" marT="36576" marB="36576">
                    <a:solidFill>
                      <a:srgbClr val="FFFFFF"/>
                    </a:solidFill>
                  </a:tcPr>
                </a:tc>
                <a:tc>
                  <a:txBody>
                    <a:bodyPr/>
                    <a:lstStyle/>
                    <a:p>
                      <a:pPr>
                        <a:defRPr sz="1200" b="0">
                          <a:solidFill>
                            <a:srgbClr val="1E2328"/>
                          </a:solidFill>
                          <a:latin typeface="Aptos"/>
                        </a:defRPr>
                      </a:pPr>
                      <a:r>
                        <a:rPr dirty="0"/>
                        <a:t>Prevents low-quality GPS packets from destabilizing the update</a:t>
                      </a:r>
                    </a:p>
                  </a:txBody>
                  <a:tcPr marL="45720" marR="45720" marT="36576" marB="36576">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914400" y="4983480"/>
            <a:ext cx="10287000" cy="868680"/>
          </a:xfrm>
          <a:prstGeom prst="rect">
            <a:avLst/>
          </a:prstGeom>
          <a:noFill/>
        </p:spPr>
        <p:txBody>
          <a:bodyPr wrap="square" tIns="73152" bIns="73152">
            <a:spAutoFit/>
          </a:bodyPr>
          <a:lstStyle/>
          <a:p>
            <a:pPr>
              <a:spcAft>
                <a:spcPts val="500"/>
              </a:spcAft>
              <a:defRPr sz="1600">
                <a:solidFill>
                  <a:srgbClr val="1E2328"/>
                </a:solidFill>
                <a:latin typeface="Aptos"/>
              </a:defRPr>
            </a:pPr>
            <a:r>
              <a:rPr dirty="0"/>
              <a:t>Literature pattern: stronger methods improve by modeling bias, using more sensors, and treating sensor uncertainty more carefully.</a:t>
            </a:r>
          </a:p>
          <a:p>
            <a:pPr>
              <a:spcAft>
                <a:spcPts val="500"/>
              </a:spcAft>
              <a:defRPr sz="1600">
                <a:solidFill>
                  <a:srgbClr val="1E2328"/>
                </a:solidFill>
                <a:latin typeface="Aptos"/>
              </a:defRPr>
            </a:pPr>
            <a:r>
              <a:rPr dirty="0"/>
              <a:t>This connects naturally to your larger project direction: </a:t>
            </a:r>
            <a:r>
              <a:rPr dirty="0" err="1"/>
              <a:t>EKF</a:t>
            </a:r>
            <a:r>
              <a:rPr dirty="0"/>
              <a:t>/</a:t>
            </a:r>
            <a:r>
              <a:rPr dirty="0" err="1"/>
              <a:t>UKF</a:t>
            </a:r>
            <a:r>
              <a:rPr dirty="0"/>
              <a:t> baselines first, then </a:t>
            </a:r>
            <a:r>
              <a:rPr dirty="0" err="1"/>
              <a:t>IEKF</a:t>
            </a:r>
            <a:r>
              <a:rPr dirty="0"/>
              <a:t>/</a:t>
            </a:r>
            <a:r>
              <a:rPr dirty="0" err="1"/>
              <a:t>InEKF</a:t>
            </a:r>
            <a:r>
              <a:rPr dirty="0"/>
              <a:t> and adaptive noise tuning.</a:t>
            </a:r>
          </a:p>
        </p:txBody>
      </p:sp>
      <p:sp>
        <p:nvSpPr>
          <p:cNvPr id="8" name="TextBox 7"/>
          <p:cNvSpPr txBox="1"/>
          <p:nvPr/>
        </p:nvSpPr>
        <p:spPr>
          <a:xfrm>
            <a:off x="9235440" y="6446520"/>
            <a:ext cx="2286000" cy="228600"/>
          </a:xfrm>
          <a:prstGeom prst="rect">
            <a:avLst/>
          </a:prstGeom>
          <a:noFill/>
        </p:spPr>
        <p:txBody>
          <a:bodyPr wrap="square" lIns="54864" tIns="27432" rIns="54864" bIns="27432" anchor="t">
            <a:spAutoFit/>
          </a:bodyPr>
          <a:lstStyle/>
          <a:p>
            <a:pPr algn="r"/>
            <a:r>
              <a:rPr sz="900" b="0">
                <a:solidFill>
                  <a:srgbClr val="5F6973"/>
                </a:solidFill>
                <a:latin typeface="Aptos"/>
              </a:rPr>
              <a:t>KITTI extension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502920" y="320040"/>
            <a:ext cx="2926080" cy="256032"/>
          </a:xfrm>
          <a:prstGeom prst="rect">
            <a:avLst/>
          </a:prstGeom>
          <a:noFill/>
        </p:spPr>
        <p:txBody>
          <a:bodyPr wrap="square" lIns="54864" tIns="27432" rIns="54864" bIns="27432" anchor="t">
            <a:spAutoFit/>
          </a:bodyPr>
          <a:lstStyle/>
          <a:p>
            <a:pPr algn="l"/>
            <a:r>
              <a:rPr sz="1000" b="1">
                <a:solidFill>
                  <a:srgbClr val="14808C"/>
                </a:solidFill>
                <a:latin typeface="Aptos"/>
              </a:rPr>
              <a:t>FINAL KITTI TAKEAWAY</a:t>
            </a:r>
          </a:p>
        </p:txBody>
      </p:sp>
      <p:sp>
        <p:nvSpPr>
          <p:cNvPr id="5" name="TextBox 4"/>
          <p:cNvSpPr txBox="1"/>
          <p:nvPr/>
        </p:nvSpPr>
        <p:spPr>
          <a:xfrm>
            <a:off x="502920" y="612648"/>
            <a:ext cx="10789920" cy="502920"/>
          </a:xfrm>
          <a:prstGeom prst="rect">
            <a:avLst/>
          </a:prstGeom>
          <a:noFill/>
        </p:spPr>
        <p:txBody>
          <a:bodyPr wrap="square" lIns="54864" tIns="27432" rIns="54864" bIns="27432" anchor="t">
            <a:spAutoFit/>
          </a:bodyPr>
          <a:lstStyle/>
          <a:p>
            <a:pPr algn="l"/>
            <a:r>
              <a:rPr sz="2800" b="1">
                <a:solidFill>
                  <a:srgbClr val="112B3C"/>
                </a:solidFill>
                <a:latin typeface="Aptos"/>
              </a:rPr>
              <a:t>How to present this as the ending section</a:t>
            </a:r>
          </a:p>
        </p:txBody>
      </p:sp>
      <p:sp>
        <p:nvSpPr>
          <p:cNvPr id="6" name="Rounded Rectangle 5"/>
          <p:cNvSpPr/>
          <p:nvPr/>
        </p:nvSpPr>
        <p:spPr>
          <a:xfrm>
            <a:off x="777240" y="1508760"/>
            <a:ext cx="3291840" cy="192024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508760"/>
            <a:ext cx="82296" cy="1920240"/>
          </a:xfrm>
          <a:prstGeom prst="rect">
            <a:avLst/>
          </a:prstGeom>
          <a:solidFill>
            <a:srgbClr val="BE3737"/>
          </a:solidFill>
          <a:ln>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36776"/>
            <a:ext cx="2999232" cy="320040"/>
          </a:xfrm>
          <a:prstGeom prst="rect">
            <a:avLst/>
          </a:prstGeom>
          <a:noFill/>
        </p:spPr>
        <p:txBody>
          <a:bodyPr wrap="square" lIns="54864" tIns="27432" rIns="54864" bIns="27432" anchor="t">
            <a:spAutoFit/>
          </a:bodyPr>
          <a:lstStyle/>
          <a:p>
            <a:pPr algn="l"/>
            <a:r>
              <a:rPr sz="1500" b="1">
                <a:solidFill>
                  <a:srgbClr val="112B3C"/>
                </a:solidFill>
                <a:latin typeface="Aptos"/>
              </a:rPr>
              <a:t>1. Weak baseline</a:t>
            </a:r>
          </a:p>
        </p:txBody>
      </p:sp>
      <p:sp>
        <p:nvSpPr>
          <p:cNvPr id="9" name="TextBox 8"/>
          <p:cNvSpPr txBox="1"/>
          <p:nvPr/>
        </p:nvSpPr>
        <p:spPr>
          <a:xfrm>
            <a:off x="960120" y="2011680"/>
            <a:ext cx="2999232" cy="1325880"/>
          </a:xfrm>
          <a:prstGeom prst="rect">
            <a:avLst/>
          </a:prstGeom>
          <a:noFill/>
        </p:spPr>
        <p:txBody>
          <a:bodyPr wrap="square" lIns="54864" tIns="27432" rIns="54864" bIns="27432" anchor="t">
            <a:spAutoFit/>
          </a:bodyPr>
          <a:lstStyle/>
          <a:p>
            <a:pPr algn="l"/>
            <a:r>
              <a:rPr sz="1500" b="0">
                <a:solidFill>
                  <a:srgbClr val="1E2328"/>
                </a:solidFill>
                <a:latin typeface="Aptos"/>
              </a:rPr>
              <a:t>IMU-only dead reckoning intentionally drifts. It shows why sensor fusion is necessary.</a:t>
            </a:r>
          </a:p>
        </p:txBody>
      </p:sp>
      <p:sp>
        <p:nvSpPr>
          <p:cNvPr id="10" name="Rounded Rectangle 9"/>
          <p:cNvSpPr/>
          <p:nvPr/>
        </p:nvSpPr>
        <p:spPr>
          <a:xfrm>
            <a:off x="4434840" y="1508760"/>
            <a:ext cx="3291840" cy="192024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508760"/>
            <a:ext cx="82296" cy="1920240"/>
          </a:xfrm>
          <a:prstGeom prst="rect">
            <a:avLst/>
          </a:prstGeom>
          <a:solidFill>
            <a:srgbClr val="14808C"/>
          </a:solidFill>
          <a:ln>
            <a:solidFill>
              <a:srgbClr val="148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636776"/>
            <a:ext cx="2999232" cy="320040"/>
          </a:xfrm>
          <a:prstGeom prst="rect">
            <a:avLst/>
          </a:prstGeom>
          <a:noFill/>
        </p:spPr>
        <p:txBody>
          <a:bodyPr wrap="square" lIns="54864" tIns="27432" rIns="54864" bIns="27432" anchor="t">
            <a:spAutoFit/>
          </a:bodyPr>
          <a:lstStyle/>
          <a:p>
            <a:pPr algn="l"/>
            <a:r>
              <a:rPr sz="1500" b="1">
                <a:solidFill>
                  <a:srgbClr val="112B3C"/>
                </a:solidFill>
                <a:latin typeface="Aptos"/>
              </a:rPr>
              <a:t>2. Classical baseline</a:t>
            </a:r>
          </a:p>
        </p:txBody>
      </p:sp>
      <p:sp>
        <p:nvSpPr>
          <p:cNvPr id="13" name="TextBox 12"/>
          <p:cNvSpPr txBox="1"/>
          <p:nvPr/>
        </p:nvSpPr>
        <p:spPr>
          <a:xfrm>
            <a:off x="4617720" y="2011680"/>
            <a:ext cx="2999232" cy="1325880"/>
          </a:xfrm>
          <a:prstGeom prst="rect">
            <a:avLst/>
          </a:prstGeom>
          <a:noFill/>
        </p:spPr>
        <p:txBody>
          <a:bodyPr wrap="square" lIns="54864" tIns="27432" rIns="54864" bIns="27432" anchor="t">
            <a:spAutoFit/>
          </a:bodyPr>
          <a:lstStyle/>
          <a:p>
            <a:pPr algn="l"/>
            <a:r>
              <a:rPr sz="1500" b="0">
                <a:solidFill>
                  <a:srgbClr val="1E2328"/>
                </a:solidFill>
                <a:latin typeface="Aptos"/>
              </a:rPr>
              <a:t>IMU + GPS EKF corrects drift and gives a defensible baseline estimator.</a:t>
            </a:r>
          </a:p>
        </p:txBody>
      </p:sp>
      <p:sp>
        <p:nvSpPr>
          <p:cNvPr id="14" name="Rounded Rectangle 13"/>
          <p:cNvSpPr/>
          <p:nvPr/>
        </p:nvSpPr>
        <p:spPr>
          <a:xfrm>
            <a:off x="8092440" y="1508760"/>
            <a:ext cx="3291840" cy="1920240"/>
          </a:xfrm>
          <a:prstGeom prst="roundRect">
            <a:avLst/>
          </a:prstGeom>
          <a:solidFill>
            <a:srgbClr val="FFFFFF"/>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508760"/>
            <a:ext cx="82296" cy="1920240"/>
          </a:xfrm>
          <a:prstGeom prst="rect">
            <a:avLst/>
          </a:prstGeom>
          <a:solidFill>
            <a:srgbClr val="4673B4"/>
          </a:solidFill>
          <a:ln>
            <a:solidFill>
              <a:srgbClr val="467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1636776"/>
            <a:ext cx="2999232" cy="320040"/>
          </a:xfrm>
          <a:prstGeom prst="rect">
            <a:avLst/>
          </a:prstGeom>
          <a:noFill/>
        </p:spPr>
        <p:txBody>
          <a:bodyPr wrap="square" lIns="54864" tIns="27432" rIns="54864" bIns="27432" anchor="t">
            <a:spAutoFit/>
          </a:bodyPr>
          <a:lstStyle/>
          <a:p>
            <a:pPr algn="l"/>
            <a:r>
              <a:rPr sz="1500" b="1">
                <a:solidFill>
                  <a:srgbClr val="112B3C"/>
                </a:solidFill>
                <a:latin typeface="Aptos"/>
              </a:rPr>
              <a:t>3. Research extension</a:t>
            </a:r>
          </a:p>
        </p:txBody>
      </p:sp>
      <p:sp>
        <p:nvSpPr>
          <p:cNvPr id="17" name="TextBox 16"/>
          <p:cNvSpPr txBox="1"/>
          <p:nvPr/>
        </p:nvSpPr>
        <p:spPr>
          <a:xfrm>
            <a:off x="8275320" y="2011680"/>
            <a:ext cx="2999232" cy="1325880"/>
          </a:xfrm>
          <a:prstGeom prst="rect">
            <a:avLst/>
          </a:prstGeom>
          <a:noFill/>
        </p:spPr>
        <p:txBody>
          <a:bodyPr wrap="square" lIns="54864" tIns="27432" rIns="54864" bIns="27432" anchor="t">
            <a:spAutoFit/>
          </a:bodyPr>
          <a:lstStyle/>
          <a:p>
            <a:pPr algn="l"/>
            <a:r>
              <a:rPr sz="1500" b="0">
                <a:solidFill>
                  <a:srgbClr val="1E2328"/>
                </a:solidFill>
                <a:latin typeface="Aptos"/>
              </a:rPr>
              <a:t>Bias states, IEKF/InEKF, adaptive noise tuning, and multimodal fusion make the estimator more robust.</a:t>
            </a:r>
          </a:p>
        </p:txBody>
      </p:sp>
      <p:sp>
        <p:nvSpPr>
          <p:cNvPr id="19" name="TextBox 18"/>
          <p:cNvSpPr txBox="1"/>
          <p:nvPr/>
        </p:nvSpPr>
        <p:spPr>
          <a:xfrm>
            <a:off x="1188720" y="4572000"/>
            <a:ext cx="9784080" cy="1286506"/>
          </a:xfrm>
          <a:prstGeom prst="rect">
            <a:avLst/>
          </a:prstGeom>
          <a:noFill/>
        </p:spPr>
        <p:txBody>
          <a:bodyPr wrap="square" lIns="54864" tIns="27432" rIns="54864" bIns="27432" anchor="t">
            <a:spAutoFit/>
          </a:bodyPr>
          <a:lstStyle/>
          <a:p>
            <a:r>
              <a:rPr sz="2000" b="0" dirty="0">
                <a:solidFill>
                  <a:srgbClr val="1E2328"/>
                </a:solidFill>
                <a:latin typeface="Aptos"/>
              </a:rPr>
              <a:t>The </a:t>
            </a:r>
            <a:r>
              <a:rPr sz="2000" b="0" dirty="0" err="1">
                <a:solidFill>
                  <a:srgbClr val="1E2328"/>
                </a:solidFill>
                <a:latin typeface="Aptos"/>
              </a:rPr>
              <a:t>KITTI</a:t>
            </a:r>
            <a:r>
              <a:rPr sz="2000" b="0" dirty="0">
                <a:solidFill>
                  <a:srgbClr val="1E2328"/>
                </a:solidFill>
                <a:latin typeface="Aptos"/>
              </a:rPr>
              <a:t> experiment turns state estimation from a formula into a real robotics </a:t>
            </a:r>
            <a:r>
              <a:rPr sz="2000" b="0" dirty="0" smtClean="0">
                <a:solidFill>
                  <a:srgbClr val="1E2328"/>
                </a:solidFill>
                <a:latin typeface="Aptos"/>
              </a:rPr>
              <a:t>problem</a:t>
            </a:r>
            <a:r>
              <a:rPr lang="en-US" sz="2000" b="0" dirty="0" smtClean="0">
                <a:solidFill>
                  <a:srgbClr val="1E2328"/>
                </a:solidFill>
                <a:latin typeface="Aptos"/>
              </a:rPr>
              <a:t>..</a:t>
            </a:r>
          </a:p>
          <a:p>
            <a:r>
              <a:rPr lang="en-US" sz="2000" dirty="0" smtClean="0">
                <a:solidFill>
                  <a:srgbClr val="1E2328"/>
                </a:solidFill>
                <a:latin typeface="Aptos"/>
              </a:rPr>
              <a:t>Specifically, </a:t>
            </a:r>
            <a:r>
              <a:rPr sz="2000" b="0" dirty="0" smtClean="0">
                <a:solidFill>
                  <a:srgbClr val="1E2328"/>
                </a:solidFill>
                <a:latin typeface="Aptos"/>
              </a:rPr>
              <a:t>noisy </a:t>
            </a:r>
            <a:r>
              <a:rPr sz="2000" b="0" dirty="0">
                <a:solidFill>
                  <a:srgbClr val="1E2328"/>
                </a:solidFill>
                <a:latin typeface="Aptos"/>
              </a:rPr>
              <a:t>motion creates </a:t>
            </a:r>
            <a:r>
              <a:rPr sz="2000" b="0" dirty="0" smtClean="0">
                <a:solidFill>
                  <a:srgbClr val="1E2328"/>
                </a:solidFill>
                <a:latin typeface="Aptos"/>
              </a:rPr>
              <a:t>drift</a:t>
            </a:r>
            <a:r>
              <a:rPr lang="en-US" sz="2000" b="0" dirty="0" smtClean="0">
                <a:solidFill>
                  <a:srgbClr val="1E2328"/>
                </a:solidFill>
                <a:latin typeface="Aptos"/>
              </a:rPr>
              <a:t> </a:t>
            </a:r>
            <a:r>
              <a:rPr sz="2000" b="0" dirty="0" smtClean="0">
                <a:solidFill>
                  <a:srgbClr val="1E2328"/>
                </a:solidFill>
                <a:latin typeface="Aptos"/>
              </a:rPr>
              <a:t>and </a:t>
            </a:r>
            <a:r>
              <a:rPr sz="2000" b="0" dirty="0">
                <a:solidFill>
                  <a:srgbClr val="1E2328"/>
                </a:solidFill>
                <a:latin typeface="Aptos"/>
              </a:rPr>
              <a:t>the filter design determines how trustworthy the final trajectory is.</a:t>
            </a:r>
          </a:p>
        </p:txBody>
      </p:sp>
      <p:sp>
        <p:nvSpPr>
          <p:cNvPr id="20" name="TextBox 19"/>
          <p:cNvSpPr txBox="1"/>
          <p:nvPr/>
        </p:nvSpPr>
        <p:spPr>
          <a:xfrm>
            <a:off x="9235440" y="6446520"/>
            <a:ext cx="2286000" cy="228600"/>
          </a:xfrm>
          <a:prstGeom prst="rect">
            <a:avLst/>
          </a:prstGeom>
          <a:noFill/>
        </p:spPr>
        <p:txBody>
          <a:bodyPr wrap="square" lIns="54864" tIns="27432" rIns="54864" bIns="27432" anchor="t">
            <a:spAutoFit/>
          </a:bodyPr>
          <a:lstStyle/>
          <a:p>
            <a:pPr algn="r"/>
            <a:r>
              <a:rPr sz="900" b="0">
                <a:solidFill>
                  <a:srgbClr val="5F6973"/>
                </a:solidFill>
                <a:latin typeface="Aptos"/>
              </a:rPr>
              <a:t>KITTI extension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2395</Words>
  <Application>Microsoft Office PowerPoint</Application>
  <PresentationFormat>Widescreen</PresentationFormat>
  <Paragraphs>336</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Learning Based Robotics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 Estimation in Robotics</dc:title>
  <dc:subject>State Estimation: Kalman Filter, Particle Filter, and EKF-SLAM Results</dc:subject>
  <dc:creator>Kate Hwang</dc:creator>
  <cp:lastModifiedBy>KATE_HWANG</cp:lastModifiedBy>
  <cp:revision>14</cp:revision>
  <dcterms:created xsi:type="dcterms:W3CDTF">2026-06-26T02:54:26Z</dcterms:created>
  <dcterms:modified xsi:type="dcterms:W3CDTF">2026-06-26T04:42:26Z</dcterms:modified>
</cp:coreProperties>
</file>